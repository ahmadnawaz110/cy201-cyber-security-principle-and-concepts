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5" r:id="rId4"/>
    <p:sldId id="276" r:id="rId5"/>
    <p:sldId id="277" r:id="rId6"/>
    <p:sldId id="278" r:id="rId7"/>
    <p:sldId id="279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4" r:id="rId21"/>
    <p:sldId id="270" r:id="rId22"/>
    <p:sldId id="271" r:id="rId23"/>
    <p:sldId id="272" r:id="rId24"/>
    <p:sldId id="27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CC4A5-AD23-4E17-8C05-FBDC96B30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943A1A-F2BA-4BD7-89A5-4777CA1A1D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BA108-C066-43A7-916E-8671B564C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FA42-9D3D-4349-86AF-1CDC02B345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990FD-788F-4630-ACD8-A3682C53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27423-F53A-4B9A-B22A-360C7A61D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68616-7FAF-4AE8-ACAA-143E4C0D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80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0E0F0-6A70-4D55-8554-5654EC96F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CC4C1-96B4-48B9-81C8-01BDF4189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EB06A-0AD3-4A71-9F6F-6FF0F4DA8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FA42-9D3D-4349-86AF-1CDC02B345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D0BC3-38ED-40E8-B645-4D62F13F6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B6ACB-95F6-4FBD-BF86-EAD2A00D4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68616-7FAF-4AE8-ACAA-143E4C0D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98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70FFC-92BD-4D68-9361-359189CA8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32147-9989-4D1D-A0BD-F081AC8F8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48780-F337-47AE-8B9A-EFA9FCF86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FA42-9D3D-4349-86AF-1CDC02B345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243B4-528B-4E80-8E00-8CA82E57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B7D66-32A3-4A19-82B1-55FD2251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68616-7FAF-4AE8-ACAA-143E4C0D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26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630B8-5518-4D49-8FB3-92020286D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9D52B-D716-49D0-9C50-47E3355ACB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4E894-7A50-4A3B-AB23-95E47ED11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A86868-95E4-4131-A2CA-9506F1C0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FA42-9D3D-4349-86AF-1CDC02B345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C93F7-0C72-4746-AED8-5CBD96838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D6321-7562-42D3-AADA-C1FCAAF39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68616-7FAF-4AE8-ACAA-143E4C0D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2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7BB57-2D44-4057-A1E1-16991E8E6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A1CA7-FC19-4A15-AD11-1BCB859B2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40AD0-6F6E-4105-963F-9A331F68C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EC9B9F-A37B-4620-909C-49F2C918E9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78D096-BC0C-4096-9AFC-99D1110EA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154E34-331B-4C57-B129-78BFAAFEB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FA42-9D3D-4349-86AF-1CDC02B345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E46830-6B60-4E32-B16C-C6F48C00D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86D9A8-BB28-491C-BB7F-6DC8B46F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68616-7FAF-4AE8-ACAA-143E4C0D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65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5C792-48C1-4545-8FBC-DCD7030C9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BF518D-7CA8-47ED-B218-8F4BF5592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FA42-9D3D-4349-86AF-1CDC02B345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4CFFC-F8C3-4236-A09E-FE9E16B81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8122F-3E3F-4018-B576-10249C659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68616-7FAF-4AE8-ACAA-143E4C0D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09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28F51E-7BB4-470D-8E7D-27DA85F3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FA42-9D3D-4349-86AF-1CDC02B345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3D8837-219C-4D55-B3ED-4450FF4B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2A629-DC39-45A1-8DCC-7E7EB6B77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68616-7FAF-4AE8-ACAA-143E4C0D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82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3D6C4-776B-4AEF-81EB-B11CC9D91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A0690-64AD-4CCE-9C6A-857C7F73F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DC4A1-D841-4CD5-8A8F-096E51C98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12C24-4A27-485C-9F5F-1B2A44DFD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FA42-9D3D-4349-86AF-1CDC02B345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17466-DE45-4404-8AA3-73D32EA6C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28B50-F6D1-48E2-BF1B-0A3E5177B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68616-7FAF-4AE8-ACAA-143E4C0D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31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F59C-D5B7-4433-8F1F-A2633B828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A2F1CB-4FEF-4116-BA44-3F67589638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81F71-9BAB-4CFF-9A0C-2F18B4FF9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4DE49-CB06-41E3-9ABB-0008E9F5C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FA42-9D3D-4349-86AF-1CDC02B345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5B9E6-C4F6-4DC6-B213-06E4E749D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6C0085-CFFF-443F-96B9-745835963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68616-7FAF-4AE8-ACAA-143E4C0D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330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2E276-8ECA-4683-BDEF-09B126737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A20D5-A309-4AD4-A6A7-B4A5AF665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8CB61-9E85-4220-BB8B-014B4B4FA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FA42-9D3D-4349-86AF-1CDC02B345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3DA60-BD84-42E6-8A47-684164133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18D96-9EDE-48B8-94CA-6C6B3CCBC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68616-7FAF-4AE8-ACAA-143E4C0D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45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0F564D-4BDF-4281-A80A-C2C221E762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2EC207-EABD-4014-B794-D1AD435B5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0098A-F204-458F-B333-FF0A0635E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FA42-9D3D-4349-86AF-1CDC02B345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15DAA-A9AA-42AA-9A98-120CD002D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F4260-1F4D-44C8-8663-DC0A89C5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68616-7FAF-4AE8-ACAA-143E4C0D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11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52D841-BE99-4B41-BCEF-674EF355D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C5465-25E2-4D81-8BC5-9A3F42CE5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A3EF6-F896-4012-9C58-1B81C8D041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7FA42-9D3D-4349-86AF-1CDC02B345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00BFE-BE56-4BB7-9621-8A741CEF93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CA82C-3964-4619-BDA6-799CD580A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68616-7FAF-4AE8-ACAA-143E4C0D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31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7857A-AF20-4D04-B329-52B9C59361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9E8441-70CF-457B-AF27-51DC084DD9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906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925DE2-4CF4-4DBF-B3AD-C8B0A97391FC}"/>
              </a:ext>
            </a:extLst>
          </p:cNvPr>
          <p:cNvSpPr txBox="1"/>
          <p:nvPr/>
        </p:nvSpPr>
        <p:spPr>
          <a:xfrm>
            <a:off x="3048739" y="68347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US" sz="2400" b="1" i="0" dirty="0">
                <a:effectLst/>
                <a:latin typeface="Segoe UI" panose="020B0502040204020203" pitchFamily="34" charset="0"/>
              </a:rPr>
              <a:t>What is IDOR?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BDF0F-8267-4A8F-83C9-78DB2419F84B}"/>
              </a:ext>
            </a:extLst>
          </p:cNvPr>
          <p:cNvSpPr txBox="1"/>
          <p:nvPr/>
        </p:nvSpPr>
        <p:spPr>
          <a:xfrm>
            <a:off x="736847" y="1027876"/>
            <a:ext cx="1084851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en-US" sz="1800" b="1" i="0" dirty="0">
                <a:effectLst/>
                <a:latin typeface="Segoe UI" panose="020B0502040204020203" pitchFamily="34" charset="0"/>
              </a:rPr>
              <a:t>Definition: </a:t>
            </a:r>
            <a:br>
              <a:rPr lang="en-US" sz="1800" b="0" i="0" dirty="0">
                <a:effectLst/>
                <a:latin typeface="Segoe UI" panose="020B0502040204020203" pitchFamily="34" charset="0"/>
              </a:rPr>
            </a:br>
            <a:r>
              <a:rPr lang="en-US" sz="1800" b="0" i="0" dirty="0">
                <a:effectLst/>
                <a:latin typeface="Segoe UI" panose="020B0502040204020203" pitchFamily="34" charset="0"/>
              </a:rPr>
              <a:t>IDOR is a Broken Access Control vulnerability where an application exposes internal object identifiers (IDs, record numbers, file names, UUIDs) and </a:t>
            </a:r>
            <a:r>
              <a:rPr lang="en-US" sz="1800" b="1" i="0" dirty="0">
                <a:effectLst/>
                <a:latin typeface="Segoe UI" panose="020B0502040204020203" pitchFamily="34" charset="0"/>
              </a:rPr>
              <a:t>fails to verify the requesting user’s authorization</a:t>
            </a:r>
            <a:r>
              <a:rPr lang="en-US" sz="1800" b="0" i="0" dirty="0">
                <a:effectLst/>
                <a:latin typeface="Segoe UI" panose="020B0502040204020203" pitchFamily="34" charset="0"/>
              </a:rPr>
              <a:t>, allowing an attacker to manipulate the identifier to access someone else’s data.</a:t>
            </a:r>
          </a:p>
          <a:p>
            <a:pPr fontAlgn="t"/>
            <a:endParaRPr lang="en-US" sz="1800" b="0" i="0" dirty="0">
              <a:effectLst/>
              <a:latin typeface="Segoe UI" panose="020B0502040204020203" pitchFamily="34" charset="0"/>
            </a:endParaRPr>
          </a:p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Why it matters: </a:t>
            </a:r>
            <a:br>
              <a:rPr lang="en-US" b="0" i="0" dirty="0">
                <a:effectLst/>
                <a:latin typeface="Segoe UI" panose="020B0502040204020203" pitchFamily="34" charset="0"/>
              </a:rPr>
            </a:br>
            <a:r>
              <a:rPr lang="en-US" b="0" i="0" dirty="0">
                <a:effectLst/>
                <a:latin typeface="Segoe UI" panose="020B0502040204020203" pitchFamily="34" charset="0"/>
              </a:rPr>
              <a:t>IDOR is:</a:t>
            </a:r>
          </a:p>
          <a:p>
            <a:pPr lvl="1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Extremely common</a:t>
            </a:r>
          </a:p>
          <a:p>
            <a:pPr lvl="1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Often high impact</a:t>
            </a:r>
          </a:p>
          <a:p>
            <a:pPr lvl="1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Easy to exploit</a:t>
            </a:r>
          </a:p>
          <a:p>
            <a:pPr lvl="1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Difficult for developers to detect</a:t>
            </a:r>
          </a:p>
          <a:p>
            <a:pPr fontAlgn="t">
              <a:buFont typeface="Arial" panose="020B0604020202020204" pitchFamily="34" charset="0"/>
              <a:buChar char="•"/>
            </a:pPr>
            <a:endParaRPr lang="en-US" sz="1800" b="0" i="0" dirty="0">
              <a:effectLst/>
              <a:latin typeface="Segoe UI" panose="020B0502040204020203" pitchFamily="34" charset="0"/>
            </a:endParaRPr>
          </a:p>
          <a:p>
            <a:pPr fontAlgn="t"/>
            <a:r>
              <a:rPr lang="en-US" sz="1800" b="1" i="0" dirty="0">
                <a:effectLst/>
                <a:latin typeface="Segoe UI" panose="020B0502040204020203" pitchFamily="34" charset="0"/>
              </a:rPr>
              <a:t>Where IDOR appears: </a:t>
            </a:r>
            <a:endParaRPr lang="en-US" sz="1800" b="0" i="0" dirty="0">
              <a:effectLst/>
              <a:latin typeface="Segoe UI" panose="020B0502040204020203" pitchFamily="34" charset="0"/>
            </a:endParaRPr>
          </a:p>
          <a:p>
            <a:pPr lvl="1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Web apps</a:t>
            </a:r>
          </a:p>
          <a:p>
            <a:pPr lvl="1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Mobile apps</a:t>
            </a:r>
          </a:p>
          <a:p>
            <a:pPr lvl="1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APIs (REST, </a:t>
            </a:r>
            <a:r>
              <a:rPr lang="en-US" b="0" i="0" dirty="0" err="1">
                <a:effectLst/>
                <a:latin typeface="Segoe UI" panose="020B0502040204020203" pitchFamily="34" charset="0"/>
              </a:rPr>
              <a:t>GraphQL</a:t>
            </a:r>
            <a:r>
              <a:rPr lang="en-US" b="0" i="0" dirty="0">
                <a:effectLst/>
                <a:latin typeface="Segoe UI" panose="020B0502040204020203" pitchFamily="34" charset="0"/>
              </a:rPr>
              <a:t>)</a:t>
            </a:r>
          </a:p>
          <a:p>
            <a:pPr lvl="1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Microservices</a:t>
            </a:r>
          </a:p>
          <a:p>
            <a:pPr lvl="1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Cloud storage objects (S3 keys, Azure blobs)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7A67A0-327E-4CD8-BD99-8B83E9030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338439"/>
              </p:ext>
            </p:extLst>
          </p:nvPr>
        </p:nvGraphicFramePr>
        <p:xfrm>
          <a:off x="6560598" y="2538254"/>
          <a:ext cx="4793202" cy="2926080"/>
        </p:xfrm>
        <a:graphic>
          <a:graphicData uri="http://schemas.openxmlformats.org/drawingml/2006/table">
            <a:tbl>
              <a:tblPr/>
              <a:tblGrid>
                <a:gridCol w="4793202">
                  <a:extLst>
                    <a:ext uri="{9D8B030D-6E8A-4147-A177-3AD203B41FA5}">
                      <a16:colId xmlns:a16="http://schemas.microsoft.com/office/drawing/2014/main" val="15326665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Common Targets of IDOR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IDOR can affect many parts of a system: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User Profiles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Order Details / Purchase History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Invoices &amp; Reports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Uploaded Files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Student Results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Tickets, Bookings, Appointments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API Endpoints (REST, </a:t>
                      </a:r>
                      <a:r>
                        <a:rPr lang="en-US" b="0" i="0" dirty="0" err="1">
                          <a:effectLst/>
                          <a:latin typeface="Segoe UI" panose="020B0502040204020203" pitchFamily="34" charset="0"/>
                        </a:rPr>
                        <a:t>GraphQL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, Mobile APIs)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297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02319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934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8E9958-D4C3-4999-A62A-6F8943027E2C}"/>
              </a:ext>
            </a:extLst>
          </p:cNvPr>
          <p:cNvSpPr txBox="1"/>
          <p:nvPr/>
        </p:nvSpPr>
        <p:spPr>
          <a:xfrm>
            <a:off x="3048739" y="68347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US" sz="2400" b="1" dirty="0">
                <a:latin typeface="Segoe UI" panose="020B0502040204020203" pitchFamily="34" charset="0"/>
              </a:rPr>
              <a:t>How </a:t>
            </a:r>
            <a:r>
              <a:rPr lang="en-US" sz="2400" b="1" i="0" dirty="0">
                <a:effectLst/>
                <a:latin typeface="Segoe UI" panose="020B0502040204020203" pitchFamily="34" charset="0"/>
              </a:rPr>
              <a:t>IDOR Work?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5BA583-7910-4D68-8A7C-ABDAAB542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88" y="1091953"/>
            <a:ext cx="10385624" cy="488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41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8E9958-D4C3-4999-A62A-6F8943027E2C}"/>
              </a:ext>
            </a:extLst>
          </p:cNvPr>
          <p:cNvSpPr txBox="1"/>
          <p:nvPr/>
        </p:nvSpPr>
        <p:spPr>
          <a:xfrm>
            <a:off x="3048739" y="68347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US" sz="2400" b="1" dirty="0">
                <a:latin typeface="Segoe UI" panose="020B0502040204020203" pitchFamily="34" charset="0"/>
              </a:rPr>
              <a:t>How </a:t>
            </a:r>
            <a:r>
              <a:rPr lang="en-US" sz="2400" b="1" i="0" dirty="0">
                <a:effectLst/>
                <a:latin typeface="Segoe UI" panose="020B0502040204020203" pitchFamily="34" charset="0"/>
              </a:rPr>
              <a:t>IDOR Work?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7CAF4E-B0B8-4E07-B313-42D5114C2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039" y="1207363"/>
            <a:ext cx="9614515" cy="472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956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8E9958-D4C3-4999-A62A-6F8943027E2C}"/>
              </a:ext>
            </a:extLst>
          </p:cNvPr>
          <p:cNvSpPr txBox="1"/>
          <p:nvPr/>
        </p:nvSpPr>
        <p:spPr>
          <a:xfrm>
            <a:off x="3048739" y="68347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US" sz="2400" b="1" dirty="0">
                <a:latin typeface="Segoe UI" panose="020B0502040204020203" pitchFamily="34" charset="0"/>
              </a:rPr>
              <a:t>How </a:t>
            </a:r>
            <a:r>
              <a:rPr lang="en-US" sz="2400" b="1" i="0" dirty="0">
                <a:effectLst/>
                <a:latin typeface="Segoe UI" panose="020B0502040204020203" pitchFamily="34" charset="0"/>
              </a:rPr>
              <a:t>IDOR Work?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4F1DD9-5ADE-4EED-B7E3-5A17B5790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688" y="1138237"/>
            <a:ext cx="10272912" cy="488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68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8E9958-D4C3-4999-A62A-6F8943027E2C}"/>
              </a:ext>
            </a:extLst>
          </p:cNvPr>
          <p:cNvSpPr txBox="1"/>
          <p:nvPr/>
        </p:nvSpPr>
        <p:spPr>
          <a:xfrm>
            <a:off x="3048739" y="68347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US" sz="2400" b="1" dirty="0">
                <a:latin typeface="Segoe UI" panose="020B0502040204020203" pitchFamily="34" charset="0"/>
              </a:rPr>
              <a:t>How </a:t>
            </a:r>
            <a:r>
              <a:rPr lang="en-US" sz="2400" b="1" i="0" dirty="0">
                <a:effectLst/>
                <a:latin typeface="Segoe UI" panose="020B0502040204020203" pitchFamily="34" charset="0"/>
              </a:rPr>
              <a:t>IDOR Work?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58F884-AC1E-4A2F-99D2-25F7E6A87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351" y="1686757"/>
            <a:ext cx="8469297" cy="299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998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8E9958-D4C3-4999-A62A-6F8943027E2C}"/>
              </a:ext>
            </a:extLst>
          </p:cNvPr>
          <p:cNvSpPr txBox="1"/>
          <p:nvPr/>
        </p:nvSpPr>
        <p:spPr>
          <a:xfrm>
            <a:off x="3048739" y="68347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US" sz="2400" b="1" dirty="0">
                <a:latin typeface="Segoe UI" panose="020B0502040204020203" pitchFamily="34" charset="0"/>
              </a:rPr>
              <a:t>Attack Vectors</a:t>
            </a:r>
            <a:endParaRPr lang="en-US" sz="2400" b="1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A7A8E5-38F9-42D0-B063-39BA61FAC677}"/>
              </a:ext>
            </a:extLst>
          </p:cNvPr>
          <p:cNvSpPr txBox="1"/>
          <p:nvPr/>
        </p:nvSpPr>
        <p:spPr>
          <a:xfrm>
            <a:off x="1120805" y="95611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0" i="0" dirty="0">
                <a:effectLst/>
                <a:latin typeface="Segoe UI" panose="020B0502040204020203" pitchFamily="34" charset="0"/>
              </a:rPr>
              <a:t>IDOR can occur in multiple locations: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E21576-C4A2-4152-BE3E-B8C9E4560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111" y="1325446"/>
            <a:ext cx="5305888" cy="52414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13E41A-BED7-4047-97C0-F8B387C7B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338" y="956114"/>
            <a:ext cx="4785063" cy="577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253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1794FD-A17E-4E74-AB80-02136ED5090F}"/>
              </a:ext>
            </a:extLst>
          </p:cNvPr>
          <p:cNvSpPr txBox="1"/>
          <p:nvPr/>
        </p:nvSpPr>
        <p:spPr>
          <a:xfrm>
            <a:off x="2370338" y="0"/>
            <a:ext cx="6913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2400" b="1" i="0" dirty="0">
                <a:effectLst/>
                <a:latin typeface="Segoe UI" panose="020B0502040204020203" pitchFamily="34" charset="0"/>
              </a:rPr>
              <a:t>Real‑World IDOR Attacks (Verified Incidents)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C67EA7-9816-44A3-AE6E-0CFB995DB0AB}"/>
              </a:ext>
            </a:extLst>
          </p:cNvPr>
          <p:cNvSpPr txBox="1"/>
          <p:nvPr/>
        </p:nvSpPr>
        <p:spPr>
          <a:xfrm>
            <a:off x="633643" y="1026085"/>
            <a:ext cx="1117365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1800" b="1" i="0" dirty="0">
                <a:effectLst/>
                <a:latin typeface="Segoe UI" panose="020B0502040204020203" pitchFamily="34" charset="0"/>
              </a:rPr>
              <a:t>🟦 1. Instagram Private Photo Theft (Facebook Bug Bounty, 2019)</a:t>
            </a:r>
          </a:p>
          <a:p>
            <a:pPr fontAlgn="t"/>
            <a:r>
              <a:rPr lang="en-US" sz="1800" b="0" i="0" dirty="0">
                <a:effectLst/>
                <a:latin typeface="Segoe UI" panose="020B0502040204020203" pitchFamily="34" charset="0"/>
              </a:rPr>
              <a:t>A researcher discovered that increasing a media ID number allowed access to </a:t>
            </a:r>
            <a:r>
              <a:rPr lang="en-US" sz="1800" b="1" i="0" dirty="0">
                <a:effectLst/>
                <a:latin typeface="Segoe UI" panose="020B0502040204020203" pitchFamily="34" charset="0"/>
              </a:rPr>
              <a:t>private Instagram photos</a:t>
            </a:r>
            <a:r>
              <a:rPr lang="en-US" sz="1800" b="0" i="0" dirty="0">
                <a:effectLst/>
                <a:latin typeface="Segoe UI" panose="020B0502040204020203" pitchFamily="34" charset="0"/>
              </a:rPr>
              <a:t> belonging to other users.</a:t>
            </a:r>
          </a:p>
          <a:p>
            <a:pPr fontAlgn="t"/>
            <a:endParaRPr lang="en-US" sz="1800" b="0" i="0" dirty="0">
              <a:effectLst/>
              <a:latin typeface="Segoe UI" panose="020B0502040204020203" pitchFamily="34" charset="0"/>
            </a:endParaRPr>
          </a:p>
          <a:p>
            <a:pPr fontAlgn="t"/>
            <a:r>
              <a:rPr lang="en-US" sz="1800" b="1" i="0" dirty="0">
                <a:effectLst/>
                <a:latin typeface="Segoe UI" panose="020B0502040204020203" pitchFamily="34" charset="0"/>
              </a:rPr>
              <a:t>Impact:</a:t>
            </a:r>
            <a:endParaRPr lang="en-US" sz="1800" b="0" i="0" dirty="0">
              <a:effectLst/>
              <a:latin typeface="Segoe UI" panose="020B0502040204020203" pitchFamily="34" charset="0"/>
            </a:endParaRP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egoe UI" panose="020B0502040204020203" pitchFamily="34" charset="0"/>
              </a:rPr>
              <a:t>Exposed private images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egoe UI" panose="020B0502040204020203" pitchFamily="34" charset="0"/>
              </a:rPr>
              <a:t>Facebook rewarded highest-level bounty</a:t>
            </a:r>
          </a:p>
          <a:p>
            <a:pPr fontAlgn="t">
              <a:buFont typeface="Arial" panose="020B0604020202020204" pitchFamily="34" charset="0"/>
              <a:buChar char="•"/>
            </a:pPr>
            <a:endParaRPr lang="en-US" sz="1800" b="0" i="0" dirty="0">
              <a:effectLst/>
              <a:latin typeface="Segoe UI" panose="020B0502040204020203" pitchFamily="34" charset="0"/>
            </a:endParaRPr>
          </a:p>
          <a:p>
            <a:pPr fontAlgn="t"/>
            <a:r>
              <a:rPr lang="en-US" sz="1800" b="1" i="0" dirty="0">
                <a:effectLst/>
                <a:latin typeface="Segoe UI" panose="020B0502040204020203" pitchFamily="34" charset="0"/>
              </a:rPr>
              <a:t>🟦 2. Uber Driver &amp; Passenger Info Leak (2016)</a:t>
            </a:r>
          </a:p>
          <a:p>
            <a:pPr fontAlgn="t"/>
            <a:r>
              <a:rPr lang="en-US" sz="1800" b="0" i="0" dirty="0">
                <a:effectLst/>
                <a:latin typeface="Segoe UI" panose="020B0502040204020203" pitchFamily="34" charset="0"/>
              </a:rPr>
              <a:t>An IDOR in the Uber API let attackers retrieve: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egoe UI" panose="020B0502040204020203" pitchFamily="34" charset="0"/>
              </a:rPr>
              <a:t>Trip history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egoe UI" panose="020B0502040204020203" pitchFamily="34" charset="0"/>
              </a:rPr>
              <a:t>Driver names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egoe UI" panose="020B0502040204020203" pitchFamily="34" charset="0"/>
              </a:rPr>
              <a:t>Driver phone numbers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egoe UI" panose="020B0502040204020203" pitchFamily="34" charset="0"/>
              </a:rPr>
              <a:t>Passenger data</a:t>
            </a:r>
          </a:p>
          <a:p>
            <a:pPr fontAlgn="t"/>
            <a:r>
              <a:rPr lang="en-US" sz="1800" b="1" i="0" dirty="0">
                <a:effectLst/>
                <a:latin typeface="Segoe UI" panose="020B0502040204020203" pitchFamily="34" charset="0"/>
              </a:rPr>
              <a:t>Cause:</a:t>
            </a:r>
            <a:r>
              <a:rPr lang="en-US" sz="1800" b="0" i="0" dirty="0">
                <a:effectLst/>
                <a:latin typeface="Segoe UI" panose="020B0502040204020203" pitchFamily="34" charset="0"/>
              </a:rPr>
              <a:t> predictable UUID-based ride IDs.</a:t>
            </a:r>
          </a:p>
          <a:p>
            <a:pPr fontAlgn="t"/>
            <a:endParaRPr lang="en-US" sz="1800" b="0" i="0" dirty="0">
              <a:effectLst/>
              <a:latin typeface="Segoe UI" panose="020B0502040204020203" pitchFamily="34" charset="0"/>
            </a:endParaRPr>
          </a:p>
          <a:p>
            <a:pPr fontAlgn="t"/>
            <a:r>
              <a:rPr lang="en-US" sz="1800" b="1" i="0" dirty="0">
                <a:effectLst/>
                <a:latin typeface="Segoe UI" panose="020B0502040204020203" pitchFamily="34" charset="0"/>
              </a:rPr>
              <a:t>🟦 3. PayPal IDOR (2020)</a:t>
            </a:r>
          </a:p>
          <a:p>
            <a:pPr fontAlgn="t"/>
            <a:r>
              <a:rPr lang="en-US" sz="1800" b="0" i="0" dirty="0">
                <a:effectLst/>
                <a:latin typeface="Segoe UI" panose="020B0502040204020203" pitchFamily="34" charset="0"/>
              </a:rPr>
              <a:t>Security researcher accessed other PayPal users' transaction information by manipulating the transaction ID in an API request.</a:t>
            </a:r>
          </a:p>
        </p:txBody>
      </p:sp>
    </p:spTree>
    <p:extLst>
      <p:ext uri="{BB962C8B-B14F-4D97-AF65-F5344CB8AC3E}">
        <p14:creationId xmlns:p14="http://schemas.microsoft.com/office/powerpoint/2010/main" val="112732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1794FD-A17E-4E74-AB80-02136ED5090F}"/>
              </a:ext>
            </a:extLst>
          </p:cNvPr>
          <p:cNvSpPr txBox="1"/>
          <p:nvPr/>
        </p:nvSpPr>
        <p:spPr>
          <a:xfrm>
            <a:off x="2370338" y="0"/>
            <a:ext cx="6913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2400" b="1" i="0" dirty="0">
                <a:effectLst/>
                <a:latin typeface="Segoe UI" panose="020B0502040204020203" pitchFamily="34" charset="0"/>
              </a:rPr>
              <a:t>Real‑World IDOR Attacks (Verified Incidents)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90EE0D-BF4A-4142-BB5C-15FEAC157C5B}"/>
              </a:ext>
            </a:extLst>
          </p:cNvPr>
          <p:cNvSpPr txBox="1"/>
          <p:nvPr/>
        </p:nvSpPr>
        <p:spPr>
          <a:xfrm>
            <a:off x="683581" y="1003929"/>
            <a:ext cx="111237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1800" b="1" i="0" dirty="0">
                <a:effectLst/>
                <a:latin typeface="Segoe UI" panose="020B0502040204020203" pitchFamily="34" charset="0"/>
              </a:rPr>
              <a:t>🟦 4. Government Portals (Multiple Countries)</a:t>
            </a:r>
          </a:p>
          <a:p>
            <a:pPr fontAlgn="t"/>
            <a:r>
              <a:rPr lang="en-US" sz="1800" b="0" i="0" dirty="0">
                <a:effectLst/>
                <a:latin typeface="Segoe UI" panose="020B0502040204020203" pitchFamily="34" charset="0"/>
              </a:rPr>
              <a:t>Common IDOR cases included access to: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egoe UI" panose="020B0502040204020203" pitchFamily="34" charset="0"/>
              </a:rPr>
              <a:t>Student exam results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egoe UI" panose="020B0502040204020203" pitchFamily="34" charset="0"/>
              </a:rPr>
              <a:t>National ID documents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egoe UI" panose="020B0502040204020203" pitchFamily="34" charset="0"/>
              </a:rPr>
              <a:t>Medical lab reports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egoe UI" panose="020B0502040204020203" pitchFamily="34" charset="0"/>
              </a:rPr>
              <a:t>COVID test certificates</a:t>
            </a:r>
          </a:p>
          <a:p>
            <a:pPr fontAlgn="t"/>
            <a:r>
              <a:rPr lang="en-US" sz="1800" b="0" i="0" dirty="0">
                <a:effectLst/>
                <a:latin typeface="Segoe UI" panose="020B0502040204020203" pitchFamily="34" charset="0"/>
              </a:rPr>
              <a:t>Often caused by simple URLs like:</a:t>
            </a:r>
          </a:p>
          <a:p>
            <a:pPr fontAlgn="t"/>
            <a:r>
              <a:rPr lang="en-US" sz="1800" b="0" i="0" dirty="0">
                <a:effectLst/>
                <a:latin typeface="Segoe UI" panose="020B0502040204020203" pitchFamily="34" charset="0"/>
              </a:rPr>
              <a:t>/</a:t>
            </a:r>
            <a:r>
              <a:rPr lang="en-US" sz="1800" b="0" i="0" dirty="0" err="1">
                <a:effectLst/>
                <a:latin typeface="Segoe UI" panose="020B0502040204020203" pitchFamily="34" charset="0"/>
              </a:rPr>
              <a:t>viewResult?rollno</a:t>
            </a:r>
            <a:r>
              <a:rPr lang="en-US" sz="1800" b="0" i="0" dirty="0">
                <a:effectLst/>
                <a:latin typeface="Segoe UI" panose="020B0502040204020203" pitchFamily="34" charset="0"/>
              </a:rPr>
              <a:t>=2021001 </a:t>
            </a:r>
          </a:p>
          <a:p>
            <a:pPr fontAlgn="t"/>
            <a:endParaRPr lang="en-US" sz="1800" b="0" i="0" dirty="0">
              <a:effectLst/>
              <a:latin typeface="Segoe UI" panose="020B0502040204020203" pitchFamily="34" charset="0"/>
            </a:endParaRPr>
          </a:p>
          <a:p>
            <a:pPr fontAlgn="t"/>
            <a:r>
              <a:rPr lang="en-US" sz="1800" b="1" i="0" dirty="0">
                <a:effectLst/>
                <a:latin typeface="Segoe UI" panose="020B0502040204020203" pitchFamily="34" charset="0"/>
              </a:rPr>
              <a:t>🟦 5. Broadcom API IDOR (2022)</a:t>
            </a:r>
          </a:p>
          <a:p>
            <a:pPr fontAlgn="t"/>
            <a:r>
              <a:rPr lang="en-US" sz="1800" b="0" i="0" dirty="0">
                <a:effectLst/>
                <a:latin typeface="Segoe UI" panose="020B0502040204020203" pitchFamily="34" charset="0"/>
              </a:rPr>
              <a:t>Allowed attackers to read support cases belonging to other companies by altering numeric case IDs.</a:t>
            </a:r>
          </a:p>
          <a:p>
            <a:pPr fontAlgn="t"/>
            <a:endParaRPr lang="en-US" sz="1800" b="1" i="0" dirty="0">
              <a:effectLst/>
              <a:latin typeface="Segoe UI" panose="020B0502040204020203" pitchFamily="34" charset="0"/>
            </a:endParaRPr>
          </a:p>
          <a:p>
            <a:pPr fontAlgn="t"/>
            <a:r>
              <a:rPr lang="en-US" sz="1800" b="1" i="0" dirty="0">
                <a:effectLst/>
                <a:latin typeface="Segoe UI" panose="020B0502040204020203" pitchFamily="34" charset="0"/>
              </a:rPr>
              <a:t>🟦 6. </a:t>
            </a:r>
            <a:r>
              <a:rPr lang="en-US" sz="1800" b="1" i="0" dirty="0" err="1">
                <a:effectLst/>
                <a:latin typeface="Segoe UI" panose="020B0502040204020203" pitchFamily="34" charset="0"/>
              </a:rPr>
              <a:t>TikTok</a:t>
            </a:r>
            <a:r>
              <a:rPr lang="en-US" sz="1800" b="1" i="0" dirty="0">
                <a:effectLst/>
                <a:latin typeface="Segoe UI" panose="020B0502040204020203" pitchFamily="34" charset="0"/>
              </a:rPr>
              <a:t> IDOR Bug (2021)</a:t>
            </a:r>
          </a:p>
          <a:p>
            <a:pPr fontAlgn="t"/>
            <a:r>
              <a:rPr lang="en-US" sz="1800" b="0" i="0" dirty="0">
                <a:effectLst/>
                <a:latin typeface="Segoe UI" panose="020B0502040204020203" pitchFamily="34" charset="0"/>
              </a:rPr>
              <a:t>Researchers accessed private </a:t>
            </a:r>
            <a:r>
              <a:rPr lang="en-US" sz="1800" b="0" i="0" dirty="0" err="1">
                <a:effectLst/>
                <a:latin typeface="Segoe UI" panose="020B0502040204020203" pitchFamily="34" charset="0"/>
              </a:rPr>
              <a:t>TikTok</a:t>
            </a:r>
            <a:r>
              <a:rPr lang="en-US" sz="1800" b="0" i="0" dirty="0">
                <a:effectLst/>
                <a:latin typeface="Segoe UI" panose="020B0502040204020203" pitchFamily="34" charset="0"/>
              </a:rPr>
              <a:t> user data (profile info, phone numbers) by modifying user IDs in API calls.</a:t>
            </a:r>
          </a:p>
          <a:p>
            <a:pPr fontAlgn="t"/>
            <a:r>
              <a:rPr lang="en-US" sz="1800" b="0" i="0" dirty="0" err="1">
                <a:effectLst/>
                <a:latin typeface="Segoe UI" panose="020B0502040204020203" pitchFamily="34" charset="0"/>
              </a:rPr>
              <a:t>TikTok</a:t>
            </a:r>
            <a:r>
              <a:rPr lang="en-US" sz="1800" b="0" i="0" dirty="0">
                <a:effectLst/>
                <a:latin typeface="Segoe UI" panose="020B0502040204020203" pitchFamily="34" charset="0"/>
              </a:rPr>
              <a:t> paid a reward and fixed the flaw.</a:t>
            </a:r>
          </a:p>
        </p:txBody>
      </p:sp>
    </p:spTree>
    <p:extLst>
      <p:ext uri="{BB962C8B-B14F-4D97-AF65-F5344CB8AC3E}">
        <p14:creationId xmlns:p14="http://schemas.microsoft.com/office/powerpoint/2010/main" val="364056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2D6C36-609E-4347-99B5-E0028C2E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38627-1A1B-46A4-916D-A3379C9376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7" y="0"/>
            <a:ext cx="116297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659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70FB621-96B5-4700-9BC5-43D587D5101A}"/>
              </a:ext>
            </a:extLst>
          </p:cNvPr>
          <p:cNvSpPr txBox="1"/>
          <p:nvPr/>
        </p:nvSpPr>
        <p:spPr>
          <a:xfrm>
            <a:off x="1331650" y="134035"/>
            <a:ext cx="9472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US" sz="2400" b="1" i="0" dirty="0">
                <a:effectLst/>
                <a:latin typeface="Segoe UI" panose="020B0502040204020203" pitchFamily="34" charset="0"/>
              </a:rPr>
              <a:t>🧪 Code Deep Dive — Vulnerable → Secure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208EA2-F3DA-49EF-B5C1-0EC998FE7292}"/>
              </a:ext>
            </a:extLst>
          </p:cNvPr>
          <p:cNvSpPr txBox="1"/>
          <p:nvPr/>
        </p:nvSpPr>
        <p:spPr>
          <a:xfrm>
            <a:off x="499369" y="870881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PHP – Profile Fetch</a:t>
            </a:r>
          </a:p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Vulnerable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263A4EE-D6A7-43B4-B34E-9BC2BA658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731" y="221941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&lt;?php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// 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profile.php?user_id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=123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$_GET['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$row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mysqli_query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($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"SELECT id, email FROM users WHERE id = '$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echo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json_encode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mysqli_fetch_assoc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($row))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810246-0975-4202-87D6-2A41D9131236}"/>
              </a:ext>
            </a:extLst>
          </p:cNvPr>
          <p:cNvSpPr txBox="1"/>
          <p:nvPr/>
        </p:nvSpPr>
        <p:spPr>
          <a:xfrm>
            <a:off x="565211" y="314092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Secure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964072F-9424-4D96-A40C-01105B433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731" y="411036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&lt;?php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session_start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$_SESSION['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']; // bind to authenticated session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$user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mysqli_query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($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"SELECT id, email FROM users WHERE id = '$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echo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json_encode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mysqli_fetch_assoc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($user))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6F2293F-6AF2-4116-8891-C8C7D3BEB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492838"/>
              </p:ext>
            </p:extLst>
          </p:nvPr>
        </p:nvGraphicFramePr>
        <p:xfrm>
          <a:off x="705035" y="4928567"/>
          <a:ext cx="10515600" cy="15544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6130344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Explanation</a:t>
                      </a: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Problem: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The app trusts the </a:t>
                      </a:r>
                      <a:r>
                        <a:rPr lang="en-US" b="0" i="0" dirty="0" err="1">
                          <a:effectLst/>
                          <a:latin typeface="Segoe UI" panose="020B0502040204020203" pitchFamily="34" charset="0"/>
                        </a:rPr>
                        <a:t>user_id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from the URL, allowing an attacker to change it.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Fix: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The server derives the user ID from the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authenticated session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and ignores user‑supplied IDs. That enforces ownership.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183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2700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6935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198405-516A-4AD2-A023-CD09341D5605}"/>
              </a:ext>
            </a:extLst>
          </p:cNvPr>
          <p:cNvSpPr txBox="1"/>
          <p:nvPr/>
        </p:nvSpPr>
        <p:spPr>
          <a:xfrm>
            <a:off x="1331650" y="134035"/>
            <a:ext cx="9472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US" sz="2400" b="1" i="0" dirty="0">
                <a:effectLst/>
                <a:latin typeface="Segoe UI" panose="020B0502040204020203" pitchFamily="34" charset="0"/>
              </a:rPr>
              <a:t>🧪 Code Deep Dive — Vulnerable → Secure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3CBF8-54B7-47AD-AE6C-BF74BA799F57}"/>
              </a:ext>
            </a:extLst>
          </p:cNvPr>
          <p:cNvSpPr txBox="1"/>
          <p:nvPr/>
        </p:nvSpPr>
        <p:spPr>
          <a:xfrm>
            <a:off x="499369" y="862003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2) Node.js (Express) – Order Details</a:t>
            </a:r>
          </a:p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Vulnerable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F4B98EF-6761-4087-A011-B09E9B512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011" y="205962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app.get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('/orders/:id', async (req, res) =&gt;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const order = await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db.orders.findOne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({ id: req.params.id });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res.json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(order); // could be someone else’s order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4582FD-1F3D-4DE4-96BC-6EFBF95D8E44}"/>
              </a:ext>
            </a:extLst>
          </p:cNvPr>
          <p:cNvSpPr txBox="1"/>
          <p:nvPr/>
        </p:nvSpPr>
        <p:spPr>
          <a:xfrm>
            <a:off x="530441" y="2909202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Secure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C5D3799-D438-4ED8-A876-8B59B219F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682" y="435893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app.get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('/orders/:id',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authMiddleware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async (req, res) =&gt;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const order = await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db.orders.findOne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id: req.params.id,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owner: req.user.id               // bind object to current user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});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if (!order) return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res.status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(403).json({ error: 'Unauthorized' });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res.json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(order);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});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9DE6A38-6447-4137-8D52-58063068B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238886"/>
              </p:ext>
            </p:extLst>
          </p:nvPr>
        </p:nvGraphicFramePr>
        <p:xfrm>
          <a:off x="1038687" y="5439339"/>
          <a:ext cx="10262586" cy="1284655"/>
        </p:xfrm>
        <a:graphic>
          <a:graphicData uri="http://schemas.openxmlformats.org/drawingml/2006/table">
            <a:tbl>
              <a:tblPr/>
              <a:tblGrid>
                <a:gridCol w="10262586">
                  <a:extLst>
                    <a:ext uri="{9D8B030D-6E8A-4147-A177-3AD203B41FA5}">
                      <a16:colId xmlns:a16="http://schemas.microsoft.com/office/drawing/2014/main" val="2666943844"/>
                    </a:ext>
                  </a:extLst>
                </a:gridCol>
              </a:tblGrid>
              <a:tr h="918895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Explanation</a:t>
                      </a:r>
                      <a:endParaRPr lang="en-US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Problem: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No ownership check—anyone can request any id.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Fix: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Add an ownership predicate (owner: req.user.id) and return 403 if not found for that user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846205"/>
                  </a:ext>
                </a:extLst>
              </a:tr>
              <a:tr h="30171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65780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7464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543CC3-517A-48BA-B56E-5785765AB0FA}"/>
              </a:ext>
            </a:extLst>
          </p:cNvPr>
          <p:cNvSpPr txBox="1"/>
          <p:nvPr/>
        </p:nvSpPr>
        <p:spPr>
          <a:xfrm>
            <a:off x="312938" y="933025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3) Python (Flask) – File Download</a:t>
            </a:r>
          </a:p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Vulnerable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A8090F2-04AE-435D-A2A4-879ADE500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724" y="209513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@app.get("/download/&lt;fid&gt;")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 download(fid):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# Directly returns any file by ID!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return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send_file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(f"/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/reports/{fid}.pdf"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74175-DFCA-4AC9-813F-94C01BED4FAB}"/>
              </a:ext>
            </a:extLst>
          </p:cNvPr>
          <p:cNvSpPr txBox="1"/>
          <p:nvPr/>
        </p:nvSpPr>
        <p:spPr>
          <a:xfrm>
            <a:off x="668044" y="2926957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Secure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D046F1C-8AF8-4065-A174-8D935A4DD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724" y="3613146"/>
            <a:ext cx="666297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flask_login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import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login_required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current_user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@app.get("/download/&lt;fid&gt;")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@login_required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 download(fid):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f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File.query.filter_by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(id=fid,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owner_id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=current_user.id).first()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if not 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 abort(403)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return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send_file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f.path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71DA04F-4EA5-405F-B17B-E9A51D6F1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473116"/>
              </p:ext>
            </p:extLst>
          </p:nvPr>
        </p:nvGraphicFramePr>
        <p:xfrm>
          <a:off x="6618589" y="2330454"/>
          <a:ext cx="5143583" cy="1828800"/>
        </p:xfrm>
        <a:graphic>
          <a:graphicData uri="http://schemas.openxmlformats.org/drawingml/2006/table">
            <a:tbl>
              <a:tblPr/>
              <a:tblGrid>
                <a:gridCol w="5143583">
                  <a:extLst>
                    <a:ext uri="{9D8B030D-6E8A-4147-A177-3AD203B41FA5}">
                      <a16:colId xmlns:a16="http://schemas.microsoft.com/office/drawing/2014/main" val="3212776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Explanation</a:t>
                      </a:r>
                      <a:endParaRPr lang="en-US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Problem: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Anyone who knows fid can download the file.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Fix: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Verify ownership (owner_id == current_user.id) before serving.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734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172104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17DEC91-E6DE-4FFC-8827-150F20D1DB78}"/>
              </a:ext>
            </a:extLst>
          </p:cNvPr>
          <p:cNvSpPr txBox="1"/>
          <p:nvPr/>
        </p:nvSpPr>
        <p:spPr>
          <a:xfrm>
            <a:off x="1331650" y="134035"/>
            <a:ext cx="9472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US" sz="2400" b="1" i="0" dirty="0">
                <a:effectLst/>
                <a:latin typeface="Segoe UI" panose="020B0502040204020203" pitchFamily="34" charset="0"/>
              </a:rPr>
              <a:t>🧪 Code Deep Dive — Vulnerable → Secure</a:t>
            </a:r>
          </a:p>
        </p:txBody>
      </p:sp>
    </p:spTree>
    <p:extLst>
      <p:ext uri="{BB962C8B-B14F-4D97-AF65-F5344CB8AC3E}">
        <p14:creationId xmlns:p14="http://schemas.microsoft.com/office/powerpoint/2010/main" val="4061432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FD5DE8-43F9-427C-AAF1-EF5E0B1851EB}"/>
              </a:ext>
            </a:extLst>
          </p:cNvPr>
          <p:cNvSpPr txBox="1"/>
          <p:nvPr/>
        </p:nvSpPr>
        <p:spPr>
          <a:xfrm>
            <a:off x="1331650" y="134035"/>
            <a:ext cx="9472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US" sz="2400" b="1" i="0" dirty="0">
                <a:effectLst/>
                <a:latin typeface="Segoe UI" panose="020B0502040204020203" pitchFamily="34" charset="0"/>
              </a:rPr>
              <a:t>🧪 Code Deep Dive — Vulnerable → Secure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31CAC7-6F6C-4EE4-B7DC-198F05B49E84}"/>
              </a:ext>
            </a:extLst>
          </p:cNvPr>
          <p:cNvSpPr txBox="1"/>
          <p:nvPr/>
        </p:nvSpPr>
        <p:spPr>
          <a:xfrm>
            <a:off x="641411" y="835370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4) Java (Spring Boot) – User Endpoint</a:t>
            </a:r>
          </a:p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Vulnerable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7250E49-2559-4E8E-B3D7-2FA8C60C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411" y="21217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@GetMapping("/user/{id}")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User getUser(@PathVariable int id)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return userRepo.findById(id).orElse(null); // leaks arbitrary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FFF4A7-7059-4FCE-9FF9-4A79D83E7224}"/>
              </a:ext>
            </a:extLst>
          </p:cNvPr>
          <p:cNvSpPr txBox="1"/>
          <p:nvPr/>
        </p:nvSpPr>
        <p:spPr>
          <a:xfrm>
            <a:off x="525263" y="301089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Secure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071F97D-79FB-4AA3-8A36-4AEBDFEF8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83" y="4488678"/>
            <a:ext cx="12192000" cy="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@GetMapping("/user/{id}")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ResponseEntity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&lt;?&gt;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getUser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(@PathVariable int id, Principal principal)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User u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userRepo.findById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(id).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orElse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(null);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if (u == null || !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u.getEmail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().equals(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principal.getName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()))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 return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ResponseEntity.status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HttpStatus.FORBIDDEN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).build();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return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ResponseEntity.ok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(u);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8DD2E42-9472-46E8-88CE-A84CBD08E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473869"/>
              </p:ext>
            </p:extLst>
          </p:nvPr>
        </p:nvGraphicFramePr>
        <p:xfrm>
          <a:off x="7599285" y="1704151"/>
          <a:ext cx="4473606" cy="1828800"/>
        </p:xfrm>
        <a:graphic>
          <a:graphicData uri="http://schemas.openxmlformats.org/drawingml/2006/table">
            <a:tbl>
              <a:tblPr/>
              <a:tblGrid>
                <a:gridCol w="4473606">
                  <a:extLst>
                    <a:ext uri="{9D8B030D-6E8A-4147-A177-3AD203B41FA5}">
                      <a16:colId xmlns:a16="http://schemas.microsoft.com/office/drawing/2014/main" val="34204204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Explanation</a:t>
                      </a: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Problem: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Returns any user by id.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Fix: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Compare the target user to the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authenticated principal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. Only return if it’s the same user.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067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63487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3133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DE2503-2AC3-4280-83A0-A3099B657AD8}"/>
              </a:ext>
            </a:extLst>
          </p:cNvPr>
          <p:cNvSpPr txBox="1"/>
          <p:nvPr/>
        </p:nvSpPr>
        <p:spPr>
          <a:xfrm>
            <a:off x="1331650" y="134035"/>
            <a:ext cx="9472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US" sz="2400" b="1" i="0" dirty="0">
                <a:effectLst/>
                <a:latin typeface="Segoe UI" panose="020B0502040204020203" pitchFamily="34" charset="0"/>
              </a:rPr>
              <a:t>🧪 Code Deep Dive — Vulnerable → Secure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09DC53-A521-4C26-985D-6AB260869139}"/>
              </a:ext>
            </a:extLst>
          </p:cNvPr>
          <p:cNvSpPr txBox="1"/>
          <p:nvPr/>
        </p:nvSpPr>
        <p:spPr>
          <a:xfrm>
            <a:off x="641411" y="906392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5) Django – Invoice API</a:t>
            </a:r>
          </a:p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Vulnerable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B031E22-0117-4453-93BB-FD1A770DC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411" y="19797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 invoice_detail(request, invoice_id):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invoice = Invoice.objects.get(pk=invoice_id)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return JsonResponse({'total': invoice.total, 'email': invoice.user.email})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EC84009-BF27-42A4-BE3F-444B82187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113" y="480281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django.contrib.auth.decorators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import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login_required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django.http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import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HttpResponseForbidden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@login_required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invoice_detail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(request,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invoice_id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try: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 invoice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Invoice.objects.get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(pk=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invoice_id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user=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request.user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except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Invoice.DoesNotExist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 return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HttpResponseForbidden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("Unauthorized")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return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JsonResponse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({'total':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invoice.total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'email':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invoice.user.email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19CA323-663F-4852-8FCD-06DC08676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664879"/>
              </p:ext>
            </p:extLst>
          </p:nvPr>
        </p:nvGraphicFramePr>
        <p:xfrm>
          <a:off x="7048869" y="2761827"/>
          <a:ext cx="4873842" cy="1554480"/>
        </p:xfrm>
        <a:graphic>
          <a:graphicData uri="http://schemas.openxmlformats.org/drawingml/2006/table">
            <a:tbl>
              <a:tblPr/>
              <a:tblGrid>
                <a:gridCol w="4873842">
                  <a:extLst>
                    <a:ext uri="{9D8B030D-6E8A-4147-A177-3AD203B41FA5}">
                      <a16:colId xmlns:a16="http://schemas.microsoft.com/office/drawing/2014/main" val="14426722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Explanation</a:t>
                      </a:r>
                      <a:endParaRPr lang="en-US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Problem: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No ownership filter.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Fix: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Restrict query to the logged-in user (user=request.user).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658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5545578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99A8F4C-62F3-4B85-861D-82E4E4777236}"/>
              </a:ext>
            </a:extLst>
          </p:cNvPr>
          <p:cNvSpPr txBox="1"/>
          <p:nvPr/>
        </p:nvSpPr>
        <p:spPr>
          <a:xfrm>
            <a:off x="569651" y="2837272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Secure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442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DE2503-2AC3-4280-83A0-A3099B657AD8}"/>
              </a:ext>
            </a:extLst>
          </p:cNvPr>
          <p:cNvSpPr txBox="1"/>
          <p:nvPr/>
        </p:nvSpPr>
        <p:spPr>
          <a:xfrm>
            <a:off x="1331650" y="134035"/>
            <a:ext cx="9472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US" sz="2400" b="1" i="0" dirty="0">
                <a:effectLst/>
                <a:latin typeface="Segoe UI" panose="020B0502040204020203" pitchFamily="34" charset="0"/>
              </a:rPr>
              <a:t>🧪 Code Deep Dive — Vulnerable → Secure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8F19F-38A1-4D70-8800-33CB2C518642}"/>
              </a:ext>
            </a:extLst>
          </p:cNvPr>
          <p:cNvSpPr txBox="1"/>
          <p:nvPr/>
        </p:nvSpPr>
        <p:spPr>
          <a:xfrm>
            <a:off x="525263" y="833801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6) Ruby on Rails – Attachment Download</a:t>
            </a:r>
          </a:p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Vulnerable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8360736-5D50-4859-A316-25DDA5A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81" y="200635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 show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@doc = Document.find(params[:id])  # any 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send_file @doc.path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588E3D-6E0C-4FF0-B2CD-50A9F7917287}"/>
              </a:ext>
            </a:extLst>
          </p:cNvPr>
          <p:cNvSpPr txBox="1"/>
          <p:nvPr/>
        </p:nvSpPr>
        <p:spPr>
          <a:xfrm>
            <a:off x="683581" y="2890786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Secure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995E7CD-E916-4C80-AB3E-4098207D4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991" y="45009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before_action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authenticate_user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 show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@doc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current_user.documents.find_by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(id: params[:id])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return head :forbidden unless @doc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send_file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@doc.path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7EF9F0C-041C-43F1-8093-D305C8F49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713064"/>
              </p:ext>
            </p:extLst>
          </p:nvPr>
        </p:nvGraphicFramePr>
        <p:xfrm>
          <a:off x="6223246" y="2532577"/>
          <a:ext cx="4846468" cy="1280160"/>
        </p:xfrm>
        <a:graphic>
          <a:graphicData uri="http://schemas.openxmlformats.org/drawingml/2006/table">
            <a:tbl>
              <a:tblPr/>
              <a:tblGrid>
                <a:gridCol w="4846468">
                  <a:extLst>
                    <a:ext uri="{9D8B030D-6E8A-4147-A177-3AD203B41FA5}">
                      <a16:colId xmlns:a16="http://schemas.microsoft.com/office/drawing/2014/main" val="3331329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Explanation</a:t>
                      </a:r>
                      <a:endParaRPr lang="en-US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Problem: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Exposes any document by ID.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Fix: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Scope lookup </a:t>
                      </a:r>
                      <a:r>
                        <a:rPr lang="en-US" b="0" i="1">
                          <a:effectLst/>
                          <a:latin typeface="Segoe UI" panose="020B0502040204020203" pitchFamily="34" charset="0"/>
                        </a:rPr>
                        <a:t>through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the current user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287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72620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9921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DE2503-2AC3-4280-83A0-A3099B657AD8}"/>
              </a:ext>
            </a:extLst>
          </p:cNvPr>
          <p:cNvSpPr txBox="1"/>
          <p:nvPr/>
        </p:nvSpPr>
        <p:spPr>
          <a:xfrm>
            <a:off x="1331650" y="134035"/>
            <a:ext cx="9472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US" sz="2400" b="1" i="0" dirty="0">
                <a:effectLst/>
                <a:latin typeface="Segoe UI" panose="020B0502040204020203" pitchFamily="34" charset="0"/>
              </a:rPr>
              <a:t>🧪 Code Deep Dive — Vulnerable → Secure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C404CB-BDE0-4054-A510-1F884260F853}"/>
              </a:ext>
            </a:extLst>
          </p:cNvPr>
          <p:cNvSpPr txBox="1"/>
          <p:nvPr/>
        </p:nvSpPr>
        <p:spPr>
          <a:xfrm>
            <a:off x="525263" y="324433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Secure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FDC3F7-C00E-40B5-B12B-CA6CE6319D31}"/>
              </a:ext>
            </a:extLst>
          </p:cNvPr>
          <p:cNvSpPr txBox="1"/>
          <p:nvPr/>
        </p:nvSpPr>
        <p:spPr>
          <a:xfrm>
            <a:off x="525263" y="833801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7) ASP.NET Core – Order API</a:t>
            </a:r>
          </a:p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Vulnerable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7DC271F-0E7A-42E8-8818-E3503556F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67" y="230819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[HttpGet("orders/{id}")]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async Task&lt;IActionResult&gt; GetOrder(int id)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var order = await _ctx.Orders.FindAsync(id);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return Ok(order);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6F52DC6-0517-4B17-9D5A-9CE6B57BD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67" y="514904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[Authorize]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[HttpGet("orders/{id}")]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async Task&lt;IActionResult&gt; GetOrder(int id)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var userId = User.FindFirst("sub")?.Value;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var order = await _ctx.Orders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 .FirstOrDefaultAsync(o =&gt; o.Id == id &amp;&amp; o.OwnerId == userId);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if (order == null) return Forbid();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return Ok(order);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96D2B16-B8D4-432D-B957-D4A13E196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339688"/>
              </p:ext>
            </p:extLst>
          </p:nvPr>
        </p:nvGraphicFramePr>
        <p:xfrm>
          <a:off x="6196613" y="2651760"/>
          <a:ext cx="5183819" cy="1554480"/>
        </p:xfrm>
        <a:graphic>
          <a:graphicData uri="http://schemas.openxmlformats.org/drawingml/2006/table">
            <a:tbl>
              <a:tblPr/>
              <a:tblGrid>
                <a:gridCol w="5183819">
                  <a:extLst>
                    <a:ext uri="{9D8B030D-6E8A-4147-A177-3AD203B41FA5}">
                      <a16:colId xmlns:a16="http://schemas.microsoft.com/office/drawing/2014/main" val="9995897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Explanation</a:t>
                      </a:r>
                      <a:endParaRPr lang="en-US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Problem: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No owner check.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Fix: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Enforce OwnerId == current user condition before returning data.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491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43300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980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DE2503-2AC3-4280-83A0-A3099B657AD8}"/>
              </a:ext>
            </a:extLst>
          </p:cNvPr>
          <p:cNvSpPr txBox="1"/>
          <p:nvPr/>
        </p:nvSpPr>
        <p:spPr>
          <a:xfrm>
            <a:off x="1331650" y="134035"/>
            <a:ext cx="9472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US" sz="2400" b="1" i="0" dirty="0">
                <a:effectLst/>
                <a:latin typeface="Segoe UI" panose="020B0502040204020203" pitchFamily="34" charset="0"/>
              </a:rPr>
              <a:t>🧪 Code Deep Dive — Vulnerable → Secure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5BB71-38AA-4B7C-80BB-C297B8E2B1D5}"/>
              </a:ext>
            </a:extLst>
          </p:cNvPr>
          <p:cNvSpPr txBox="1"/>
          <p:nvPr/>
        </p:nvSpPr>
        <p:spPr>
          <a:xfrm>
            <a:off x="729449" y="324433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Secure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E32F65-8AAA-4BE8-9E2E-1DEBB21BDBBD}"/>
              </a:ext>
            </a:extLst>
          </p:cNvPr>
          <p:cNvSpPr txBox="1"/>
          <p:nvPr/>
        </p:nvSpPr>
        <p:spPr>
          <a:xfrm>
            <a:off x="588145" y="950520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8) Go (Gin) – Ticket Endpoint</a:t>
            </a:r>
          </a:p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Vulnerable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C585526-AF76-4BC4-8BCE-F594F8D57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810" y="244135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r.GET("/tickets/:id", func(c *gin.Context)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id := c.Param("id")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var t Ticket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db.Where("id = ?", id).First(&amp;t)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c.JSON(200, t)  // leaks others' tickets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})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FB23DAB-6632-4CE5-8314-46FE1A3BE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8472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r.GET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("/tickets/:id", Auth(),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(c *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gin.Context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id :=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c.Param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("id")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c.GetString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var t Ticket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if err :=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db.Where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("id = ?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owner_id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?", id,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).First(&amp;t).Error; err != nil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c.Status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(403); return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107621D-4686-48C4-A1C9-D5E15828E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98423"/>
              </p:ext>
            </p:extLst>
          </p:nvPr>
        </p:nvGraphicFramePr>
        <p:xfrm>
          <a:off x="6604987" y="2333506"/>
          <a:ext cx="4793202" cy="1280160"/>
        </p:xfrm>
        <a:graphic>
          <a:graphicData uri="http://schemas.openxmlformats.org/drawingml/2006/table">
            <a:tbl>
              <a:tblPr/>
              <a:tblGrid>
                <a:gridCol w="4793202">
                  <a:extLst>
                    <a:ext uri="{9D8B030D-6E8A-4147-A177-3AD203B41FA5}">
                      <a16:colId xmlns:a16="http://schemas.microsoft.com/office/drawing/2014/main" val="7402425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Explanation</a:t>
                      </a:r>
                      <a:endParaRPr lang="en-US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Problem: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Any ticket returned by ID.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Fix: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Filter by owner_id.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711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1755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779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DE2503-2AC3-4280-83A0-A3099B657AD8}"/>
              </a:ext>
            </a:extLst>
          </p:cNvPr>
          <p:cNvSpPr txBox="1"/>
          <p:nvPr/>
        </p:nvSpPr>
        <p:spPr>
          <a:xfrm>
            <a:off x="1331650" y="134035"/>
            <a:ext cx="9472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US" sz="2400" b="1" i="0" dirty="0">
                <a:effectLst/>
                <a:latin typeface="Segoe UI" panose="020B0502040204020203" pitchFamily="34" charset="0"/>
              </a:rPr>
              <a:t>🧪 Code Deep Dive — Vulnerable → Secure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215DCC-91A7-427C-B2F1-DCB1B425F8F7}"/>
              </a:ext>
            </a:extLst>
          </p:cNvPr>
          <p:cNvSpPr txBox="1"/>
          <p:nvPr/>
        </p:nvSpPr>
        <p:spPr>
          <a:xfrm>
            <a:off x="756082" y="425376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Secure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CA002B-F26A-475E-93C3-F91D41CD7931}"/>
              </a:ext>
            </a:extLst>
          </p:cNvPr>
          <p:cNvSpPr txBox="1"/>
          <p:nvPr/>
        </p:nvSpPr>
        <p:spPr>
          <a:xfrm>
            <a:off x="525263" y="773022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fr-FR" b="1" i="0" dirty="0">
                <a:effectLst/>
                <a:latin typeface="Segoe UI" panose="020B0502040204020203" pitchFamily="34" charset="0"/>
              </a:rPr>
              <a:t>9) </a:t>
            </a:r>
            <a:r>
              <a:rPr lang="fr-FR" b="1" i="0" dirty="0" err="1">
                <a:effectLst/>
                <a:latin typeface="Segoe UI" panose="020B0502040204020203" pitchFamily="34" charset="0"/>
              </a:rPr>
              <a:t>GraphQL</a:t>
            </a:r>
            <a:r>
              <a:rPr lang="fr-FR" b="1" i="0" dirty="0">
                <a:effectLst/>
                <a:latin typeface="Segoe UI" panose="020B0502040204020203" pitchFamily="34" charset="0"/>
              </a:rPr>
              <a:t> – User </a:t>
            </a:r>
            <a:r>
              <a:rPr lang="fr-FR" b="1" i="0" dirty="0" err="1">
                <a:effectLst/>
                <a:latin typeface="Segoe UI" panose="020B0502040204020203" pitchFamily="34" charset="0"/>
              </a:rPr>
              <a:t>Query</a:t>
            </a:r>
            <a:endParaRPr lang="fr-FR" b="1" i="0" dirty="0">
              <a:effectLst/>
              <a:latin typeface="Segoe UI" panose="020B0502040204020203" pitchFamily="34" charset="0"/>
            </a:endParaRPr>
          </a:p>
          <a:p>
            <a:pPr fontAlgn="t"/>
            <a:r>
              <a:rPr lang="fr-FR" b="1" i="0" dirty="0" err="1">
                <a:effectLst/>
                <a:latin typeface="Segoe UI" panose="020B0502040204020203" pitchFamily="34" charset="0"/>
              </a:rPr>
              <a:t>Vulnerable</a:t>
            </a:r>
            <a:endParaRPr lang="fr-FR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0AB6610-3BA7-4855-98EE-3EEC09AFE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033" y="19086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 query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user(id: "42") { email, orders { id total } }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BA8412D-BAD7-40FD-9453-C44ADCBE6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5736" y="322219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// resolver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 resolvers =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Query: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user: (_, { id }, { db }) =&gt; db.User.findByPk(id) // no ownership check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};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9761C15-6C5A-4C14-8C6B-EC06854BF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954" y="4551601"/>
            <a:ext cx="668651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 resolvers =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Query: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user: async (_, { id }, {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user }) =&gt;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 if (!user) throw new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AuthError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 if (String(user.id) !== String(id)) throw new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ForbiddenError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 return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db.User.findByPk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(id);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}  }};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D15AAB7-75E7-4B78-9D50-FDDD68481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32474"/>
              </p:ext>
            </p:extLst>
          </p:nvPr>
        </p:nvGraphicFramePr>
        <p:xfrm>
          <a:off x="5273336" y="1759185"/>
          <a:ext cx="6479959" cy="1280160"/>
        </p:xfrm>
        <a:graphic>
          <a:graphicData uri="http://schemas.openxmlformats.org/drawingml/2006/table">
            <a:tbl>
              <a:tblPr/>
              <a:tblGrid>
                <a:gridCol w="6479959">
                  <a:extLst>
                    <a:ext uri="{9D8B030D-6E8A-4147-A177-3AD203B41FA5}">
                      <a16:colId xmlns:a16="http://schemas.microsoft.com/office/drawing/2014/main" val="3756129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Explanation</a:t>
                      </a:r>
                      <a:endParaRPr lang="en-US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Problem: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Client supplies arbitrary id.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Fix: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Ensure the requested user equals the </a:t>
                      </a: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authenticated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user.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675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1645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358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DE2503-2AC3-4280-83A0-A3099B657AD8}"/>
              </a:ext>
            </a:extLst>
          </p:cNvPr>
          <p:cNvSpPr txBox="1"/>
          <p:nvPr/>
        </p:nvSpPr>
        <p:spPr>
          <a:xfrm>
            <a:off x="1331650" y="134035"/>
            <a:ext cx="9472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US" sz="2400" b="1" i="0" dirty="0">
                <a:effectLst/>
                <a:latin typeface="Segoe UI" panose="020B0502040204020203" pitchFamily="34" charset="0"/>
              </a:rPr>
              <a:t>🧪 Code Deep Dive — Vulnerable → Secure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7092B-61F7-49A2-88D8-648448A9A307}"/>
              </a:ext>
            </a:extLst>
          </p:cNvPr>
          <p:cNvSpPr txBox="1"/>
          <p:nvPr/>
        </p:nvSpPr>
        <p:spPr>
          <a:xfrm>
            <a:off x="525263" y="429143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Secure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227F8B-61C9-44E2-9592-1E7E9DC826F7}"/>
              </a:ext>
            </a:extLst>
          </p:cNvPr>
          <p:cNvSpPr txBox="1"/>
          <p:nvPr/>
        </p:nvSpPr>
        <p:spPr>
          <a:xfrm>
            <a:off x="525263" y="728839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10) REST – POST Body Tampering</a:t>
            </a:r>
          </a:p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Vulnerable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0C839F8-9D00-414A-828B-1D25401DF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523" y="1557109"/>
            <a:ext cx="49584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 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/v1/profile/update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Content-Type: application/json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{"userId":"105","email":"victim@example.com"}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1E6772B-99A0-440C-9715-1124942CB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098" y="35244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// server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app.post('/profile/update', async (req, res) =&gt;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await db.users.update({ email: req.body.email }, { where: { id: req.body.userId } });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res.sendStatus(200);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});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5D95340-DCB1-4C37-98A4-4A24E88A7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523" y="558405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app.post('/profile/update', auth, async (req, res) =&gt;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await db.users.update(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{ email: req.body.email },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{ where: { id: req.user.id } }   // ignore userId from client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res.sendStatus(200);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});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F66AA83-5A2C-45F7-A124-8E304BD3A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380829"/>
              </p:ext>
            </p:extLst>
          </p:nvPr>
        </p:nvGraphicFramePr>
        <p:xfrm>
          <a:off x="6067887" y="1273945"/>
          <a:ext cx="5760868" cy="1828800"/>
        </p:xfrm>
        <a:graphic>
          <a:graphicData uri="http://schemas.openxmlformats.org/drawingml/2006/table">
            <a:tbl>
              <a:tblPr/>
              <a:tblGrid>
                <a:gridCol w="5760868">
                  <a:extLst>
                    <a:ext uri="{9D8B030D-6E8A-4147-A177-3AD203B41FA5}">
                      <a16:colId xmlns:a16="http://schemas.microsoft.com/office/drawing/2014/main" val="17268527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Explanation</a:t>
                      </a:r>
                      <a:endParaRPr lang="en-US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Problem: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Client controls userId in the body → privilege escalation.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Fix: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Always derive the target identity from </a:t>
                      </a: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server-side auth context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442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1828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4737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DE2503-2AC3-4280-83A0-A3099B657AD8}"/>
              </a:ext>
            </a:extLst>
          </p:cNvPr>
          <p:cNvSpPr txBox="1"/>
          <p:nvPr/>
        </p:nvSpPr>
        <p:spPr>
          <a:xfrm>
            <a:off x="1331650" y="134035"/>
            <a:ext cx="9472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US" sz="2400" b="1" i="0" dirty="0">
                <a:effectLst/>
                <a:latin typeface="Segoe UI" panose="020B0502040204020203" pitchFamily="34" charset="0"/>
              </a:rPr>
              <a:t>🧪 Code Deep Dive — Vulnerable → Secure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7092B-61F7-49A2-88D8-648448A9A307}"/>
              </a:ext>
            </a:extLst>
          </p:cNvPr>
          <p:cNvSpPr txBox="1"/>
          <p:nvPr/>
        </p:nvSpPr>
        <p:spPr>
          <a:xfrm>
            <a:off x="525263" y="301089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Secure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B9C54-749E-47DD-8EBA-2322043FCB72}"/>
              </a:ext>
            </a:extLst>
          </p:cNvPr>
          <p:cNvSpPr txBox="1"/>
          <p:nvPr/>
        </p:nvSpPr>
        <p:spPr>
          <a:xfrm>
            <a:off x="525263" y="773022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11) File Names / Keys – Static Paths</a:t>
            </a:r>
          </a:p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Vulnerable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E2DDA01-E821-4494-A4E0-973A41AA3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421" y="206849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@app.get("/report/&lt;name&gt;")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 report(name):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# e.g., /report/statement_1002.pdf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return send_file(f"/srv/reports/{name}"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ADC1093-2752-461B-81D5-25FD0DA01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81" y="420801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@app.get("/report/&lt;name&gt;")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@login_required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 report(name):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rpt = Report.query.filter_by(filename=name, owner_id=current_user.id).first()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if not rpt: abort(403)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return send_file(rpt.path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BA503B7-9E7C-4312-83FC-6F9C1BC7D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077221"/>
              </p:ext>
            </p:extLst>
          </p:nvPr>
        </p:nvGraphicFramePr>
        <p:xfrm>
          <a:off x="5566299" y="2278710"/>
          <a:ext cx="6249880" cy="1280160"/>
        </p:xfrm>
        <a:graphic>
          <a:graphicData uri="http://schemas.openxmlformats.org/drawingml/2006/table">
            <a:tbl>
              <a:tblPr/>
              <a:tblGrid>
                <a:gridCol w="6249880">
                  <a:extLst>
                    <a:ext uri="{9D8B030D-6E8A-4147-A177-3AD203B41FA5}">
                      <a16:colId xmlns:a16="http://schemas.microsoft.com/office/drawing/2014/main" val="32411809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Explanation</a:t>
                      </a:r>
                      <a:endParaRPr lang="en-US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Problem: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Predictable filename exposes others’ reports.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Fix: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Bind filename to owner in DB, verify before serving.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809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37888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765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DE2503-2AC3-4280-83A0-A3099B657AD8}"/>
              </a:ext>
            </a:extLst>
          </p:cNvPr>
          <p:cNvSpPr txBox="1"/>
          <p:nvPr/>
        </p:nvSpPr>
        <p:spPr>
          <a:xfrm>
            <a:off x="1331650" y="134035"/>
            <a:ext cx="9472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US" sz="2400" b="1" i="0" dirty="0">
                <a:effectLst/>
                <a:latin typeface="Segoe UI" panose="020B0502040204020203" pitchFamily="34" charset="0"/>
              </a:rPr>
              <a:t>🧪 Code Deep Dive — Vulnerable → Secure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7092B-61F7-49A2-88D8-648448A9A307}"/>
              </a:ext>
            </a:extLst>
          </p:cNvPr>
          <p:cNvSpPr txBox="1"/>
          <p:nvPr/>
        </p:nvSpPr>
        <p:spPr>
          <a:xfrm>
            <a:off x="525263" y="3816997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Secure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C2AB1-52B5-4B5A-8AEC-D0AA62749933}"/>
              </a:ext>
            </a:extLst>
          </p:cNvPr>
          <p:cNvSpPr txBox="1"/>
          <p:nvPr/>
        </p:nvSpPr>
        <p:spPr>
          <a:xfrm>
            <a:off x="525263" y="833801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12) Mobile API – Hidden/Obfuscated Fields</a:t>
            </a:r>
          </a:p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Vulnerable (Server)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128FBE7-6B8E-4CDA-9B2B-EF6802966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725" y="20862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app.post('/wallet/balance', (req, res) =&gt;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const userId = req.body.userId; // sent by mobile app (even if obfuscated)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db.wallet.findOne({ where: { userId } }).then(r =&gt; res.json(r));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});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F4FCC66-4131-41C6-8A81-94ECB1152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725" y="504251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app.post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('/wallet/balance', auth, (req, res) =&gt;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db.wallet.findOne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({ where: {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req.user.id } })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.then(r =&gt; r ?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res.json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(r) 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res.sendStatus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(403));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});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A35F435-A95E-4BDE-8763-E6578F756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302336"/>
              </p:ext>
            </p:extLst>
          </p:nvPr>
        </p:nvGraphicFramePr>
        <p:xfrm>
          <a:off x="3497802" y="2569241"/>
          <a:ext cx="8168935" cy="1554480"/>
        </p:xfrm>
        <a:graphic>
          <a:graphicData uri="http://schemas.openxmlformats.org/drawingml/2006/table">
            <a:tbl>
              <a:tblPr/>
              <a:tblGrid>
                <a:gridCol w="8168935">
                  <a:extLst>
                    <a:ext uri="{9D8B030D-6E8A-4147-A177-3AD203B41FA5}">
                      <a16:colId xmlns:a16="http://schemas.microsoft.com/office/drawing/2014/main" val="34870874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Explanation</a:t>
                      </a: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Problem: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Client-controlled </a:t>
                      </a:r>
                      <a:r>
                        <a:rPr lang="en-US" b="0" i="0" dirty="0" err="1">
                          <a:effectLst/>
                          <a:latin typeface="Segoe UI" panose="020B0502040204020203" pitchFamily="34" charset="0"/>
                        </a:rPr>
                        <a:t>userId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even if the app hides it—</a:t>
                      </a:r>
                      <a:r>
                        <a:rPr lang="en-US" b="0" i="1" dirty="0">
                          <a:effectLst/>
                          <a:latin typeface="Segoe UI" panose="020B0502040204020203" pitchFamily="34" charset="0"/>
                        </a:rPr>
                        <a:t>attackers can still tamper via a proxy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Fix: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Ignore user-supplied IDs; use authenticated req.user.id.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974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33855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81771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DE2503-2AC3-4280-83A0-A3099B657AD8}"/>
              </a:ext>
            </a:extLst>
          </p:cNvPr>
          <p:cNvSpPr txBox="1"/>
          <p:nvPr/>
        </p:nvSpPr>
        <p:spPr>
          <a:xfrm>
            <a:off x="1331650" y="134035"/>
            <a:ext cx="9472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US" sz="2400" b="1" i="0" dirty="0">
                <a:effectLst/>
                <a:latin typeface="Segoe UI" panose="020B0502040204020203" pitchFamily="34" charset="0"/>
              </a:rPr>
              <a:t>🧪 Code Deep Dive — Vulnerable → Secure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7092B-61F7-49A2-88D8-648448A9A307}"/>
              </a:ext>
            </a:extLst>
          </p:cNvPr>
          <p:cNvSpPr txBox="1"/>
          <p:nvPr/>
        </p:nvSpPr>
        <p:spPr>
          <a:xfrm>
            <a:off x="525263" y="301089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Secure Flow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CC3EB4-C616-443E-AC60-F58B211FB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10" y="1441234"/>
            <a:ext cx="11816179" cy="44253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A4EEB3-4968-465A-8819-A2504A556D06}"/>
              </a:ext>
            </a:extLst>
          </p:cNvPr>
          <p:cNvSpPr txBox="1"/>
          <p:nvPr/>
        </p:nvSpPr>
        <p:spPr>
          <a:xfrm>
            <a:off x="525263" y="833801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Vulnerable Flow 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3287B6-29AF-4B0F-8927-2A9CEE5E8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10" y="4108671"/>
            <a:ext cx="11743678" cy="48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587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DE2503-2AC3-4280-83A0-A3099B657AD8}"/>
              </a:ext>
            </a:extLst>
          </p:cNvPr>
          <p:cNvSpPr txBox="1"/>
          <p:nvPr/>
        </p:nvSpPr>
        <p:spPr>
          <a:xfrm>
            <a:off x="1331650" y="134035"/>
            <a:ext cx="9472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US" sz="2400" b="1" i="0" dirty="0">
                <a:effectLst/>
                <a:latin typeface="Segoe UI" panose="020B0502040204020203" pitchFamily="34" charset="0"/>
              </a:rPr>
              <a:t>🧪 Code Deep Dive — Vulnerable → Secure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7092B-61F7-49A2-88D8-648448A9A307}"/>
              </a:ext>
            </a:extLst>
          </p:cNvPr>
          <p:cNvSpPr txBox="1"/>
          <p:nvPr/>
        </p:nvSpPr>
        <p:spPr>
          <a:xfrm>
            <a:off x="525263" y="301089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b="1" i="0" dirty="0">
                <a:effectLst/>
                <a:latin typeface="Segoe UI" panose="020B0502040204020203" pitchFamily="34" charset="0"/>
              </a:rPr>
              <a:t>Secure</a:t>
            </a: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374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2598</Words>
  <Application>Microsoft Office PowerPoint</Application>
  <PresentationFormat>Widescreen</PresentationFormat>
  <Paragraphs>303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Segoe UI</vt:lpstr>
      <vt:lpstr>Office Theme</vt:lpstr>
      <vt:lpstr>IDOR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Ahmad Nawaz Lecturer FCSE</dc:creator>
  <cp:lastModifiedBy>Muhammad Ahmad Nawaz Lecturer FCSE</cp:lastModifiedBy>
  <cp:revision>19</cp:revision>
  <dcterms:created xsi:type="dcterms:W3CDTF">2026-03-09T07:29:24Z</dcterms:created>
  <dcterms:modified xsi:type="dcterms:W3CDTF">2026-03-10T19:33:42Z</dcterms:modified>
</cp:coreProperties>
</file>