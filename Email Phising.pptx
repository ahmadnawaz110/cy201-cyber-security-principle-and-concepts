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70" d="100"/>
          <a:sy n="170" d="100"/>
        </p:scale>
        <p:origin x="-336" y="-47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6FAC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FAC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FAC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FAC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90317" y="423164"/>
            <a:ext cx="3191764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6FAC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letsdefend.io" TargetMode="External"/><Relationship Id="rId2" Type="http://schemas.openxmlformats.org/officeDocument/2006/relationships/hyperlink" Target="mailto:ogunal@letsdefend.io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ogunal@letsdefend.io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header.i%3D@mailchimpapp.net" TargetMode="External"/><Relationship Id="rId2" Type="http://schemas.openxmlformats.org/officeDocument/2006/relationships/hyperlink" Target="mailto:ogunal@letsdefend.io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mailto:smtp.mailfrom%3Dbounce-mc.us14_171215441.8996217-675c34a61f@mail41.suw13.rsgsv.net" TargetMode="External"/><Relationship Id="rId4" Type="http://schemas.openxmlformats.org/officeDocument/2006/relationships/hyperlink" Target="mailto:bounce-mc.us14_171215441.8996217-675c34a61f@mail41.suw13.rsgsv.net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ogunal@letsdefend.io" TargetMode="External"/><Relationship Id="rId2" Type="http://schemas.openxmlformats.org/officeDocument/2006/relationships/hyperlink" Target="mailto:info@letsdefend.io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hyperlink" Target="mailto:74bda5edf824cea8aad36e707.675c34a61f.20220321204512.a02caaccf3.a268ce5a@mail41.suw13.rsgsv.net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mperva.com/blog/our-analysis-of-1019-phishing-kits/" TargetMode="External"/><Relationship Id="rId2" Type="http://schemas.openxmlformats.org/officeDocument/2006/relationships/hyperlink" Target="http://www.linkedin.com/pulse/phishing-email-simple-analysis-asif-ali/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0104" y="5106923"/>
            <a:ext cx="5894070" cy="2482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76960">
              <a:lnSpc>
                <a:spcPct val="112000"/>
              </a:lnSpc>
              <a:spcBef>
                <a:spcPts val="95"/>
              </a:spcBef>
              <a:tabLst>
                <a:tab pos="2578100" algn="l"/>
              </a:tabLst>
            </a:pPr>
            <a:r>
              <a:rPr sz="72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Phishing- Email</a:t>
            </a:r>
            <a:r>
              <a:rPr sz="7200" b="1" dirty="0">
                <a:solidFill>
                  <a:srgbClr val="00AF50"/>
                </a:solidFill>
                <a:latin typeface="Times New Roman"/>
                <a:cs typeface="Times New Roman"/>
              </a:rPr>
              <a:t>	</a:t>
            </a:r>
            <a:r>
              <a:rPr sz="72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Analysis</a:t>
            </a:r>
            <a:endParaRPr sz="7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79" y="457200"/>
            <a:ext cx="7409688" cy="34488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3223" y="427735"/>
            <a:ext cx="2425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FAC46"/>
                </a:solidFill>
                <a:latin typeface="Times New Roman"/>
                <a:cs typeface="Times New Roman"/>
              </a:rPr>
              <a:t>Introduction</a:t>
            </a:r>
            <a:r>
              <a:rPr sz="1800" b="1" spc="-40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AC46"/>
                </a:solidFill>
                <a:latin typeface="Times New Roman"/>
                <a:cs typeface="Times New Roman"/>
              </a:rPr>
              <a:t>to</a:t>
            </a:r>
            <a:r>
              <a:rPr sz="1800" b="1" spc="-30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6FAC46"/>
                </a:solidFill>
                <a:latin typeface="Times New Roman"/>
                <a:cs typeface="Times New Roman"/>
              </a:rPr>
              <a:t>Phishing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8779" y="1239368"/>
            <a:ext cx="7204709" cy="147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715" indent="-228600" algn="just">
              <a:lnSpc>
                <a:spcPct val="144500"/>
              </a:lnSpc>
              <a:spcBef>
                <a:spcPts val="100"/>
              </a:spcBef>
              <a:buFont typeface="Wingdings"/>
              <a:buChar char=""/>
              <a:tabLst>
                <a:tab pos="241300" algn="l"/>
              </a:tabLst>
            </a:pP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Phishing</a:t>
            </a:r>
            <a:r>
              <a:rPr sz="1100" b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attack</a:t>
            </a:r>
            <a:r>
              <a:rPr sz="11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type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attack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aimed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stealing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personal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data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user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general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by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clicking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malicious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links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users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via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or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running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malicious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files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their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computer.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30"/>
              </a:spcBef>
              <a:buClr>
                <a:srgbClr val="001F5F"/>
              </a:buClr>
              <a:buFont typeface="Wingdings"/>
              <a:buChar char=""/>
            </a:pPr>
            <a:endParaRPr sz="1100">
              <a:latin typeface="Arial MT"/>
              <a:cs typeface="Arial MT"/>
            </a:endParaRPr>
          </a:p>
          <a:p>
            <a:pPr marL="241300" marR="5080" indent="-228600" algn="just">
              <a:lnSpc>
                <a:spcPct val="143600"/>
              </a:lnSpc>
              <a:buFont typeface="Wingdings"/>
              <a:buChar char=""/>
              <a:tabLst>
                <a:tab pos="241300" algn="l"/>
              </a:tabLst>
            </a:pP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Phishing</a:t>
            </a:r>
            <a:r>
              <a:rPr sz="1100" b="1" spc="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attacks</a:t>
            </a:r>
            <a:r>
              <a:rPr sz="1100" b="1" spc="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correspond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"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Delivery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"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phase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Cyber</a:t>
            </a:r>
            <a:r>
              <a:rPr sz="1100" b="1" spc="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Kill</a:t>
            </a:r>
            <a:r>
              <a:rPr sz="1100" b="1" spc="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Chain</a:t>
            </a:r>
            <a:r>
              <a:rPr sz="1100" b="1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model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created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analyze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cyber-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attacks.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delivery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stage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step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where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attacker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transmits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previously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prepared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harmful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content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the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victim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systems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/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people.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179" y="8077048"/>
            <a:ext cx="7437120" cy="1089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795">
              <a:lnSpc>
                <a:spcPct val="143600"/>
              </a:lnSpc>
              <a:spcBef>
                <a:spcPts val="100"/>
              </a:spcBef>
            </a:pP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The</a:t>
            </a:r>
            <a:r>
              <a:rPr sz="1100" b="1" spc="10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Phishing</a:t>
            </a:r>
            <a:r>
              <a:rPr sz="1100" b="1" spc="1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attack</a:t>
            </a:r>
            <a:r>
              <a:rPr sz="1100" b="1" spc="10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is</a:t>
            </a:r>
            <a:r>
              <a:rPr sz="1100" b="1" spc="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the</a:t>
            </a:r>
            <a:r>
              <a:rPr sz="1100" b="1" spc="10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most</a:t>
            </a:r>
            <a:r>
              <a:rPr sz="1100" b="1" spc="1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common attack</a:t>
            </a:r>
            <a:r>
              <a:rPr sz="1100" b="1" spc="1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vector</a:t>
            </a:r>
            <a:r>
              <a:rPr sz="1100" b="1" spc="20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for</a:t>
            </a:r>
            <a:r>
              <a:rPr sz="1100" b="1" spc="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initial</a:t>
            </a:r>
            <a:r>
              <a:rPr sz="1100" b="1" spc="10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access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.</a:t>
            </a:r>
            <a:r>
              <a:rPr sz="1100" b="1" spc="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course,</a:t>
            </a:r>
            <a:r>
              <a:rPr sz="1100" spc="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only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purpose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attack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not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steal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user's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password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information.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42700"/>
              </a:lnSpc>
              <a:spcBef>
                <a:spcPts val="815"/>
              </a:spcBef>
            </a:pP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1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purpose</a:t>
            </a:r>
            <a:r>
              <a:rPr sz="1100" b="1" spc="-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of</a:t>
            </a:r>
            <a:r>
              <a:rPr sz="1100" b="1" spc="-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such</a:t>
            </a:r>
            <a:r>
              <a:rPr sz="1100" b="1" spc="-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attacks</a:t>
            </a:r>
            <a:r>
              <a:rPr sz="11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is</a:t>
            </a:r>
            <a:r>
              <a:rPr sz="1100" b="1" spc="-4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to</a:t>
            </a:r>
            <a:r>
              <a:rPr sz="1100" b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exploit</a:t>
            </a:r>
            <a:r>
              <a:rPr sz="1100" b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1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human</a:t>
            </a:r>
            <a:r>
              <a:rPr sz="1100" b="1" spc="-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factor,</a:t>
            </a:r>
            <a:r>
              <a:rPr sz="1100" b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100" b="1" spc="-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weakest</a:t>
            </a:r>
            <a:r>
              <a:rPr sz="1100" b="1" spc="-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link</a:t>
            </a:r>
            <a:r>
              <a:rPr sz="1100" b="1" spc="-4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in</a:t>
            </a:r>
            <a:r>
              <a:rPr sz="1100" b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1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chain.</a:t>
            </a:r>
            <a:r>
              <a:rPr sz="1100" b="1" spc="-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Attackers</a:t>
            </a:r>
            <a:r>
              <a:rPr sz="11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use</a:t>
            </a:r>
            <a:r>
              <a:rPr sz="1100" b="1" spc="-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phishing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attacks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as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first step</a:t>
            </a:r>
            <a:r>
              <a:rPr sz="1100" b="1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to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infiltrate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systems.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407" y="2949356"/>
            <a:ext cx="6877828" cy="46755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79" y="432308"/>
            <a:ext cx="7433309" cy="1396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What is phishing email</a:t>
            </a:r>
            <a:r>
              <a:rPr sz="1100" b="1" spc="10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6FAC46"/>
                </a:solidFill>
                <a:latin typeface="Arial"/>
                <a:cs typeface="Arial"/>
              </a:rPr>
              <a:t>analysis?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 MT"/>
                <a:cs typeface="Arial MT"/>
              </a:rPr>
              <a:t>Phishing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email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analysis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involves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studying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content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phishing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emails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ascertain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techniques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attacker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used.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What</a:t>
            </a:r>
            <a:r>
              <a:rPr sz="1100" b="1" spc="-20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is</a:t>
            </a:r>
            <a:r>
              <a:rPr sz="1100" b="1" spc="-2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a</a:t>
            </a:r>
            <a:r>
              <a:rPr sz="1100" b="1" spc="-1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common</a:t>
            </a:r>
            <a:r>
              <a:rPr sz="1100" b="1" spc="-30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indicator</a:t>
            </a:r>
            <a:r>
              <a:rPr sz="1100" b="1" spc="-10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of</a:t>
            </a:r>
            <a:r>
              <a:rPr sz="1100" b="1" spc="-10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a</a:t>
            </a:r>
            <a:r>
              <a:rPr sz="1100" b="1" spc="-2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phishing</a:t>
            </a:r>
            <a:r>
              <a:rPr sz="1100" b="1" spc="-30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6FAC46"/>
                </a:solidFill>
                <a:latin typeface="Arial"/>
                <a:cs typeface="Arial"/>
              </a:rPr>
              <a:t>email?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99"/>
              </a:lnSpc>
            </a:pPr>
            <a:r>
              <a:rPr sz="1100" dirty="0">
                <a:latin typeface="Arial MT"/>
                <a:cs typeface="Arial MT"/>
              </a:rPr>
              <a:t>Common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indicators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phishing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email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include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suspicious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addresses,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links,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domain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names,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threatening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language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a </a:t>
            </a:r>
            <a:r>
              <a:rPr sz="1100" spc="-10" dirty="0">
                <a:latin typeface="Arial MT"/>
                <a:cs typeface="Arial MT"/>
              </a:rPr>
              <a:t>sense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urgency,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errors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in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email,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inclusion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suspicious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attachments,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and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emails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requesting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sensitive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information.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695" y="2381884"/>
            <a:ext cx="7464156" cy="280426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888" y="5481962"/>
            <a:ext cx="7449067" cy="33449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64663" y="426211"/>
            <a:ext cx="2236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FAC46"/>
                </a:solidFill>
                <a:latin typeface="Arial"/>
                <a:cs typeface="Arial"/>
              </a:rPr>
              <a:t>Phishing</a:t>
            </a:r>
            <a:r>
              <a:rPr sz="1800" b="1" spc="-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AC46"/>
                </a:solidFill>
                <a:latin typeface="Arial"/>
                <a:cs typeface="Arial"/>
              </a:rPr>
              <a:t>attack</a:t>
            </a:r>
            <a:r>
              <a:rPr sz="1800" b="1" spc="-1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6FAC46"/>
                </a:solidFill>
                <a:latin typeface="Arial"/>
                <a:cs typeface="Arial"/>
              </a:rPr>
              <a:t>flow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98294" y="4485259"/>
            <a:ext cx="3574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FAC46"/>
                </a:solidFill>
                <a:latin typeface="Times New Roman"/>
                <a:cs typeface="Times New Roman"/>
              </a:rPr>
              <a:t>EXAMPLE</a:t>
            </a:r>
            <a:r>
              <a:rPr sz="1800" b="1" spc="-45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AC46"/>
                </a:solidFill>
                <a:latin typeface="Times New Roman"/>
                <a:cs typeface="Times New Roman"/>
              </a:rPr>
              <a:t>OF</a:t>
            </a:r>
            <a:r>
              <a:rPr sz="1800" b="1" spc="-35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AC46"/>
                </a:solidFill>
                <a:latin typeface="Times New Roman"/>
                <a:cs typeface="Times New Roman"/>
              </a:rPr>
              <a:t>PHISHING</a:t>
            </a:r>
            <a:r>
              <a:rPr sz="1800" b="1" spc="-30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6FAC46"/>
                </a:solidFill>
                <a:latin typeface="Times New Roman"/>
                <a:cs typeface="Times New Roman"/>
              </a:rPr>
              <a:t>EMAIL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784" y="984450"/>
            <a:ext cx="7150490" cy="317741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79" y="4954523"/>
            <a:ext cx="7393844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Information</a:t>
            </a:r>
            <a:r>
              <a:rPr sz="2400" spc="-90" dirty="0"/>
              <a:t> </a:t>
            </a:r>
            <a:r>
              <a:rPr sz="2400" spc="-10" dirty="0"/>
              <a:t>Gathering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70179" y="1407922"/>
            <a:ext cx="7430770" cy="2780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1F5F"/>
                </a:solidFill>
                <a:latin typeface="Arial"/>
                <a:cs typeface="Arial"/>
              </a:rPr>
              <a:t>Spoofing</a:t>
            </a:r>
            <a:endParaRPr sz="1600">
              <a:latin typeface="Arial"/>
              <a:cs typeface="Arial"/>
            </a:endParaRPr>
          </a:p>
          <a:p>
            <a:pPr marL="12700" marR="12065" algn="just">
              <a:lnSpc>
                <a:spcPct val="143200"/>
              </a:lnSpc>
              <a:spcBef>
                <a:spcPts val="1130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Attackers</a:t>
            </a:r>
            <a:r>
              <a:rPr sz="1100" spc="2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2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send</a:t>
            </a:r>
            <a:r>
              <a:rPr sz="1100" spc="2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emails</a:t>
            </a:r>
            <a:r>
              <a:rPr sz="1100" spc="2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100" spc="2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behalf</a:t>
            </a:r>
            <a:r>
              <a:rPr sz="1100" spc="2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2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someone</a:t>
            </a:r>
            <a:r>
              <a:rPr sz="1100" spc="2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else,</a:t>
            </a:r>
            <a:r>
              <a:rPr sz="1100" spc="2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as</a:t>
            </a:r>
            <a:r>
              <a:rPr sz="1100" spc="2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2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emails</a:t>
            </a:r>
            <a:r>
              <a:rPr sz="1100" spc="20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do</a:t>
            </a:r>
            <a:r>
              <a:rPr sz="1100" spc="2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not</a:t>
            </a:r>
            <a:r>
              <a:rPr sz="1100" spc="2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necessarily</a:t>
            </a:r>
            <a:r>
              <a:rPr sz="1100" spc="20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have</a:t>
            </a:r>
            <a:r>
              <a:rPr sz="1100" spc="2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</a:t>
            </a:r>
            <a:r>
              <a:rPr sz="1100" spc="2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authentication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mechanism.</a:t>
            </a:r>
            <a:r>
              <a:rPr sz="1100" spc="1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Attackers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1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send</a:t>
            </a:r>
            <a:r>
              <a:rPr sz="1100" spc="1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100" spc="1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behalf</a:t>
            </a:r>
            <a:r>
              <a:rPr sz="1100" spc="1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2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someone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else</a:t>
            </a:r>
            <a:r>
              <a:rPr sz="1100" spc="1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using</a:t>
            </a:r>
            <a:r>
              <a:rPr sz="1100" spc="1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technique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called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spoofing</a:t>
            </a:r>
            <a:r>
              <a:rPr sz="1100" spc="1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make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the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user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believe</a:t>
            </a:r>
            <a:r>
              <a:rPr sz="1100" spc="1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incoming</a:t>
            </a:r>
            <a:r>
              <a:rPr sz="1100" spc="1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reliable.</a:t>
            </a:r>
            <a:endParaRPr sz="1100">
              <a:latin typeface="Arial MT"/>
              <a:cs typeface="Arial MT"/>
            </a:endParaRPr>
          </a:p>
          <a:p>
            <a:pPr marL="12700" marR="5080" algn="just">
              <a:lnSpc>
                <a:spcPct val="143700"/>
              </a:lnSpc>
              <a:spcBef>
                <a:spcPts val="800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Several</a:t>
            </a:r>
            <a:r>
              <a:rPr sz="1100" spc="2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protocols</a:t>
            </a:r>
            <a:r>
              <a:rPr sz="1100" spc="2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have</a:t>
            </a:r>
            <a:r>
              <a:rPr sz="1100" spc="2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been</a:t>
            </a:r>
            <a:r>
              <a:rPr sz="1100" spc="2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created</a:t>
            </a:r>
            <a:r>
              <a:rPr sz="1100" spc="2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2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prevent</a:t>
            </a:r>
            <a:r>
              <a:rPr sz="1100" spc="20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2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2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Spoofing</a:t>
            </a:r>
            <a:r>
              <a:rPr sz="1100" spc="2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technique.</a:t>
            </a:r>
            <a:r>
              <a:rPr sz="1100" spc="1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With</a:t>
            </a:r>
            <a:r>
              <a:rPr sz="1100" spc="2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2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help</a:t>
            </a:r>
            <a:r>
              <a:rPr sz="1100" spc="2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3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SPF,</a:t>
            </a:r>
            <a:r>
              <a:rPr sz="1100" b="1" spc="2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DKIM</a:t>
            </a:r>
            <a:r>
              <a:rPr sz="1100" b="1" spc="2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001F5F"/>
                </a:solidFill>
                <a:latin typeface="Arial"/>
                <a:cs typeface="Arial"/>
              </a:rPr>
              <a:t>and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DMARC</a:t>
            </a:r>
            <a:r>
              <a:rPr sz="1100" b="1" spc="20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protocols,</a:t>
            </a:r>
            <a:r>
              <a:rPr sz="1100" spc="1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1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1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1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understood</a:t>
            </a:r>
            <a:r>
              <a:rPr sz="1100" spc="2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whether</a:t>
            </a:r>
            <a:r>
              <a:rPr sz="1100" spc="1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sender's</a:t>
            </a:r>
            <a:r>
              <a:rPr sz="1100" spc="20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</a:t>
            </a:r>
            <a:r>
              <a:rPr sz="1100" spc="1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1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fake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or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real.</a:t>
            </a:r>
            <a:r>
              <a:rPr sz="1100" spc="1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Some</a:t>
            </a:r>
            <a:r>
              <a:rPr sz="1100" spc="1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2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applications</a:t>
            </a:r>
            <a:r>
              <a:rPr sz="1100" spc="2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do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these</a:t>
            </a:r>
            <a:r>
              <a:rPr sz="1100" spc="1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checks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automatically.</a:t>
            </a:r>
            <a:r>
              <a:rPr sz="1100" spc="20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However,</a:t>
            </a:r>
            <a:r>
              <a:rPr sz="1100" spc="1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use</a:t>
            </a:r>
            <a:r>
              <a:rPr sz="1100" spc="1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20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these</a:t>
            </a:r>
            <a:r>
              <a:rPr sz="1100" spc="1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protocols</a:t>
            </a:r>
            <a:r>
              <a:rPr sz="1100" spc="2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not</a:t>
            </a:r>
            <a:r>
              <a:rPr sz="1100" spc="1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mandatory</a:t>
            </a:r>
            <a:r>
              <a:rPr sz="1100" spc="1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1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1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some</a:t>
            </a:r>
            <a:r>
              <a:rPr sz="1100" spc="1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cases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cause problems.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265" algn="l"/>
              </a:tabLst>
            </a:pPr>
            <a:r>
              <a:rPr sz="1100" b="1" dirty="0">
                <a:solidFill>
                  <a:srgbClr val="00AF50"/>
                </a:solidFill>
                <a:latin typeface="Arial"/>
                <a:cs typeface="Arial"/>
              </a:rPr>
              <a:t>Sender</a:t>
            </a:r>
            <a:r>
              <a:rPr sz="1100" b="1" spc="254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AF50"/>
                </a:solidFill>
                <a:latin typeface="Arial"/>
                <a:cs typeface="Arial"/>
              </a:rPr>
              <a:t>Policy</a:t>
            </a:r>
            <a:r>
              <a:rPr sz="1100" b="1" spc="21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AF50"/>
                </a:solidFill>
                <a:latin typeface="Arial"/>
                <a:cs typeface="Arial"/>
              </a:rPr>
              <a:t>Framework</a:t>
            </a:r>
            <a:r>
              <a:rPr sz="1100" b="1" spc="2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00AF50"/>
                </a:solidFill>
                <a:latin typeface="Arial"/>
                <a:cs typeface="Arial"/>
              </a:rPr>
              <a:t>(SPF)</a:t>
            </a: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560"/>
              </a:spcBef>
              <a:buFont typeface="Wingdings"/>
              <a:buChar char=""/>
              <a:tabLst>
                <a:tab pos="469265" algn="l"/>
              </a:tabLst>
            </a:pPr>
            <a:r>
              <a:rPr sz="1100" b="1" dirty="0">
                <a:solidFill>
                  <a:srgbClr val="00AF50"/>
                </a:solidFill>
                <a:latin typeface="Arial"/>
                <a:cs typeface="Arial"/>
              </a:rPr>
              <a:t>DomainKeys</a:t>
            </a:r>
            <a:r>
              <a:rPr sz="1100" b="1" spc="2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AF50"/>
                </a:solidFill>
                <a:latin typeface="Arial"/>
                <a:cs typeface="Arial"/>
              </a:rPr>
              <a:t>Identified</a:t>
            </a:r>
            <a:r>
              <a:rPr sz="1100" b="1" spc="2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AF50"/>
                </a:solidFill>
                <a:latin typeface="Arial"/>
                <a:cs typeface="Arial"/>
              </a:rPr>
              <a:t>Mail</a:t>
            </a:r>
            <a:r>
              <a:rPr sz="1100" b="1" spc="254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AF50"/>
                </a:solidFill>
                <a:latin typeface="Arial"/>
                <a:cs typeface="Arial"/>
              </a:rPr>
              <a:t>(DKIM)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179" y="4609312"/>
            <a:ext cx="7431405" cy="7480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43700"/>
              </a:lnSpc>
              <a:spcBef>
                <a:spcPts val="95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2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find</a:t>
            </a:r>
            <a:r>
              <a:rPr sz="1100" spc="2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out</a:t>
            </a:r>
            <a:r>
              <a:rPr sz="1100" spc="229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manually</a:t>
            </a:r>
            <a:r>
              <a:rPr sz="1100" spc="229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whether</a:t>
            </a:r>
            <a:r>
              <a:rPr sz="1100" spc="2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2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2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2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spoof</a:t>
            </a:r>
            <a:r>
              <a:rPr sz="1100" spc="2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or</a:t>
            </a:r>
            <a:r>
              <a:rPr sz="1100" spc="229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not,</a:t>
            </a:r>
            <a:r>
              <a:rPr sz="1100" spc="2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SMTP</a:t>
            </a:r>
            <a:r>
              <a:rPr sz="1100" spc="2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</a:t>
            </a:r>
            <a:r>
              <a:rPr sz="1100" spc="2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2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2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2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should</a:t>
            </a:r>
            <a:r>
              <a:rPr sz="1100" spc="2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2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learned</a:t>
            </a:r>
            <a:r>
              <a:rPr sz="1100" spc="2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first.</a:t>
            </a:r>
            <a:r>
              <a:rPr sz="1100" spc="3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b="1" spc="-20" dirty="0">
                <a:solidFill>
                  <a:srgbClr val="001F5F"/>
                </a:solidFill>
                <a:latin typeface="Arial"/>
                <a:cs typeface="Arial"/>
              </a:rPr>
              <a:t>SPF,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DKIM,</a:t>
            </a:r>
            <a:r>
              <a:rPr sz="1100" b="1" spc="16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DMARC</a:t>
            </a:r>
            <a:r>
              <a:rPr sz="1100" b="1" spc="16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and</a:t>
            </a:r>
            <a:r>
              <a:rPr sz="1100" b="1" spc="1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MX</a:t>
            </a:r>
            <a:r>
              <a:rPr sz="1100" b="1" spc="17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records</a:t>
            </a:r>
            <a:r>
              <a:rPr sz="1100" b="1" spc="19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domain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1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learned</a:t>
            </a:r>
            <a:r>
              <a:rPr sz="1100" spc="1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using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tools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such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as</a:t>
            </a:r>
            <a:r>
              <a:rPr sz="1100" spc="2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Mxtoolbox.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By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comparing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the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information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here,</a:t>
            </a:r>
            <a:r>
              <a:rPr sz="1100" spc="1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1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learned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whether</a:t>
            </a:r>
            <a:r>
              <a:rPr sz="1100" spc="1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spoof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or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not.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179" y="7953603"/>
            <a:ext cx="7428865" cy="132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320" algn="just">
              <a:lnSpc>
                <a:spcPct val="141800"/>
              </a:lnSpc>
              <a:spcBef>
                <a:spcPts val="100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Since</a:t>
            </a:r>
            <a:r>
              <a:rPr sz="1100" spc="1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IP</a:t>
            </a:r>
            <a:r>
              <a:rPr sz="1100" spc="1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addresses</a:t>
            </a:r>
            <a:r>
              <a:rPr sz="1100" spc="1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1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big</a:t>
            </a:r>
            <a:r>
              <a:rPr sz="1100" spc="1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institutions</a:t>
            </a:r>
            <a:r>
              <a:rPr sz="1100" spc="1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using</a:t>
            </a:r>
            <a:r>
              <a:rPr sz="1100" spc="1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their</a:t>
            </a:r>
            <a:r>
              <a:rPr sz="1100" spc="1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own</a:t>
            </a:r>
            <a:r>
              <a:rPr sz="1100" spc="1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1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servers</a:t>
            </a:r>
            <a:r>
              <a:rPr sz="1100" spc="1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will</a:t>
            </a:r>
            <a:r>
              <a:rPr sz="1100" spc="1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belong</a:t>
            </a:r>
            <a:r>
              <a:rPr sz="1100" spc="1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1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them,</a:t>
            </a:r>
            <a:r>
              <a:rPr sz="1100" spc="1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1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1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1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examined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whether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SMTP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belongs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1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institution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by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looking</a:t>
            </a:r>
            <a:r>
              <a:rPr sz="1100" spc="1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</a:t>
            </a:r>
            <a:r>
              <a:rPr sz="1100" spc="1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whois</a:t>
            </a:r>
            <a:r>
              <a:rPr sz="1100" b="1" spc="16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records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1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SMTP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IP</a:t>
            </a:r>
            <a:r>
              <a:rPr sz="1100" spc="1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address.</a:t>
            </a:r>
            <a:endParaRPr sz="1100">
              <a:latin typeface="Arial MT"/>
              <a:cs typeface="Arial MT"/>
            </a:endParaRPr>
          </a:p>
          <a:p>
            <a:pPr marL="12700" marR="5080" algn="just">
              <a:lnSpc>
                <a:spcPct val="143200"/>
              </a:lnSpc>
              <a:spcBef>
                <a:spcPts val="830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</a:t>
            </a:r>
            <a:r>
              <a:rPr sz="1100" spc="1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important</a:t>
            </a:r>
            <a:r>
              <a:rPr sz="1100" spc="1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point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here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1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if</a:t>
            </a:r>
            <a:r>
              <a:rPr sz="1100" spc="1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sender</a:t>
            </a:r>
            <a:r>
              <a:rPr sz="1100" spc="1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1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not</a:t>
            </a:r>
            <a:r>
              <a:rPr sz="1100" spc="1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spoof,</a:t>
            </a:r>
            <a:r>
              <a:rPr sz="1100" spc="1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</a:t>
            </a:r>
            <a:r>
              <a:rPr sz="1100" spc="1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cannot</a:t>
            </a:r>
            <a:r>
              <a:rPr sz="1100" spc="1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say</a:t>
            </a:r>
            <a:r>
              <a:rPr sz="1100" spc="1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safe.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Harmful</a:t>
            </a:r>
            <a:r>
              <a:rPr sz="1100" spc="1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mails</a:t>
            </a:r>
            <a:r>
              <a:rPr sz="1100" spc="1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can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sent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100" spc="1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behalf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trusted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persons</a:t>
            </a:r>
            <a:r>
              <a:rPr sz="1100" spc="1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by</a:t>
            </a:r>
            <a:r>
              <a:rPr sz="1100" spc="1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hacking</a:t>
            </a:r>
            <a:r>
              <a:rPr sz="1100" spc="1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corporate</a:t>
            </a:r>
            <a:r>
              <a:rPr sz="1100" spc="1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/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personal</a:t>
            </a:r>
            <a:r>
              <a:rPr sz="1100" spc="1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addresses.</a:t>
            </a:r>
            <a:r>
              <a:rPr sz="1100" spc="1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3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type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cyber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attacks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has</a:t>
            </a:r>
            <a:r>
              <a:rPr sz="1100" spc="2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already</a:t>
            </a:r>
            <a:r>
              <a:rPr sz="1100" spc="1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happened,</a:t>
            </a:r>
            <a:r>
              <a:rPr sz="1100" spc="1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so</a:t>
            </a:r>
            <a:r>
              <a:rPr sz="1100" spc="1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20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possibility</a:t>
            </a:r>
            <a:r>
              <a:rPr sz="1100" spc="1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should</a:t>
            </a:r>
            <a:r>
              <a:rPr sz="1100" spc="1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always</a:t>
            </a:r>
            <a:r>
              <a:rPr sz="1100" spc="20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1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considered.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79" y="5530596"/>
            <a:ext cx="7481316" cy="23332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79" y="426211"/>
            <a:ext cx="7426959" cy="455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6FAC46"/>
                </a:solidFill>
                <a:latin typeface="Times New Roman"/>
                <a:cs typeface="Times New Roman"/>
              </a:rPr>
              <a:t>E-</a:t>
            </a:r>
            <a:r>
              <a:rPr sz="2000" b="1" dirty="0">
                <a:solidFill>
                  <a:srgbClr val="6FAC46"/>
                </a:solidFill>
                <a:latin typeface="Times New Roman"/>
                <a:cs typeface="Times New Roman"/>
              </a:rPr>
              <a:t>mail</a:t>
            </a:r>
            <a:r>
              <a:rPr sz="2000" b="1" spc="-10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AC46"/>
                </a:solidFill>
                <a:latin typeface="Times New Roman"/>
                <a:cs typeface="Times New Roman"/>
              </a:rPr>
              <a:t>Traffic</a:t>
            </a:r>
            <a:r>
              <a:rPr sz="2000" b="1" spc="-10" dirty="0">
                <a:solidFill>
                  <a:srgbClr val="6FAC46"/>
                </a:solidFill>
                <a:latin typeface="Times New Roman"/>
                <a:cs typeface="Times New Roman"/>
              </a:rPr>
              <a:t> Analysis</a:t>
            </a:r>
            <a:endParaRPr sz="2000">
              <a:latin typeface="Times New Roman"/>
              <a:cs typeface="Times New Roman"/>
            </a:endParaRPr>
          </a:p>
          <a:p>
            <a:pPr marL="12700" marR="13335" algn="just">
              <a:lnSpc>
                <a:spcPct val="142700"/>
              </a:lnSpc>
              <a:spcBef>
                <a:spcPts val="795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Many</a:t>
            </a:r>
            <a:r>
              <a:rPr sz="1100" spc="1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parameters</a:t>
            </a:r>
            <a:r>
              <a:rPr sz="1100" spc="1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are</a:t>
            </a:r>
            <a:r>
              <a:rPr sz="1100" spc="1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needed</a:t>
            </a:r>
            <a:r>
              <a:rPr sz="1100" spc="1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when</a:t>
            </a:r>
            <a:r>
              <a:rPr sz="1100" spc="1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analyzing</a:t>
            </a:r>
            <a:r>
              <a:rPr sz="1100" spc="1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100" spc="1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phishing</a:t>
            </a:r>
            <a:r>
              <a:rPr sz="1100" spc="1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attack.</a:t>
            </a:r>
            <a:r>
              <a:rPr sz="1100" spc="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</a:t>
            </a:r>
            <a:r>
              <a:rPr sz="1100" spc="10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1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learn</a:t>
            </a:r>
            <a:r>
              <a:rPr sz="1100" spc="10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size</a:t>
            </a:r>
            <a:r>
              <a:rPr sz="1100" spc="1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1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0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attack</a:t>
            </a:r>
            <a:r>
              <a:rPr sz="1100" spc="1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10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0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target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audience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search</a:t>
            </a:r>
            <a:r>
              <a:rPr sz="1100" spc="1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results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made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1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gateway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according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1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following</a:t>
            </a:r>
            <a:r>
              <a:rPr sz="1100" spc="2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parameters.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Sender</a:t>
            </a:r>
            <a:r>
              <a:rPr sz="1100" b="1" spc="22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Address</a:t>
            </a: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580"/>
              </a:spcBef>
              <a:buFont typeface="Wingdings"/>
              <a:buChar char=""/>
              <a:tabLst>
                <a:tab pos="469265" algn="l"/>
              </a:tabLst>
            </a:pP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SMTP</a:t>
            </a:r>
            <a:r>
              <a:rPr sz="1100" b="1" spc="114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IP</a:t>
            </a:r>
            <a:r>
              <a:rPr sz="1100" b="1" spc="12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Address</a:t>
            </a: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575"/>
              </a:spcBef>
              <a:buFont typeface="Wingdings"/>
              <a:buChar char=""/>
              <a:tabLst>
                <a:tab pos="469265" algn="l"/>
              </a:tabLst>
            </a:pP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Email</a:t>
            </a:r>
            <a:r>
              <a:rPr sz="1100" b="1" spc="21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Address</a:t>
            </a:r>
            <a:r>
              <a:rPr sz="1100" b="1" spc="21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Domain</a:t>
            </a: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575"/>
              </a:spcBef>
              <a:buFont typeface="Wingdings"/>
              <a:buChar char=""/>
              <a:tabLst>
                <a:tab pos="469265" algn="l"/>
              </a:tabLst>
            </a:pP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Subject</a:t>
            </a:r>
            <a:r>
              <a:rPr sz="1100" b="1" spc="18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(sender</a:t>
            </a:r>
            <a:r>
              <a:rPr sz="1100" b="1" spc="19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address</a:t>
            </a:r>
            <a:r>
              <a:rPr sz="1100" b="1" spc="19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sz="1100" b="1" spc="18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SMTP</a:t>
            </a:r>
            <a:r>
              <a:rPr sz="1100" b="1" spc="19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address</a:t>
            </a:r>
            <a:r>
              <a:rPr sz="1100" b="1" spc="19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may</a:t>
            </a:r>
            <a:r>
              <a:rPr sz="1100" b="1" spc="15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be</a:t>
            </a:r>
            <a:r>
              <a:rPr sz="1100" b="1" spc="19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constantly</a:t>
            </a:r>
            <a:r>
              <a:rPr sz="1100" b="1" spc="16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changing).</a:t>
            </a:r>
            <a:endParaRPr sz="1100">
              <a:latin typeface="Arial"/>
              <a:cs typeface="Arial"/>
            </a:endParaRPr>
          </a:p>
          <a:p>
            <a:pPr marL="12700" marR="18415" algn="just">
              <a:lnSpc>
                <a:spcPct val="142700"/>
              </a:lnSpc>
              <a:spcBef>
                <a:spcPts val="830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3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3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search</a:t>
            </a:r>
            <a:r>
              <a:rPr sz="1100" spc="3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results,</a:t>
            </a:r>
            <a:r>
              <a:rPr sz="1100" spc="3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3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3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necessary</a:t>
            </a:r>
            <a:r>
              <a:rPr sz="1100" spc="3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3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learn</a:t>
            </a:r>
            <a:r>
              <a:rPr sz="1100" spc="3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3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recipient</a:t>
            </a:r>
            <a:r>
              <a:rPr sz="1100" spc="3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addresses</a:t>
            </a:r>
            <a:r>
              <a:rPr sz="1100" spc="3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3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time</a:t>
            </a:r>
            <a:r>
              <a:rPr sz="1100" spc="3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information</a:t>
            </a:r>
            <a:r>
              <a:rPr sz="1100" spc="3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besides</a:t>
            </a:r>
            <a:r>
              <a:rPr sz="1100" spc="3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3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mail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numbers.</a:t>
            </a:r>
            <a:endParaRPr sz="1100">
              <a:latin typeface="Arial MT"/>
              <a:cs typeface="Arial MT"/>
            </a:endParaRPr>
          </a:p>
          <a:p>
            <a:pPr marL="12700" marR="6350" algn="just">
              <a:lnSpc>
                <a:spcPct val="141800"/>
              </a:lnSpc>
              <a:spcBef>
                <a:spcPts val="840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If</a:t>
            </a:r>
            <a:r>
              <a:rPr sz="1100" spc="2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harmful</a:t>
            </a:r>
            <a:r>
              <a:rPr sz="1100" spc="229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e-mails</a:t>
            </a:r>
            <a:r>
              <a:rPr sz="1100" spc="229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are</a:t>
            </a:r>
            <a:r>
              <a:rPr sz="1100" spc="2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constantly</a:t>
            </a:r>
            <a:r>
              <a:rPr sz="1100" spc="2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forwarded</a:t>
            </a:r>
            <a:r>
              <a:rPr sz="1100" spc="2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1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2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same</a:t>
            </a:r>
            <a:r>
              <a:rPr sz="1100" spc="2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users,</a:t>
            </a:r>
            <a:r>
              <a:rPr sz="1100" spc="2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their</a:t>
            </a:r>
            <a:r>
              <a:rPr sz="1100" spc="2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e-mail</a:t>
            </a:r>
            <a:r>
              <a:rPr sz="1100" spc="2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addresses</a:t>
            </a:r>
            <a:r>
              <a:rPr sz="1100" spc="2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may</a:t>
            </a:r>
            <a:r>
              <a:rPr sz="1100" spc="2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have</a:t>
            </a:r>
            <a:r>
              <a:rPr sz="1100" spc="229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leaked</a:t>
            </a:r>
            <a:r>
              <a:rPr sz="1100" spc="2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2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some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way</a:t>
            </a:r>
            <a:r>
              <a:rPr sz="1100" spc="1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1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shared</a:t>
            </a:r>
            <a:r>
              <a:rPr sz="1100" spc="1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100" spc="1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sites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such</a:t>
            </a:r>
            <a:r>
              <a:rPr sz="1100" spc="1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as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b="1" spc="-10" dirty="0">
                <a:solidFill>
                  <a:srgbClr val="00AF50"/>
                </a:solidFill>
                <a:latin typeface="Arial"/>
                <a:cs typeface="Arial"/>
              </a:rPr>
              <a:t>PasteBin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12700" marR="8255" algn="just">
              <a:lnSpc>
                <a:spcPct val="143600"/>
              </a:lnSpc>
              <a:spcBef>
                <a:spcPts val="820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Attackers</a:t>
            </a:r>
            <a:r>
              <a:rPr sz="1100" spc="1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1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find</a:t>
            </a:r>
            <a:r>
              <a:rPr sz="1100" spc="1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1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addresses</a:t>
            </a:r>
            <a:r>
              <a:rPr sz="1100" spc="1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with</a:t>
            </a:r>
            <a:r>
              <a:rPr sz="1100" spc="1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b="1" dirty="0">
                <a:solidFill>
                  <a:srgbClr val="00AF50"/>
                </a:solidFill>
                <a:latin typeface="Arial"/>
                <a:cs typeface="Arial"/>
              </a:rPr>
              <a:t>theHarvester</a:t>
            </a:r>
            <a:r>
              <a:rPr sz="1100" b="1" spc="1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tool</a:t>
            </a:r>
            <a:r>
              <a:rPr sz="1100" spc="1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100" spc="1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Kali</a:t>
            </a:r>
            <a:r>
              <a:rPr sz="1100" spc="1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Linux.</a:t>
            </a:r>
            <a:r>
              <a:rPr sz="1100" spc="1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1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1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recommended</a:t>
            </a:r>
            <a:r>
              <a:rPr sz="1100" spc="1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1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such</a:t>
            </a:r>
            <a:r>
              <a:rPr sz="1100" spc="1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information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should</a:t>
            </a:r>
            <a:r>
              <a:rPr sz="1100" spc="3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not</a:t>
            </a:r>
            <a:r>
              <a:rPr sz="1100" spc="3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3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shared</a:t>
            </a:r>
            <a:r>
              <a:rPr sz="1100" spc="3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explicitly,</a:t>
            </a:r>
            <a:r>
              <a:rPr sz="1100" spc="3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as</a:t>
            </a:r>
            <a:r>
              <a:rPr sz="1100" spc="3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keeping</a:t>
            </a:r>
            <a:r>
              <a:rPr sz="1100" spc="3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personal</a:t>
            </a:r>
            <a:r>
              <a:rPr sz="1100" spc="3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40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addresses</a:t>
            </a:r>
            <a:r>
              <a:rPr sz="1100" spc="3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100" spc="3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websites</a:t>
            </a:r>
            <a:r>
              <a:rPr sz="1100" spc="3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would</a:t>
            </a:r>
            <a:r>
              <a:rPr sz="1100" spc="3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3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100" spc="3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potential</a:t>
            </a:r>
            <a:r>
              <a:rPr sz="1100" spc="3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attack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vector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for</a:t>
            </a:r>
            <a:r>
              <a:rPr sz="1100" spc="1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attackers.</a:t>
            </a:r>
            <a:endParaRPr sz="1100">
              <a:latin typeface="Arial MT"/>
              <a:cs typeface="Arial MT"/>
            </a:endParaRPr>
          </a:p>
          <a:p>
            <a:pPr marL="12700" marR="5080" algn="just">
              <a:lnSpc>
                <a:spcPct val="142700"/>
              </a:lnSpc>
              <a:spcBef>
                <a:spcPts val="825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If</a:t>
            </a:r>
            <a:r>
              <a:rPr sz="1100" spc="1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mails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are</a:t>
            </a:r>
            <a:r>
              <a:rPr sz="1100" spc="1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sent</a:t>
            </a:r>
            <a:r>
              <a:rPr sz="1100" spc="1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out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1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working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hours,</a:t>
            </a:r>
            <a:r>
              <a:rPr sz="1100" spc="1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attacker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may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living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100" spc="1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different</a:t>
            </a:r>
            <a:r>
              <a:rPr sz="1100" spc="1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50" dirty="0">
                <a:solidFill>
                  <a:srgbClr val="001F5F"/>
                </a:solidFill>
                <a:latin typeface="Arial MT"/>
                <a:cs typeface="Arial MT"/>
              </a:rPr>
              <a:t>time-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zone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line.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By</a:t>
            </a:r>
            <a:r>
              <a:rPr sz="1100" spc="1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gathering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such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information,</a:t>
            </a:r>
            <a:r>
              <a:rPr sz="1100" spc="1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begin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1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make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sense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attack.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0179" y="5468492"/>
            <a:ext cx="7433945" cy="1019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What</a:t>
            </a:r>
            <a:r>
              <a:rPr sz="1100" b="1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is</a:t>
            </a:r>
            <a:r>
              <a:rPr sz="11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an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Email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Header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and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How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to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Read</a:t>
            </a:r>
            <a:r>
              <a:rPr sz="11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Them?</a:t>
            </a:r>
            <a:endParaRPr sz="1100">
              <a:latin typeface="Arial"/>
              <a:cs typeface="Arial"/>
            </a:endParaRPr>
          </a:p>
          <a:p>
            <a:pPr marL="12700" marR="5080" algn="just">
              <a:lnSpc>
                <a:spcPct val="143200"/>
              </a:lnSpc>
              <a:spcBef>
                <a:spcPts val="830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section,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will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explain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what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header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information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is,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what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done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with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information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how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access</a:t>
            </a:r>
            <a:r>
              <a:rPr sz="1100" spc="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information.</a:t>
            </a:r>
            <a:r>
              <a:rPr sz="1100" spc="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important</a:t>
            </a:r>
            <a:r>
              <a:rPr sz="1100" spc="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follow</a:t>
            </a:r>
            <a:r>
              <a:rPr sz="1100" spc="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section</a:t>
            </a:r>
            <a:r>
              <a:rPr sz="1100" spc="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carefully</a:t>
            </a:r>
            <a:r>
              <a:rPr sz="1100" spc="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as</a:t>
            </a:r>
            <a:r>
              <a:rPr sz="1100" spc="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</a:t>
            </a:r>
            <a:r>
              <a:rPr sz="1100" spc="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will</a:t>
            </a:r>
            <a:r>
              <a:rPr sz="1100" spc="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explain</a:t>
            </a:r>
            <a:r>
              <a:rPr sz="1100" spc="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how</a:t>
            </a:r>
            <a:r>
              <a:rPr sz="1100" spc="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perform</a:t>
            </a:r>
            <a:r>
              <a:rPr sz="1100" spc="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header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analysis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next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section.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an</a:t>
            </a:r>
            <a:r>
              <a:rPr spc="-35" dirty="0"/>
              <a:t> </a:t>
            </a:r>
            <a:r>
              <a:rPr dirty="0"/>
              <a:t>Email</a:t>
            </a:r>
            <a:r>
              <a:rPr spc="-35" dirty="0"/>
              <a:t> </a:t>
            </a:r>
            <a:r>
              <a:rPr spc="-10" dirty="0"/>
              <a:t>Header?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0179" y="858368"/>
            <a:ext cx="7433945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600"/>
              </a:lnSpc>
              <a:spcBef>
                <a:spcPts val="100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"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Header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"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basically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section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contains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information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such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as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sender,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recipient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date.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addition,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there are</a:t>
            </a:r>
            <a:r>
              <a:rPr sz="11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fields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such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as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"Return-Path",</a:t>
            </a:r>
            <a:r>
              <a:rPr sz="1100" b="1" spc="-4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"Reply-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To",</a:t>
            </a:r>
            <a:r>
              <a:rPr sz="1100" b="1" spc="-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and</a:t>
            </a:r>
            <a:r>
              <a:rPr sz="11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"Received".</a:t>
            </a:r>
            <a:r>
              <a:rPr sz="1100" b="1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Below</a:t>
            </a:r>
            <a:r>
              <a:rPr sz="1100" spc="-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you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see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header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details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sample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email.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8779" y="7297673"/>
            <a:ext cx="7204075" cy="1422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20979"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6FAC46"/>
                </a:solidFill>
                <a:latin typeface="Times New Roman"/>
                <a:cs typeface="Times New Roman"/>
              </a:rPr>
              <a:t>What</a:t>
            </a:r>
            <a:r>
              <a:rPr sz="2000" b="1" spc="-10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AC46"/>
                </a:solidFill>
                <a:latin typeface="Times New Roman"/>
                <a:cs typeface="Times New Roman"/>
              </a:rPr>
              <a:t>does</a:t>
            </a:r>
            <a:r>
              <a:rPr sz="2000" b="1" spc="-10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AC46"/>
                </a:solidFill>
                <a:latin typeface="Times New Roman"/>
                <a:cs typeface="Times New Roman"/>
              </a:rPr>
              <a:t>the</a:t>
            </a:r>
            <a:r>
              <a:rPr sz="2000" b="1" spc="-20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AC46"/>
                </a:solidFill>
                <a:latin typeface="Times New Roman"/>
                <a:cs typeface="Times New Roman"/>
              </a:rPr>
              <a:t>Email</a:t>
            </a:r>
            <a:r>
              <a:rPr sz="2000" b="1" spc="-15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AC46"/>
                </a:solidFill>
                <a:latin typeface="Times New Roman"/>
                <a:cs typeface="Times New Roman"/>
              </a:rPr>
              <a:t>Header</a:t>
            </a:r>
            <a:r>
              <a:rPr sz="2000" b="1" spc="-5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6FAC46"/>
                </a:solidFill>
                <a:latin typeface="Times New Roman"/>
                <a:cs typeface="Times New Roman"/>
              </a:rPr>
              <a:t>do?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1200" b="1" dirty="0">
                <a:solidFill>
                  <a:srgbClr val="001F5F"/>
                </a:solidFill>
                <a:latin typeface="Arial"/>
                <a:cs typeface="Arial"/>
              </a:rPr>
              <a:t>A.</a:t>
            </a:r>
            <a:r>
              <a:rPr sz="1200" b="1" spc="2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1F5F"/>
                </a:solidFill>
                <a:latin typeface="Arial"/>
                <a:cs typeface="Arial"/>
              </a:rPr>
              <a:t>Enables</a:t>
            </a:r>
            <a:r>
              <a:rPr sz="12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1F5F"/>
                </a:solidFill>
                <a:latin typeface="Arial"/>
                <a:cs typeface="Arial"/>
              </a:rPr>
              <a:t>Shipper</a:t>
            </a:r>
            <a:r>
              <a:rPr sz="12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1F5F"/>
                </a:solidFill>
                <a:latin typeface="Arial"/>
                <a:cs typeface="Arial"/>
              </a:rPr>
              <a:t>and</a:t>
            </a:r>
            <a:r>
              <a:rPr sz="12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1F5F"/>
                </a:solidFill>
                <a:latin typeface="Arial"/>
                <a:cs typeface="Arial"/>
              </a:rPr>
              <a:t>Recipient</a:t>
            </a:r>
            <a:r>
              <a:rPr sz="12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1F5F"/>
                </a:solidFill>
                <a:latin typeface="Arial"/>
                <a:cs typeface="Arial"/>
              </a:rPr>
              <a:t>Identification</a:t>
            </a:r>
            <a:endParaRPr sz="1200">
              <a:latin typeface="Arial"/>
              <a:cs typeface="Arial"/>
            </a:endParaRPr>
          </a:p>
          <a:p>
            <a:pPr marL="241300" marR="5080" indent="-228600" algn="just">
              <a:lnSpc>
                <a:spcPct val="142700"/>
              </a:lnSpc>
              <a:spcBef>
                <a:spcPts val="150"/>
              </a:spcBef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Thanks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"From"</a:t>
            </a:r>
            <a:r>
              <a:rPr sz="1100" spc="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"To"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fields</a:t>
            </a:r>
            <a:r>
              <a:rPr sz="1100" spc="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header,</a:t>
            </a:r>
            <a:r>
              <a:rPr sz="1100" spc="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determined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from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whom</a:t>
            </a:r>
            <a:r>
              <a:rPr sz="1100" spc="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</a:t>
            </a:r>
            <a:r>
              <a:rPr sz="1100" spc="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will</a:t>
            </a:r>
            <a:r>
              <a:rPr sz="1100" spc="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go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whom.</a:t>
            </a:r>
            <a:r>
              <a:rPr sz="1100" spc="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If</a:t>
            </a:r>
            <a:r>
              <a:rPr sz="1100" spc="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we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look</a:t>
            </a:r>
            <a:r>
              <a:rPr sz="1100" spc="25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</a:t>
            </a:r>
            <a:r>
              <a:rPr sz="1100" spc="2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2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2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above</a:t>
            </a:r>
            <a:r>
              <a:rPr sz="1100" spc="25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2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</a:t>
            </a:r>
            <a:r>
              <a:rPr sz="1100" spc="2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downloaded</a:t>
            </a:r>
            <a:r>
              <a:rPr sz="1100" spc="2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2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"eml"</a:t>
            </a:r>
            <a:r>
              <a:rPr sz="1100" spc="2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format,</a:t>
            </a:r>
            <a:r>
              <a:rPr sz="1100" spc="2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</a:t>
            </a:r>
            <a:r>
              <a:rPr sz="1100" spc="2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see</a:t>
            </a:r>
            <a:r>
              <a:rPr sz="1100" spc="2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2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2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was</a:t>
            </a:r>
            <a:r>
              <a:rPr sz="1100" spc="2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sent</a:t>
            </a:r>
            <a:r>
              <a:rPr sz="1100" spc="2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from</a:t>
            </a:r>
            <a:r>
              <a:rPr sz="1100" spc="2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2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address </a:t>
            </a:r>
            <a:r>
              <a:rPr sz="11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ogunal@letsdefend.io</a:t>
            </a:r>
            <a:r>
              <a:rPr sz="1100" b="1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3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info@letsdefend.io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2879" y="1539239"/>
            <a:ext cx="7491593" cy="55244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08807" y="8930378"/>
            <a:ext cx="3730312" cy="5991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79" y="339409"/>
            <a:ext cx="7205980" cy="225615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200" b="1" dirty="0">
                <a:solidFill>
                  <a:srgbClr val="001F5F"/>
                </a:solidFill>
                <a:latin typeface="Arial"/>
                <a:cs typeface="Arial"/>
              </a:rPr>
              <a:t>B.</a:t>
            </a:r>
            <a:r>
              <a:rPr sz="1200" b="1" spc="26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1F5F"/>
                </a:solidFill>
                <a:latin typeface="Arial"/>
                <a:cs typeface="Arial"/>
              </a:rPr>
              <a:t>Spam </a:t>
            </a:r>
            <a:r>
              <a:rPr sz="1200" b="1" spc="-10" dirty="0">
                <a:solidFill>
                  <a:srgbClr val="001F5F"/>
                </a:solidFill>
                <a:latin typeface="Arial"/>
                <a:cs typeface="Arial"/>
              </a:rPr>
              <a:t>Blocker</a:t>
            </a:r>
            <a:endParaRPr sz="1200">
              <a:latin typeface="Arial"/>
              <a:cs typeface="Arial"/>
            </a:endParaRPr>
          </a:p>
          <a:p>
            <a:pPr marL="241300" marR="7620" indent="-228600" algn="just">
              <a:lnSpc>
                <a:spcPct val="145600"/>
              </a:lnSpc>
              <a:spcBef>
                <a:spcPts val="90"/>
              </a:spcBef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possible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detect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spam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emails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using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Header</a:t>
            </a:r>
            <a:r>
              <a:rPr sz="1100" b="1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analysis</a:t>
            </a:r>
            <a:r>
              <a:rPr sz="1100" b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other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various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methods.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protects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people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from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receiving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SPAM</a:t>
            </a:r>
            <a:r>
              <a:rPr sz="1100" spc="-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emails.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C.</a:t>
            </a:r>
            <a:r>
              <a:rPr sz="1100" b="1" spc="36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Allows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Tracking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an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Email’s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001F5F"/>
                </a:solidFill>
                <a:latin typeface="Arial"/>
                <a:cs typeface="Arial"/>
              </a:rPr>
              <a:t>Route</a:t>
            </a:r>
            <a:endParaRPr sz="1100">
              <a:latin typeface="Arial"/>
              <a:cs typeface="Arial"/>
            </a:endParaRPr>
          </a:p>
          <a:p>
            <a:pPr marL="241300" marR="5080" indent="-228600" algn="just">
              <a:lnSpc>
                <a:spcPct val="143900"/>
              </a:lnSpc>
              <a:spcBef>
                <a:spcPts val="65"/>
              </a:spcBef>
              <a:buFont typeface="Symbol"/>
              <a:buChar char=""/>
              <a:tabLst>
                <a:tab pos="241300" algn="l"/>
              </a:tabLst>
            </a:pP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It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is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important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to check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route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it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follows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to</a:t>
            </a:r>
            <a:r>
              <a:rPr sz="1100" b="1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see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if an</a:t>
            </a:r>
            <a:r>
              <a:rPr sz="1100" b="1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email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came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from the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right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address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.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If</a:t>
            </a:r>
            <a:r>
              <a:rPr sz="1100" spc="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look</a:t>
            </a:r>
            <a:r>
              <a:rPr sz="11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the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sample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above,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see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came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from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ogunal@letsdefend.io</a:t>
            </a:r>
            <a:r>
              <a:rPr sz="1100" b="1" spc="2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address,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but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did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actually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come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from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letsdefend.io</a:t>
            </a:r>
            <a:r>
              <a:rPr sz="1100" b="1" spc="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domain</a:t>
            </a:r>
            <a:r>
              <a:rPr sz="1100" spc="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or</a:t>
            </a:r>
            <a:r>
              <a:rPr sz="1100" spc="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from</a:t>
            </a:r>
            <a:r>
              <a:rPr sz="1100" spc="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100" spc="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different</a:t>
            </a:r>
            <a:r>
              <a:rPr sz="1100" spc="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fake</a:t>
            </a:r>
            <a:r>
              <a:rPr sz="1100" spc="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server</a:t>
            </a:r>
            <a:r>
              <a:rPr sz="1100" spc="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mimics</a:t>
            </a:r>
            <a:r>
              <a:rPr sz="1100" spc="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same</a:t>
            </a:r>
            <a:r>
              <a:rPr sz="1100" spc="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name?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</a:t>
            </a:r>
            <a:r>
              <a:rPr sz="1100" spc="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use</a:t>
            </a:r>
            <a:r>
              <a:rPr sz="1100" spc="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header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information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answer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question.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91614" y="2811526"/>
            <a:ext cx="37884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6FAC46"/>
                </a:solidFill>
                <a:latin typeface="Times New Roman"/>
                <a:cs typeface="Times New Roman"/>
              </a:rPr>
              <a:t>Important</a:t>
            </a:r>
            <a:r>
              <a:rPr sz="2200" b="1" spc="-65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6FAC46"/>
                </a:solidFill>
                <a:latin typeface="Times New Roman"/>
                <a:cs typeface="Times New Roman"/>
              </a:rPr>
              <a:t>Email</a:t>
            </a:r>
            <a:r>
              <a:rPr sz="2200" b="1" spc="-70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6FAC46"/>
                </a:solidFill>
                <a:latin typeface="Times New Roman"/>
                <a:cs typeface="Times New Roman"/>
              </a:rPr>
              <a:t>Header</a:t>
            </a:r>
            <a:r>
              <a:rPr sz="2200" b="1" spc="-60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6FAC46"/>
                </a:solidFill>
                <a:latin typeface="Times New Roman"/>
                <a:cs typeface="Times New Roman"/>
              </a:rPr>
              <a:t>Fields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179" y="3317874"/>
            <a:ext cx="7435215" cy="5891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BE9000"/>
                </a:solidFill>
                <a:latin typeface="Arial"/>
                <a:cs typeface="Arial"/>
              </a:rPr>
              <a:t>From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"From"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field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internet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header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indicates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name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sender.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001F5F"/>
              </a:buClr>
              <a:buFont typeface="Wingdings"/>
              <a:buChar char=""/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b="1" spc="-25" dirty="0">
                <a:solidFill>
                  <a:srgbClr val="BE9000"/>
                </a:solidFill>
                <a:latin typeface="Arial"/>
                <a:cs typeface="Arial"/>
              </a:rPr>
              <a:t>To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field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header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contains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email's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receiver's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details.</a:t>
            </a:r>
            <a:endParaRPr sz="1100">
              <a:latin typeface="Arial MT"/>
              <a:cs typeface="Arial MT"/>
            </a:endParaRPr>
          </a:p>
          <a:p>
            <a:pPr marL="469900" marR="5080" indent="-228600">
              <a:lnSpc>
                <a:spcPct val="143600"/>
              </a:lnSpc>
              <a:buFont typeface="Wingdings"/>
              <a:buChar char=""/>
              <a:tabLst>
                <a:tab pos="469900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includes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their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name</a:t>
            </a:r>
            <a:r>
              <a:rPr sz="11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their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address.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Fields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like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CC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(carbon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copy)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BCC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(blind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carbon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copy)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also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fall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under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category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as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they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all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include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details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your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recipients.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575"/>
              </a:spcBef>
              <a:buFont typeface="Wingdings"/>
              <a:buChar char=""/>
              <a:tabLst>
                <a:tab pos="469265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If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want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find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out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more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about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carbon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copy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blind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carbon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copy,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check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out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how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use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CC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BCC.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001F5F"/>
              </a:buClr>
              <a:buFont typeface="Wingdings"/>
              <a:buChar char=""/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b="1" spc="-20" dirty="0">
                <a:solidFill>
                  <a:srgbClr val="BE9000"/>
                </a:solidFill>
                <a:latin typeface="Arial"/>
                <a:cs typeface="Arial"/>
              </a:rPr>
              <a:t>Date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timestamp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shows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when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was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sent.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575"/>
              </a:spcBef>
              <a:buFont typeface="Wingdings"/>
              <a:buChar char=""/>
              <a:tabLst>
                <a:tab pos="469265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Gmail,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usually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follows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format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"day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dd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month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yyyy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hh:mmss</a:t>
            </a:r>
            <a:endParaRPr sz="1100">
              <a:latin typeface="Arial MT"/>
              <a:cs typeface="Arial MT"/>
            </a:endParaRPr>
          </a:p>
          <a:p>
            <a:pPr marL="469900" marR="8255" indent="-228600">
              <a:lnSpc>
                <a:spcPct val="142700"/>
              </a:lnSpc>
              <a:spcBef>
                <a:spcPts val="10"/>
              </a:spcBef>
              <a:buFont typeface="Wingdings"/>
              <a:buChar char=""/>
              <a:tabLst>
                <a:tab pos="469900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So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if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had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been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sent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16th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November,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2021,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4:57:23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PM,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would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show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as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Wed,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16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Nov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2021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16:57:23.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Clr>
                <a:srgbClr val="001F5F"/>
              </a:buClr>
              <a:buFont typeface="Wingdings"/>
              <a:buChar char=""/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b="1" spc="-10" dirty="0">
                <a:solidFill>
                  <a:srgbClr val="BE9000"/>
                </a:solidFill>
                <a:latin typeface="Arial"/>
                <a:cs typeface="Arial"/>
              </a:rPr>
              <a:t>Subject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subject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mentions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topic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email.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summarizes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content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entire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message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body.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Clr>
                <a:srgbClr val="001F5F"/>
              </a:buClr>
              <a:buFont typeface="Wingdings"/>
              <a:buChar char=""/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spc="-10" dirty="0">
                <a:solidFill>
                  <a:srgbClr val="BE9000"/>
                </a:solidFill>
                <a:latin typeface="Arial"/>
                <a:cs typeface="Arial"/>
              </a:rPr>
              <a:t>Return-</a:t>
            </a:r>
            <a:r>
              <a:rPr sz="1100" b="1" spc="-20" dirty="0">
                <a:solidFill>
                  <a:srgbClr val="BE9000"/>
                </a:solidFill>
                <a:latin typeface="Arial"/>
                <a:cs typeface="Arial"/>
              </a:rPr>
              <a:t>Path</a:t>
            </a:r>
            <a:endParaRPr sz="1100">
              <a:latin typeface="Arial"/>
              <a:cs typeface="Arial"/>
            </a:endParaRPr>
          </a:p>
          <a:p>
            <a:pPr marL="469900" marR="6985" indent="-228600">
              <a:lnSpc>
                <a:spcPct val="142700"/>
              </a:lnSpc>
              <a:spcBef>
                <a:spcPts val="840"/>
              </a:spcBef>
              <a:buFont typeface="Wingdings"/>
              <a:buChar char=""/>
              <a:tabLst>
                <a:tab pos="469900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header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field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also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known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as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Reply-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To.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If</a:t>
            </a:r>
            <a:r>
              <a:rPr sz="1100" spc="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reply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email,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will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go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mentioned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in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Return-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Path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field.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001F5F"/>
              </a:buClr>
              <a:buFont typeface="Wingdings"/>
              <a:buChar char=""/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BE9000"/>
                </a:solidFill>
                <a:latin typeface="Arial"/>
                <a:cs typeface="Arial"/>
              </a:rPr>
              <a:t>Domain</a:t>
            </a:r>
            <a:r>
              <a:rPr sz="1100" b="1" spc="-1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BE9000"/>
                </a:solidFill>
                <a:latin typeface="Arial"/>
                <a:cs typeface="Arial"/>
              </a:rPr>
              <a:t>Key</a:t>
            </a:r>
            <a:r>
              <a:rPr sz="1100" b="1" spc="-40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BE9000"/>
                </a:solidFill>
                <a:latin typeface="Arial"/>
                <a:cs typeface="Arial"/>
              </a:rPr>
              <a:t>and</a:t>
            </a:r>
            <a:r>
              <a:rPr sz="1100" b="1" spc="-20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BE9000"/>
                </a:solidFill>
                <a:latin typeface="Arial"/>
                <a:cs typeface="Arial"/>
              </a:rPr>
              <a:t>DKIM</a:t>
            </a:r>
            <a:r>
              <a:rPr sz="1100" b="1" spc="-30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BE9000"/>
                </a:solidFill>
                <a:latin typeface="Arial"/>
                <a:cs typeface="Arial"/>
              </a:rPr>
              <a:t>Signatures</a:t>
            </a:r>
            <a:endParaRPr sz="1100">
              <a:latin typeface="Arial"/>
              <a:cs typeface="Arial"/>
            </a:endParaRPr>
          </a:p>
          <a:p>
            <a:pPr marL="469900" marR="5715" indent="-228600">
              <a:lnSpc>
                <a:spcPct val="142700"/>
              </a:lnSpc>
              <a:spcBef>
                <a:spcPts val="840"/>
              </a:spcBef>
              <a:buFont typeface="Wingdings"/>
              <a:buChar char=""/>
              <a:tabLst>
                <a:tab pos="469900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Domain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Key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Domain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Key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Identified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(DKIM)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are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signatures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help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service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providers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identify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authenticate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your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emails,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similar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SPF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signatures.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79" y="435356"/>
            <a:ext cx="7396480" cy="5254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BE9000"/>
                </a:solidFill>
                <a:latin typeface="Calibri"/>
                <a:cs typeface="Calibri"/>
              </a:rPr>
              <a:t>Message-</a:t>
            </a:r>
            <a:r>
              <a:rPr sz="1100" b="1" spc="-25" dirty="0">
                <a:solidFill>
                  <a:srgbClr val="BE9000"/>
                </a:solidFill>
                <a:latin typeface="Calibri"/>
                <a:cs typeface="Calibri"/>
              </a:rPr>
              <a:t>ID</a:t>
            </a:r>
            <a:endParaRPr sz="1100">
              <a:latin typeface="Calibri"/>
              <a:cs typeface="Calibri"/>
            </a:endParaRPr>
          </a:p>
          <a:p>
            <a:pPr marL="469900" marR="80645" indent="-228600">
              <a:lnSpc>
                <a:spcPct val="152000"/>
              </a:lnSpc>
              <a:spcBef>
                <a:spcPts val="815"/>
              </a:spcBef>
              <a:buFont typeface="Wingdings"/>
              <a:buChar char=""/>
              <a:tabLst>
                <a:tab pos="46990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Message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header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field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unique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combination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letters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numbers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identifies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each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mail.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No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two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emails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will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have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same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Message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ID.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001F5F"/>
              </a:buClr>
              <a:buFont typeface="Wingdings"/>
              <a:buChar char=""/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spc="-10" dirty="0">
                <a:solidFill>
                  <a:srgbClr val="BE9000"/>
                </a:solidFill>
                <a:latin typeface="Calibri"/>
                <a:cs typeface="Calibri"/>
              </a:rPr>
              <a:t>MIME-Version</a:t>
            </a:r>
            <a:endParaRPr sz="1100">
              <a:latin typeface="Calibri"/>
              <a:cs typeface="Calibri"/>
            </a:endParaRPr>
          </a:p>
          <a:p>
            <a:pPr marL="469900" marR="48895" indent="-228600">
              <a:lnSpc>
                <a:spcPct val="152700"/>
              </a:lnSpc>
              <a:spcBef>
                <a:spcPts val="790"/>
              </a:spcBef>
              <a:buFont typeface="Wingdings"/>
              <a:buChar char=""/>
              <a:tabLst>
                <a:tab pos="46990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Multipurpose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Internet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Mail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Extensions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(MIME)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internet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standard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encoding.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converts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non-text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content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like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images,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videos,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other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attachments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text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so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they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attached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email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sent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through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SMTP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(Simple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Mail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Transfer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Protocol).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001F5F"/>
              </a:buClr>
              <a:buFont typeface="Wingdings"/>
              <a:buChar char=""/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spc="-10" dirty="0">
                <a:solidFill>
                  <a:srgbClr val="BE9000"/>
                </a:solidFill>
                <a:latin typeface="Calibri"/>
                <a:cs typeface="Calibri"/>
              </a:rPr>
              <a:t>Received</a:t>
            </a:r>
            <a:endParaRPr sz="1100">
              <a:latin typeface="Calibri"/>
              <a:cs typeface="Calibri"/>
            </a:endParaRPr>
          </a:p>
          <a:p>
            <a:pPr marL="469900" marR="161925" indent="-228600" algn="just">
              <a:lnSpc>
                <a:spcPct val="152700"/>
              </a:lnSpc>
              <a:spcBef>
                <a:spcPts val="795"/>
              </a:spcBef>
              <a:buFont typeface="Wingdings"/>
              <a:buChar char=""/>
              <a:tabLst>
                <a:tab pos="46990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received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field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lists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each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mail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server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went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through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email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before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arriving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recipient's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inbox.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It's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listed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in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reverse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chronological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order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—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where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mail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server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top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last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server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email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message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went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through,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and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bottom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where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email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originated.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100">
              <a:latin typeface="Calibri"/>
              <a:cs typeface="Calibri"/>
            </a:endParaRPr>
          </a:p>
          <a:p>
            <a:pPr marL="132080" indent="-120650">
              <a:lnSpc>
                <a:spcPct val="100000"/>
              </a:lnSpc>
              <a:buSzPct val="90909"/>
              <a:buAutoNum type="romanUcPeriod" startAt="10"/>
              <a:tabLst>
                <a:tab pos="132080" algn="l"/>
              </a:tabLst>
            </a:pPr>
            <a:r>
              <a:rPr sz="1100" b="1" dirty="0">
                <a:solidFill>
                  <a:srgbClr val="BE9000"/>
                </a:solidFill>
                <a:latin typeface="Calibri"/>
                <a:cs typeface="Calibri"/>
              </a:rPr>
              <a:t>Spam</a:t>
            </a:r>
            <a:r>
              <a:rPr sz="1100" b="1" spc="-35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BE9000"/>
                </a:solidFill>
                <a:latin typeface="Calibri"/>
                <a:cs typeface="Calibri"/>
              </a:rPr>
              <a:t>Status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BE9000"/>
              </a:buClr>
              <a:buFont typeface="Calibri"/>
              <a:buAutoNum type="romanUcPeriod" startAt="10"/>
            </a:pPr>
            <a:endParaRPr sz="1100">
              <a:latin typeface="Calibri"/>
              <a:cs typeface="Calibri"/>
            </a:endParaRPr>
          </a:p>
          <a:p>
            <a:pPr marL="469265" lvl="1" indent="-2279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X-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Spam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Status shows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you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 spam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score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 an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email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message.</a:t>
            </a:r>
            <a:endParaRPr sz="1100">
              <a:latin typeface="Calibri"/>
              <a:cs typeface="Calibri"/>
            </a:endParaRPr>
          </a:p>
          <a:p>
            <a:pPr marL="469265" lvl="1" indent="-227965">
              <a:lnSpc>
                <a:spcPct val="100000"/>
              </a:lnSpc>
              <a:spcBef>
                <a:spcPts val="695"/>
              </a:spcBef>
              <a:buFont typeface="Wingdings"/>
              <a:buChar char=""/>
              <a:tabLst>
                <a:tab pos="469265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First,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it'll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highlight if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message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 classified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spam.</a:t>
            </a:r>
            <a:endParaRPr sz="1100">
              <a:latin typeface="Calibri"/>
              <a:cs typeface="Calibri"/>
            </a:endParaRPr>
          </a:p>
          <a:p>
            <a:pPr marL="469265" lvl="1" indent="-227965">
              <a:lnSpc>
                <a:spcPct val="100000"/>
              </a:lnSpc>
              <a:spcBef>
                <a:spcPts val="700"/>
              </a:spcBef>
              <a:buFont typeface="Wingdings"/>
              <a:buChar char=""/>
              <a:tabLst>
                <a:tab pos="469265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Then,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spam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score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email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shown,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well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threshold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 spam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email.</a:t>
            </a:r>
            <a:endParaRPr sz="1100">
              <a:latin typeface="Calibri"/>
              <a:cs typeface="Calibri"/>
            </a:endParaRPr>
          </a:p>
          <a:p>
            <a:pPr marL="469900" marR="5080" lvl="1" indent="-228600">
              <a:lnSpc>
                <a:spcPts val="2020"/>
              </a:lnSpc>
              <a:spcBef>
                <a:spcPts val="165"/>
              </a:spcBef>
              <a:buFont typeface="Wingdings"/>
              <a:buChar char=""/>
              <a:tabLst>
                <a:tab pos="46990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email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can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meet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either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spam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threshold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inbox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exceed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it.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If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it's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too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spammy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exceeds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threshold,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will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automatically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classified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as spam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sent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spam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folder.</a:t>
            </a:r>
            <a:endParaRPr sz="11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09"/>
              </a:spcBef>
            </a:pPr>
            <a:r>
              <a:rPr sz="1100" b="1" i="1" dirty="0">
                <a:solidFill>
                  <a:srgbClr val="001F5F"/>
                </a:solidFill>
                <a:latin typeface="Calibri"/>
                <a:cs typeface="Calibri"/>
              </a:rPr>
              <a:t>Reference</a:t>
            </a:r>
            <a:r>
              <a:rPr sz="1100" b="1" i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i="1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b="1" i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i="1" dirty="0">
                <a:solidFill>
                  <a:srgbClr val="001F5F"/>
                </a:solidFill>
                <a:latin typeface="Calibri"/>
                <a:cs typeface="Calibri"/>
              </a:rPr>
              <a:t>Field</a:t>
            </a:r>
            <a:r>
              <a:rPr sz="1100" b="1" i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i="1" dirty="0">
                <a:solidFill>
                  <a:srgbClr val="001F5F"/>
                </a:solidFill>
                <a:latin typeface="Calibri"/>
                <a:cs typeface="Calibri"/>
              </a:rPr>
              <a:t>Definitions:</a:t>
            </a:r>
            <a:r>
              <a:rPr sz="1100" b="1" i="1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i="1" spc="-10" dirty="0">
                <a:solidFill>
                  <a:srgbClr val="001F5F"/>
                </a:solidFill>
                <a:latin typeface="Calibri"/>
                <a:cs typeface="Calibri"/>
              </a:rPr>
              <a:t>gmass.co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18105" y="5922645"/>
            <a:ext cx="3536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92D050"/>
                </a:solidFill>
                <a:latin typeface="Times New Roman"/>
                <a:cs typeface="Times New Roman"/>
              </a:rPr>
              <a:t>How</a:t>
            </a:r>
            <a:r>
              <a:rPr sz="1800" b="1" spc="-20" dirty="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92D050"/>
                </a:solidFill>
                <a:latin typeface="Times New Roman"/>
                <a:cs typeface="Times New Roman"/>
              </a:rPr>
              <a:t>to</a:t>
            </a:r>
            <a:r>
              <a:rPr sz="1800" b="1" spc="-15" dirty="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92D050"/>
                </a:solidFill>
                <a:latin typeface="Times New Roman"/>
                <a:cs typeface="Times New Roman"/>
              </a:rPr>
              <a:t>Access</a:t>
            </a:r>
            <a:r>
              <a:rPr sz="1800" b="1" spc="-35" dirty="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92D050"/>
                </a:solidFill>
                <a:latin typeface="Times New Roman"/>
                <a:cs typeface="Times New Roman"/>
              </a:rPr>
              <a:t>Your Email</a:t>
            </a:r>
            <a:r>
              <a:rPr sz="1800" b="1" spc="-20" dirty="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92D050"/>
                </a:solidFill>
                <a:latin typeface="Times New Roman"/>
                <a:cs typeface="Times New Roman"/>
              </a:rPr>
              <a:t>Header?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179" y="6343879"/>
            <a:ext cx="2906395" cy="80899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1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Gmail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215"/>
              </a:spcBef>
              <a:buAutoNum type="arabicPlain"/>
              <a:tabLst>
                <a:tab pos="469265" algn="l"/>
              </a:tabLst>
            </a:pP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Open</a:t>
            </a:r>
            <a:r>
              <a:rPr sz="11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relevant</a:t>
            </a:r>
            <a:r>
              <a:rPr sz="11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e-</a:t>
            </a:r>
            <a:r>
              <a:rPr sz="1100" b="1" spc="-20" dirty="0">
                <a:solidFill>
                  <a:srgbClr val="001F5F"/>
                </a:solidFill>
                <a:latin typeface="Calibri"/>
                <a:cs typeface="Calibri"/>
              </a:rPr>
              <a:t>mail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AutoNum type="arabicPlain"/>
              <a:tabLst>
                <a:tab pos="469265" algn="l"/>
              </a:tabLst>
            </a:pP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1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1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3</a:t>
            </a:r>
            <a:r>
              <a:rPr sz="11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points</a:t>
            </a:r>
            <a:r>
              <a:rPr sz="11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at</a:t>
            </a:r>
            <a:r>
              <a:rPr sz="11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top</a:t>
            </a:r>
            <a:r>
              <a:rPr sz="11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right</a:t>
            </a:r>
            <a:r>
              <a:rPr sz="11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001F5F"/>
                </a:solidFill>
                <a:latin typeface="Calibri"/>
                <a:cs typeface="Calibri"/>
              </a:rPr>
              <a:t>"..."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225"/>
              </a:spcBef>
              <a:buAutoNum type="arabicPlain"/>
              <a:tabLst>
                <a:tab pos="469265" algn="l"/>
              </a:tabLst>
            </a:pP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1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1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"Download</a:t>
            </a:r>
            <a:r>
              <a:rPr sz="11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message"</a:t>
            </a:r>
            <a:r>
              <a:rPr sz="11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Calibri"/>
                <a:cs typeface="Calibri"/>
              </a:rPr>
              <a:t>button.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7174992"/>
            <a:ext cx="5791200" cy="24140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79" y="430784"/>
            <a:ext cx="5755640" cy="1120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4-</a:t>
            </a:r>
            <a:r>
              <a:rPr sz="1100" b="1" spc="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Downloaded</a:t>
            </a:r>
            <a:r>
              <a:rPr sz="1100" b="1" spc="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".Open</a:t>
            </a:r>
            <a:r>
              <a:rPr sz="1100" b="1" spc="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100" b="1" spc="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file</a:t>
            </a:r>
            <a:r>
              <a:rPr sz="1100" b="1" spc="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with the</a:t>
            </a:r>
            <a:r>
              <a:rPr sz="1100" b="1" spc="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extension</a:t>
            </a:r>
            <a:r>
              <a:rPr sz="1100" b="1" spc="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"eml"</a:t>
            </a:r>
            <a:r>
              <a:rPr sz="1100" b="1" spc="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with</a:t>
            </a:r>
            <a:r>
              <a:rPr sz="1100" b="1" spc="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any</a:t>
            </a:r>
            <a:r>
              <a:rPr sz="11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notebook</a:t>
            </a:r>
            <a:r>
              <a:rPr sz="1100" b="1" spc="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application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Outlook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100">
              <a:latin typeface="Arial"/>
              <a:cs typeface="Arial"/>
            </a:endParaRPr>
          </a:p>
          <a:p>
            <a:pPr marL="466725" indent="-225425">
              <a:lnSpc>
                <a:spcPct val="100000"/>
              </a:lnSpc>
              <a:buAutoNum type="arabicPlain"/>
              <a:tabLst>
                <a:tab pos="466725" algn="l"/>
              </a:tabLst>
            </a:pP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Open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relevant 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e-</a:t>
            </a:r>
            <a:r>
              <a:rPr sz="1100" b="1" spc="-20" dirty="0">
                <a:solidFill>
                  <a:srgbClr val="001F5F"/>
                </a:solidFill>
                <a:latin typeface="Arial"/>
                <a:cs typeface="Arial"/>
              </a:rPr>
              <a:t>mail</a:t>
            </a:r>
            <a:endParaRPr sz="1100">
              <a:latin typeface="Arial"/>
              <a:cs typeface="Arial"/>
            </a:endParaRPr>
          </a:p>
          <a:p>
            <a:pPr marL="466725" indent="-225425">
              <a:lnSpc>
                <a:spcPct val="100000"/>
              </a:lnSpc>
              <a:spcBef>
                <a:spcPts val="565"/>
              </a:spcBef>
              <a:buAutoNum type="arabicPlain"/>
              <a:tabLst>
                <a:tab pos="466725" algn="l"/>
              </a:tabLst>
            </a:pP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File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-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&gt;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Info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-&gt;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Properties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-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&gt;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Internet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headers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355" y="1725167"/>
            <a:ext cx="5879592" cy="37216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655" y="5617464"/>
            <a:ext cx="6419088" cy="39486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0298" y="426211"/>
            <a:ext cx="35102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92D050"/>
                </a:solidFill>
                <a:latin typeface="Arial"/>
                <a:cs typeface="Arial"/>
              </a:rPr>
              <a:t>EMAIL</a:t>
            </a:r>
            <a:r>
              <a:rPr sz="1800" b="1" spc="-55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2D050"/>
                </a:solidFill>
                <a:latin typeface="Arial"/>
                <a:cs typeface="Arial"/>
              </a:rPr>
              <a:t>HEADER</a:t>
            </a:r>
            <a:r>
              <a:rPr sz="1800" b="1" spc="-55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2D050"/>
                </a:solidFill>
                <a:latin typeface="Arial"/>
                <a:cs typeface="Arial"/>
              </a:rPr>
              <a:t>ANALYSIS</a:t>
            </a:r>
            <a:r>
              <a:rPr sz="1800" b="1" spc="-50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92D050"/>
                </a:solidFill>
                <a:latin typeface="Arial"/>
                <a:cs typeface="Arial"/>
              </a:rPr>
              <a:t>LAB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0179" y="791312"/>
            <a:ext cx="6590030" cy="257429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b="1" dirty="0">
                <a:solidFill>
                  <a:srgbClr val="001F5F"/>
                </a:solidFill>
                <a:latin typeface="Courier New"/>
                <a:cs typeface="Courier New"/>
              </a:rPr>
              <a:t>Course</a:t>
            </a:r>
            <a:r>
              <a:rPr sz="1100" b="1" spc="-10" dirty="0">
                <a:solidFill>
                  <a:srgbClr val="001F5F"/>
                </a:solidFill>
                <a:latin typeface="Courier New"/>
                <a:cs typeface="Courier New"/>
              </a:rPr>
              <a:t> Files</a:t>
            </a:r>
            <a:endParaRPr sz="1100">
              <a:latin typeface="Courier New"/>
              <a:cs typeface="Courier New"/>
            </a:endParaRPr>
          </a:p>
          <a:p>
            <a:pPr marL="469265" indent="-227965">
              <a:lnSpc>
                <a:spcPct val="100000"/>
              </a:lnSpc>
              <a:spcBef>
                <a:spcPts val="505"/>
              </a:spcBef>
              <a:buFont typeface="Wingdings"/>
              <a:buChar char=""/>
              <a:tabLst>
                <a:tab pos="469265" algn="l"/>
              </a:tabLst>
            </a:pP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Filename:</a:t>
            </a:r>
            <a:r>
              <a:rPr sz="11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Challenge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Mail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685"/>
              </a:spcBef>
              <a:buFont typeface="Wingdings"/>
              <a:buChar char=""/>
              <a:tabLst>
                <a:tab pos="469265" algn="l"/>
              </a:tabLst>
            </a:pP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Size:</a:t>
            </a:r>
            <a:r>
              <a:rPr sz="11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7,45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KB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695"/>
              </a:spcBef>
              <a:buFont typeface="Wingdings"/>
              <a:buChar char=""/>
              <a:tabLst>
                <a:tab pos="469265" algn="l"/>
              </a:tabLst>
            </a:pP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Password:</a:t>
            </a:r>
            <a:r>
              <a:rPr sz="11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infected</a:t>
            </a:r>
            <a:endParaRPr sz="1100">
              <a:latin typeface="Calibri"/>
              <a:cs typeface="Calibri"/>
            </a:endParaRPr>
          </a:p>
          <a:p>
            <a:pPr marL="501650" indent="-260350">
              <a:lnSpc>
                <a:spcPct val="100000"/>
              </a:lnSpc>
              <a:spcBef>
                <a:spcPts val="695"/>
              </a:spcBef>
              <a:buFont typeface="Wingdings"/>
              <a:buChar char=""/>
              <a:tabLst>
                <a:tab pos="501650" algn="l"/>
              </a:tabLst>
            </a:pP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Download</a:t>
            </a:r>
            <a:r>
              <a:rPr sz="1100" b="1" spc="2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link:</a:t>
            </a:r>
            <a:r>
              <a:rPr sz="11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https://app.letsdefend.io/download/downloadfile/Challenge%20Mail.zip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15"/>
              </a:spcBef>
              <a:buClr>
                <a:srgbClr val="001F5F"/>
              </a:buClr>
              <a:buFont typeface="Wingdings"/>
              <a:buChar char=""/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Practice</a:t>
            </a:r>
            <a:r>
              <a:rPr sz="1100" b="1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Questions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Download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above,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if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want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answer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email,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what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would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recipient’s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be?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575"/>
              </a:spcBef>
              <a:buFont typeface="Wingdings"/>
              <a:buChar char=""/>
              <a:tabLst>
                <a:tab pos="469265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What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year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was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sent?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565"/>
              </a:spcBef>
              <a:buFont typeface="Wingdings"/>
              <a:buChar char=""/>
              <a:tabLst>
                <a:tab pos="469265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What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 the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Message-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ID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value?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(without &gt;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&lt;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62910" y="3586098"/>
            <a:ext cx="284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55A11"/>
                </a:solidFill>
                <a:latin typeface="Times New Roman"/>
                <a:cs typeface="Times New Roman"/>
              </a:rPr>
              <a:t>SAMPLE</a:t>
            </a:r>
            <a:r>
              <a:rPr sz="18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55A11"/>
                </a:solidFill>
                <a:latin typeface="Times New Roman"/>
                <a:cs typeface="Times New Roman"/>
              </a:rPr>
              <a:t>EMAIL</a:t>
            </a:r>
            <a:r>
              <a:rPr sz="1800" b="1" spc="-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HEADER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879" y="4055998"/>
            <a:ext cx="2043430" cy="17081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0"/>
              </a:lnSpc>
            </a:pPr>
            <a:r>
              <a:rPr sz="1100" i="1" spc="-10" dirty="0">
                <a:latin typeface="Calibri"/>
                <a:cs typeface="Calibri"/>
              </a:rPr>
              <a:t>Delivered-</a:t>
            </a:r>
            <a:r>
              <a:rPr sz="1100" i="1" dirty="0">
                <a:latin typeface="Calibri"/>
                <a:cs typeface="Calibri"/>
              </a:rPr>
              <a:t>To:</a:t>
            </a:r>
            <a:r>
              <a:rPr sz="1100" i="1" spc="3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  <a:hlinkClick r:id="rId2"/>
              </a:rPr>
              <a:t>ogunal@letsdefend.io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179" y="4202404"/>
            <a:ext cx="6825615" cy="156083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i="1" dirty="0">
                <a:latin typeface="Calibri"/>
                <a:cs typeface="Calibri"/>
              </a:rPr>
              <a:t>Received: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by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2002:a05:6400:159:0:0:0:0 </a:t>
            </a:r>
            <a:r>
              <a:rPr sz="1100" i="1" dirty="0">
                <a:latin typeface="Calibri"/>
                <a:cs typeface="Calibri"/>
              </a:rPr>
              <a:t>with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SMTP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id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hw25csp1949486ecb;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Mon,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21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Mar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2022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13:45:24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-</a:t>
            </a:r>
            <a:r>
              <a:rPr sz="1100" i="1" dirty="0">
                <a:latin typeface="Calibri"/>
                <a:cs typeface="Calibri"/>
              </a:rPr>
              <a:t>0700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(PDT)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52300"/>
              </a:lnSpc>
              <a:spcBef>
                <a:spcPts val="5"/>
              </a:spcBef>
            </a:pPr>
            <a:r>
              <a:rPr sz="1100" i="1" spc="-10" dirty="0">
                <a:latin typeface="Calibri"/>
                <a:cs typeface="Calibri"/>
              </a:rPr>
              <a:t>X-Google-Smtp-</a:t>
            </a:r>
            <a:r>
              <a:rPr sz="1100" i="1" dirty="0">
                <a:latin typeface="Calibri"/>
                <a:cs typeface="Calibri"/>
              </a:rPr>
              <a:t>Source: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ABdhPJzA6syR+DNCl4k2HAsTVGRMTuZ8qBPoI7WZhdA2aQRebfOMIA6xySOrt/bkng1NaGtoG3CB X-</a:t>
            </a:r>
            <a:r>
              <a:rPr sz="1100" i="1" dirty="0">
                <a:latin typeface="Calibri"/>
                <a:cs typeface="Calibri"/>
              </a:rPr>
              <a:t>Received: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by</a:t>
            </a:r>
            <a:r>
              <a:rPr sz="1100" i="1" spc="-10" dirty="0">
                <a:latin typeface="Calibri"/>
                <a:cs typeface="Calibri"/>
              </a:rPr>
              <a:t> 2002:a25:1344:0:b0:633:7592:9c0f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with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SMTP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id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spc="-25" dirty="0">
                <a:latin typeface="Calibri"/>
                <a:cs typeface="Calibri"/>
              </a:rPr>
              <a:t>65- </a:t>
            </a:r>
            <a:r>
              <a:rPr sz="1100" i="1" spc="-10" dirty="0">
                <a:latin typeface="Calibri"/>
                <a:cs typeface="Calibri"/>
              </a:rPr>
              <a:t>20020a251344000000b0063375929c0fmr24595651ybt.211.1647895524591; </a:t>
            </a:r>
            <a:r>
              <a:rPr sz="1100" i="1" dirty="0">
                <a:latin typeface="Calibri"/>
                <a:cs typeface="Calibri"/>
              </a:rPr>
              <a:t>Mon,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21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Mar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2022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13:45:24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spc="-15" dirty="0">
                <a:latin typeface="Calibri"/>
                <a:cs typeface="Calibri"/>
              </a:rPr>
              <a:t>-</a:t>
            </a:r>
            <a:r>
              <a:rPr sz="1100" i="1" dirty="0">
                <a:latin typeface="Calibri"/>
                <a:cs typeface="Calibri"/>
              </a:rPr>
              <a:t>0700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(PDT)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100" i="1" spc="-10" dirty="0">
                <a:latin typeface="Calibri"/>
                <a:cs typeface="Calibri"/>
              </a:rPr>
              <a:t>ARC-Authentication-</a:t>
            </a:r>
            <a:r>
              <a:rPr sz="1100" i="1" dirty="0">
                <a:latin typeface="Calibri"/>
                <a:cs typeface="Calibri"/>
              </a:rPr>
              <a:t>Results: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i=1;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mx.google.com;</a:t>
            </a:r>
            <a:endParaRPr sz="110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700"/>
              </a:spcBef>
            </a:pPr>
            <a:r>
              <a:rPr sz="1100" i="1" dirty="0">
                <a:latin typeface="Calibri"/>
                <a:cs typeface="Calibri"/>
              </a:rPr>
              <a:t>dkim=pass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  <a:hlinkClick r:id="rId3"/>
              </a:rPr>
              <a:t>header.i=@mailchimpapp.net</a:t>
            </a:r>
            <a:r>
              <a:rPr sz="1100" i="1" spc="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header.s=k3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header.b=LDGOzGog;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5384" y="5846953"/>
            <a:ext cx="6880859" cy="17081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0"/>
              </a:lnSpc>
            </a:pPr>
            <a:r>
              <a:rPr sz="1100" i="1" dirty="0">
                <a:latin typeface="Calibri"/>
                <a:cs typeface="Calibri"/>
              </a:rPr>
              <a:t>spf=pass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(google.com:</a:t>
            </a:r>
            <a:r>
              <a:rPr sz="1100" i="1" spc="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domain</a:t>
            </a:r>
            <a:r>
              <a:rPr sz="1100" i="1" spc="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of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  <a:hlinkClick r:id="rId4"/>
              </a:rPr>
              <a:t>bounce-mc.us14_171215441.8996217-675c34a61f@mail41.suw13.rsgsv.net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designates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2879" y="6102984"/>
            <a:ext cx="1960880" cy="17081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0"/>
              </a:lnSpc>
            </a:pPr>
            <a:r>
              <a:rPr sz="1100" i="1" spc="-10" dirty="0">
                <a:latin typeface="Calibri"/>
                <a:cs typeface="Calibri"/>
              </a:rPr>
              <a:t>198.2.183.41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as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permitted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sender)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50110" y="6081140"/>
            <a:ext cx="527050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spc="-10" dirty="0">
                <a:latin typeface="Calibri"/>
                <a:cs typeface="Calibri"/>
                <a:hlinkClick r:id="rId5"/>
              </a:rPr>
              <a:t>smtp.mailfrom=bounce-mc.us14_171215441.8996217-675c34a61f@mail41.suw13.rsgsv.net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179" y="6337172"/>
            <a:ext cx="525907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spc="-10" dirty="0">
                <a:latin typeface="Calibri"/>
                <a:cs typeface="Calibri"/>
              </a:rPr>
              <a:t>Return-</a:t>
            </a:r>
            <a:r>
              <a:rPr sz="1100" i="1" dirty="0">
                <a:latin typeface="Calibri"/>
                <a:cs typeface="Calibri"/>
              </a:rPr>
              <a:t>Path:</a:t>
            </a:r>
            <a:r>
              <a:rPr sz="1100" i="1" spc="114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  <a:hlinkClick r:id="rId4"/>
              </a:rPr>
              <a:t>&lt;bounce-mc.us14_171215441.8996217-675c34a61f@mail41.suw13.rsgsv.net</a:t>
            </a:r>
            <a:r>
              <a:rPr sz="1100" i="1" spc="-10" dirty="0">
                <a:latin typeface="Calibri"/>
                <a:cs typeface="Calibri"/>
              </a:rPr>
              <a:t>&gt;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2879" y="6615048"/>
            <a:ext cx="4561205" cy="16954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0"/>
              </a:lnSpc>
            </a:pPr>
            <a:r>
              <a:rPr sz="1100" i="1" dirty="0">
                <a:latin typeface="Calibri"/>
                <a:cs typeface="Calibri"/>
              </a:rPr>
              <a:t>Received: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from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mail41.suw13.rsgsv.net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(mail41.suw13.rsgsv.net.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[198.2.183.41])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7387" y="6869556"/>
            <a:ext cx="6650990" cy="17081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0"/>
              </a:lnSpc>
            </a:pPr>
            <a:r>
              <a:rPr sz="1100" i="1" dirty="0">
                <a:latin typeface="Calibri"/>
                <a:cs typeface="Calibri"/>
              </a:rPr>
              <a:t>by</a:t>
            </a:r>
            <a:r>
              <a:rPr sz="1100" i="1" spc="-10" dirty="0">
                <a:latin typeface="Calibri"/>
                <a:cs typeface="Calibri"/>
              </a:rPr>
              <a:t> mx.google.com</a:t>
            </a:r>
            <a:r>
              <a:rPr sz="1100" i="1" dirty="0">
                <a:latin typeface="Calibri"/>
                <a:cs typeface="Calibri"/>
              </a:rPr>
              <a:t> with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ESMTPS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id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o5-20020a0dcc05000000b002e5bb9dca69si6996501ywd.242.2022.03.21.13.45.23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2879" y="7125589"/>
            <a:ext cx="1832610" cy="17081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254000">
              <a:lnSpc>
                <a:spcPts val="1250"/>
              </a:lnSpc>
            </a:pPr>
            <a:r>
              <a:rPr sz="1100" i="1" dirty="0">
                <a:latin typeface="Calibri"/>
                <a:cs typeface="Calibri"/>
              </a:rPr>
              <a:t>for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&lt;</a:t>
            </a:r>
            <a:r>
              <a:rPr sz="1100" i="1" spc="-10" dirty="0">
                <a:latin typeface="Calibri"/>
                <a:cs typeface="Calibri"/>
                <a:hlinkClick r:id="rId2"/>
              </a:rPr>
              <a:t>ogunal@letsdefend.io&gt;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4687" y="7360157"/>
            <a:ext cx="6747509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10" dirty="0">
                <a:latin typeface="Calibri"/>
                <a:cs typeface="Calibri"/>
              </a:rPr>
              <a:t>(version=TLS1_2 cipher=ECDHE-ECDSA-AES128-GCM-</a:t>
            </a:r>
            <a:r>
              <a:rPr sz="1100" i="1" dirty="0">
                <a:latin typeface="Calibri"/>
                <a:cs typeface="Calibri"/>
              </a:rPr>
              <a:t>SHA256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bits=128/128);</a:t>
            </a:r>
            <a:r>
              <a:rPr sz="1100" i="1" spc="229" dirty="0">
                <a:latin typeface="Calibri"/>
                <a:cs typeface="Calibri"/>
              </a:rPr>
              <a:t>  </a:t>
            </a:r>
            <a:r>
              <a:rPr sz="1100" i="1" dirty="0">
                <a:latin typeface="Calibri"/>
                <a:cs typeface="Calibri"/>
              </a:rPr>
              <a:t>Mon,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21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Mar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2022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13:45:24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spc="-15" dirty="0">
                <a:latin typeface="Calibri"/>
                <a:cs typeface="Calibri"/>
              </a:rPr>
              <a:t>-</a:t>
            </a:r>
            <a:r>
              <a:rPr sz="1100" i="1" dirty="0">
                <a:latin typeface="Calibri"/>
                <a:cs typeface="Calibri"/>
              </a:rPr>
              <a:t>0700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(PDT)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2879" y="7638033"/>
            <a:ext cx="6816725" cy="17081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0"/>
              </a:lnSpc>
            </a:pPr>
            <a:r>
              <a:rPr sz="1100" i="1" spc="-10" dirty="0">
                <a:latin typeface="Calibri"/>
                <a:cs typeface="Calibri"/>
              </a:rPr>
              <a:t>Received-</a:t>
            </a:r>
            <a:r>
              <a:rPr sz="1100" i="1" dirty="0">
                <a:latin typeface="Calibri"/>
                <a:cs typeface="Calibri"/>
              </a:rPr>
              <a:t>SPF: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pass</a:t>
            </a:r>
            <a:r>
              <a:rPr sz="1100" i="1" spc="3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(google.com:</a:t>
            </a:r>
            <a:r>
              <a:rPr sz="1100" i="1" spc="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domain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of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  <a:hlinkClick r:id="rId4"/>
              </a:rPr>
              <a:t>bounce-mc.us14_171215441.8996217-675c34a61f@mail41.suw13.rsgsv.net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2879" y="7894066"/>
            <a:ext cx="3925570" cy="17081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0"/>
              </a:lnSpc>
            </a:pPr>
            <a:r>
              <a:rPr sz="1100" i="1" dirty="0">
                <a:latin typeface="Calibri"/>
                <a:cs typeface="Calibri"/>
              </a:rPr>
              <a:t>designates </a:t>
            </a:r>
            <a:r>
              <a:rPr sz="1100" i="1" spc="-10" dirty="0">
                <a:latin typeface="Calibri"/>
                <a:cs typeface="Calibri"/>
              </a:rPr>
              <a:t>198.2.183.41</a:t>
            </a:r>
            <a:r>
              <a:rPr sz="1100" i="1" dirty="0">
                <a:latin typeface="Calibri"/>
                <a:cs typeface="Calibri"/>
              </a:rPr>
              <a:t> as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permitted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sender)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client-ip=198.2.183.41;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27372" y="7872221"/>
            <a:ext cx="22834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10" dirty="0">
                <a:latin typeface="Calibri"/>
                <a:cs typeface="Calibri"/>
              </a:rPr>
              <a:t>Authentication-</a:t>
            </a:r>
            <a:r>
              <a:rPr sz="1100" i="1" dirty="0">
                <a:latin typeface="Calibri"/>
                <a:cs typeface="Calibri"/>
              </a:rPr>
              <a:t>Results: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mx.google.com;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28420" y="8404606"/>
            <a:ext cx="6357620" cy="170815"/>
          </a:xfrm>
          <a:custGeom>
            <a:avLst/>
            <a:gdLst/>
            <a:ahLst/>
            <a:cxnLst/>
            <a:rect l="l" t="t" r="r" b="b"/>
            <a:pathLst>
              <a:path w="6357620" h="170815">
                <a:moveTo>
                  <a:pt x="6357493" y="0"/>
                </a:moveTo>
                <a:lnTo>
                  <a:pt x="0" y="0"/>
                </a:lnTo>
                <a:lnTo>
                  <a:pt x="0" y="170688"/>
                </a:lnTo>
                <a:lnTo>
                  <a:pt x="6357493" y="170688"/>
                </a:lnTo>
                <a:lnTo>
                  <a:pt x="635749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92684" y="8041995"/>
            <a:ext cx="6904990" cy="53467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100" i="1" dirty="0">
                <a:latin typeface="Calibri"/>
                <a:cs typeface="Calibri"/>
              </a:rPr>
              <a:t>dkim=pass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  <a:hlinkClick r:id="rId3"/>
              </a:rPr>
              <a:t>header.i=@mailchimpapp.net</a:t>
            </a:r>
            <a:r>
              <a:rPr sz="1100" i="1" spc="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header.s=k3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header.b=LDGOzGog;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100" i="1" dirty="0">
                <a:latin typeface="Calibri"/>
                <a:cs typeface="Calibri"/>
              </a:rPr>
              <a:t>spf=pass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(google.com:</a:t>
            </a:r>
            <a:r>
              <a:rPr sz="1100" i="1" spc="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domain</a:t>
            </a:r>
            <a:r>
              <a:rPr sz="1100" i="1" spc="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of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  <a:hlinkClick r:id="rId4"/>
              </a:rPr>
              <a:t>bounce-mc.us14_171215441.8996217-675c34a61f@mail41.suw13.rsgsv.net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designates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2879" y="8660586"/>
            <a:ext cx="1960880" cy="17081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0"/>
              </a:lnSpc>
            </a:pPr>
            <a:r>
              <a:rPr sz="1100" i="1" spc="-10" dirty="0">
                <a:latin typeface="Calibri"/>
                <a:cs typeface="Calibri"/>
              </a:rPr>
              <a:t>198.2.183.41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as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permitted</a:t>
            </a:r>
            <a:r>
              <a:rPr sz="1100" i="1" spc="-10" dirty="0">
                <a:latin typeface="Calibri"/>
                <a:cs typeface="Calibri"/>
              </a:rPr>
              <a:t> sender)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50110" y="8638743"/>
            <a:ext cx="52717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10" dirty="0">
                <a:latin typeface="Calibri"/>
                <a:cs typeface="Calibri"/>
                <a:hlinkClick r:id="rId5"/>
              </a:rPr>
              <a:t>smtp.mailfrom=bounce-mc.us14_171215441.8996217-675c34a61f@mail41.suw13.rsgsv.net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2879" y="8916619"/>
            <a:ext cx="7173595" cy="17081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0"/>
              </a:lnSpc>
            </a:pPr>
            <a:r>
              <a:rPr sz="1100" i="1" dirty="0">
                <a:latin typeface="Calibri"/>
                <a:cs typeface="Calibri"/>
              </a:rPr>
              <a:t>Received: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from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localhost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(localhost</a:t>
            </a:r>
            <a:r>
              <a:rPr sz="1100" i="1" spc="2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[127.0.0.1])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by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mail41.suw13.rsgsv.net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(Mailchimp)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with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ESMTP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id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4KMmpW3vnnz9K82VW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2879" y="9172650"/>
            <a:ext cx="4429760" cy="17081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457200">
              <a:lnSpc>
                <a:spcPts val="1250"/>
              </a:lnSpc>
            </a:pPr>
            <a:r>
              <a:rPr sz="1100" i="1" dirty="0">
                <a:latin typeface="Calibri"/>
                <a:cs typeface="Calibri"/>
              </a:rPr>
              <a:t>for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  <a:hlinkClick r:id="rId2"/>
              </a:rPr>
              <a:t>&lt;ogunal@letsdefend.io&gt;;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Mon, 21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Mar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2022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20:45:23</a:t>
            </a:r>
            <a:r>
              <a:rPr sz="1100" i="1" dirty="0">
                <a:latin typeface="Calibri"/>
                <a:cs typeface="Calibri"/>
              </a:rPr>
              <a:t> +0000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(GMT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99813" y="9150807"/>
            <a:ext cx="6794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50" dirty="0"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0179" y="9407143"/>
            <a:ext cx="53784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Calibri"/>
                <a:cs typeface="Calibri"/>
              </a:rPr>
              <a:t>Subject: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=?utf-8?Q?Top=203=20Blog=20posts=20for=20SOC=20teams=C2=A0=F0=9F=91=80?=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79" y="435356"/>
            <a:ext cx="304419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Calibri"/>
                <a:cs typeface="Calibri"/>
              </a:rPr>
              <a:t>From: </a:t>
            </a:r>
            <a:r>
              <a:rPr sz="1100" i="1" spc="-10" dirty="0">
                <a:latin typeface="Calibri"/>
                <a:cs typeface="Calibri"/>
              </a:rPr>
              <a:t>=?utf-</a:t>
            </a:r>
            <a:r>
              <a:rPr sz="1100" i="1" dirty="0">
                <a:latin typeface="Calibri"/>
                <a:cs typeface="Calibri"/>
              </a:rPr>
              <a:t>8?Q?LetsDefend?= </a:t>
            </a:r>
            <a:r>
              <a:rPr sz="1100" i="1" spc="-10" dirty="0">
                <a:latin typeface="Calibri"/>
                <a:cs typeface="Calibri"/>
                <a:hlinkClick r:id="rId2"/>
              </a:rPr>
              <a:t>&lt;info@letsdefend.io&gt;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879" y="713231"/>
            <a:ext cx="3204210" cy="170815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0"/>
              </a:lnSpc>
            </a:pPr>
            <a:r>
              <a:rPr sz="1100" i="1" spc="-10" dirty="0">
                <a:latin typeface="Calibri"/>
                <a:cs typeface="Calibri"/>
              </a:rPr>
              <a:t>Reply-</a:t>
            </a:r>
            <a:r>
              <a:rPr sz="1100" i="1" dirty="0">
                <a:latin typeface="Calibri"/>
                <a:cs typeface="Calibri"/>
              </a:rPr>
              <a:t>To:</a:t>
            </a:r>
            <a:r>
              <a:rPr sz="1100" i="1" spc="5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=?utf-8?Q?LetsDefend?=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  <a:hlinkClick r:id="rId2"/>
              </a:rPr>
              <a:t>&lt;info@letsdefend.io&gt;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179" y="947673"/>
            <a:ext cx="16211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Calibri"/>
                <a:cs typeface="Calibri"/>
              </a:rPr>
              <a:t>To: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&lt;</a:t>
            </a:r>
            <a:r>
              <a:rPr sz="1100" i="1" spc="-10" dirty="0">
                <a:latin typeface="Calibri"/>
                <a:cs typeface="Calibri"/>
                <a:hlinkClick r:id="rId3"/>
              </a:rPr>
              <a:t>ogunal@letsdefend.io&gt;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879" y="1225550"/>
            <a:ext cx="2314575" cy="169545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0"/>
              </a:lnSpc>
            </a:pPr>
            <a:r>
              <a:rPr sz="1100" i="1" dirty="0">
                <a:latin typeface="Calibri"/>
                <a:cs typeface="Calibri"/>
              </a:rPr>
              <a:t>Date: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Mon,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21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Mar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2022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20:45:17 </a:t>
            </a:r>
            <a:r>
              <a:rPr sz="1100" i="1" spc="-20" dirty="0">
                <a:latin typeface="Calibri"/>
                <a:cs typeface="Calibri"/>
              </a:rPr>
              <a:t>+0000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2879" y="1480058"/>
            <a:ext cx="7065009" cy="170815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0"/>
              </a:lnSpc>
            </a:pPr>
            <a:r>
              <a:rPr sz="1100" i="1" spc="-10" dirty="0">
                <a:latin typeface="Calibri"/>
                <a:cs typeface="Calibri"/>
              </a:rPr>
              <a:t>Message-</a:t>
            </a:r>
            <a:r>
              <a:rPr sz="1100" i="1" dirty="0">
                <a:latin typeface="Calibri"/>
                <a:cs typeface="Calibri"/>
              </a:rPr>
              <a:t>ID: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&lt;</a:t>
            </a:r>
            <a:r>
              <a:rPr sz="1100" i="1" spc="-10" dirty="0">
                <a:latin typeface="Calibri"/>
                <a:cs typeface="Calibri"/>
                <a:hlinkClick r:id="rId4"/>
              </a:rPr>
              <a:t>74bda5edf824cea8aad36e707.675c34a61f.20220321204512.a02caaccf3.a268ce5a@mail41.suw13.rsgsv.net&gt;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179" y="1714246"/>
            <a:ext cx="10807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10" dirty="0">
                <a:latin typeface="Calibri"/>
                <a:cs typeface="Calibri"/>
              </a:rPr>
              <a:t>MIME-</a:t>
            </a:r>
            <a:r>
              <a:rPr sz="1100" i="1" dirty="0">
                <a:latin typeface="Calibri"/>
                <a:cs typeface="Calibri"/>
              </a:rPr>
              <a:t>Version:</a:t>
            </a:r>
            <a:r>
              <a:rPr sz="1100" i="1" spc="-25" dirty="0">
                <a:latin typeface="Calibri"/>
                <a:cs typeface="Calibri"/>
              </a:rPr>
              <a:t> 1.0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179" y="2395473"/>
            <a:ext cx="7428230" cy="3417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FAC46"/>
                </a:solidFill>
                <a:latin typeface="Times New Roman"/>
                <a:cs typeface="Times New Roman"/>
              </a:rPr>
              <a:t>Email</a:t>
            </a:r>
            <a:r>
              <a:rPr sz="1800" b="1" spc="-25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AC46"/>
                </a:solidFill>
                <a:latin typeface="Times New Roman"/>
                <a:cs typeface="Times New Roman"/>
              </a:rPr>
              <a:t>Header</a:t>
            </a:r>
            <a:r>
              <a:rPr sz="1800" b="1" spc="-35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6FAC46"/>
                </a:solidFill>
                <a:latin typeface="Times New Roman"/>
                <a:cs typeface="Times New Roman"/>
              </a:rPr>
              <a:t>Analysis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9300"/>
              </a:lnSpc>
              <a:spcBef>
                <a:spcPts val="1250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previous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sections</a:t>
            </a:r>
            <a:r>
              <a:rPr sz="11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</a:t>
            </a:r>
            <a:r>
              <a:rPr sz="1100" spc="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talked</a:t>
            </a:r>
            <a:r>
              <a:rPr sz="1100" spc="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about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what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 phishing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is,</a:t>
            </a:r>
            <a:r>
              <a:rPr sz="11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what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header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information</a:t>
            </a:r>
            <a:r>
              <a:rPr sz="1100" spc="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 what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 does.</a:t>
            </a:r>
            <a:r>
              <a:rPr sz="11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Now,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when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suspect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phishing,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will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know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what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should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do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what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analysis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process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should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like.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Here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are</a:t>
            </a:r>
            <a:r>
              <a:rPr sz="1100" b="1" spc="-2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the</a:t>
            </a:r>
            <a:r>
              <a:rPr sz="1100" b="1" spc="-2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key</a:t>
            </a:r>
            <a:r>
              <a:rPr sz="1100" b="1" spc="-3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questions</a:t>
            </a:r>
            <a:r>
              <a:rPr sz="1100" b="1" spc="-2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we</a:t>
            </a:r>
            <a:r>
              <a:rPr sz="1100" b="1" spc="-2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need</a:t>
            </a:r>
            <a:r>
              <a:rPr sz="1100" b="1" spc="-2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to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answer</a:t>
            </a:r>
            <a:r>
              <a:rPr sz="1100" b="1" spc="-3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when</a:t>
            </a:r>
            <a:r>
              <a:rPr sz="1100" b="1" spc="-1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checking</a:t>
            </a:r>
            <a:r>
              <a:rPr sz="1100" b="1" spc="-2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headings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during</a:t>
            </a:r>
            <a:r>
              <a:rPr sz="1100" b="1" spc="-2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Phishing</a:t>
            </a:r>
            <a:r>
              <a:rPr sz="1100" b="1" spc="-2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analysis:</a:t>
            </a: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Font typeface="Wingdings"/>
              <a:buChar char=""/>
              <a:tabLst>
                <a:tab pos="469265" algn="l"/>
              </a:tabLst>
            </a:pP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Was</a:t>
            </a:r>
            <a:r>
              <a:rPr sz="1100" b="1" spc="-3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the</a:t>
            </a:r>
            <a:r>
              <a:rPr sz="1100" b="1" spc="-1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email</a:t>
            </a:r>
            <a:r>
              <a:rPr sz="1100" b="1" spc="-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sent</a:t>
            </a:r>
            <a:r>
              <a:rPr sz="1100" b="1" spc="-2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from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the</a:t>
            </a:r>
            <a:r>
              <a:rPr sz="1100" b="1" spc="-1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correct</a:t>
            </a:r>
            <a:r>
              <a:rPr sz="1100" b="1" spc="-2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SMTP</a:t>
            </a:r>
            <a:r>
              <a:rPr sz="1100" b="1" spc="-1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server?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5"/>
              </a:spcBef>
              <a:buFont typeface="Wingdings"/>
              <a:buChar char=""/>
            </a:pP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Are</a:t>
            </a:r>
            <a:r>
              <a:rPr sz="1100" b="1" spc="-1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the</a:t>
            </a:r>
            <a:r>
              <a:rPr sz="1100" b="1" spc="-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data</a:t>
            </a:r>
            <a:r>
              <a:rPr sz="1100" b="1" spc="-1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"From" and</a:t>
            </a:r>
            <a:r>
              <a:rPr sz="1100" b="1" spc="-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"Return-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Path</a:t>
            </a:r>
            <a:r>
              <a:rPr sz="1100" b="1" spc="-2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/</a:t>
            </a:r>
            <a:r>
              <a:rPr sz="1100" b="1" spc="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Reply-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To" the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same?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35"/>
              </a:spcBef>
              <a:buFont typeface="Wingdings"/>
              <a:buChar char=""/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e-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examined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rest of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article: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Font typeface="Wingdings"/>
              <a:buChar char=""/>
              <a:tabLst>
                <a:tab pos="469265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password: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infected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130"/>
              </a:spcBef>
              <a:buFont typeface="Wingdings"/>
              <a:buChar char=""/>
              <a:tabLst>
                <a:tab pos="469265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ownload</a:t>
            </a:r>
            <a:r>
              <a:rPr sz="1100" spc="390" dirty="0">
                <a:solidFill>
                  <a:srgbClr val="944F71"/>
                </a:solidFill>
                <a:latin typeface="Arial MT"/>
                <a:cs typeface="Arial MT"/>
              </a:rPr>
              <a:t> 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Link:</a:t>
            </a:r>
            <a:r>
              <a:rPr sz="1100" spc="380" dirty="0">
                <a:solidFill>
                  <a:srgbClr val="944F71"/>
                </a:solidFill>
                <a:latin typeface="Arial MT"/>
                <a:cs typeface="Arial MT"/>
              </a:rPr>
              <a:t> 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https://drive.google.com/file/d/1x4BQF9zdR2l913elSQtixb-</a:t>
            </a:r>
            <a:r>
              <a:rPr sz="1100" spc="-10" dirty="0">
                <a:solidFill>
                  <a:srgbClr val="944F71"/>
                </a:solidFill>
                <a:latin typeface="Arial MT"/>
                <a:cs typeface="Arial MT"/>
              </a:rPr>
              <a:t>kmi9Jan_6/view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1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A.</a:t>
            </a:r>
            <a:r>
              <a:rPr sz="14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Was</a:t>
            </a:r>
            <a:r>
              <a:rPr sz="1400" b="1" u="sng" spc="-1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the</a:t>
            </a:r>
            <a:r>
              <a:rPr sz="1400" b="1" u="sng" spc="-1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email</a:t>
            </a:r>
            <a:r>
              <a:rPr sz="1400" b="1" u="sng" spc="-1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sent</a:t>
            </a:r>
            <a:r>
              <a:rPr sz="14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from</a:t>
            </a:r>
            <a:r>
              <a:rPr sz="1400" b="1" u="sng" spc="-2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the</a:t>
            </a:r>
            <a:r>
              <a:rPr sz="1400" b="1" u="sng" spc="-2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correct</a:t>
            </a:r>
            <a:r>
              <a:rPr sz="1400" b="1" u="sng" spc="-3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SMTP</a:t>
            </a:r>
            <a:r>
              <a:rPr sz="1400" b="1" u="sng" spc="-2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server?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1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check</a:t>
            </a:r>
            <a:r>
              <a:rPr sz="1100" spc="2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"Received"</a:t>
            </a:r>
            <a:r>
              <a:rPr sz="1100" spc="2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field</a:t>
            </a:r>
            <a:r>
              <a:rPr sz="1100" spc="1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2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see</a:t>
            </a:r>
            <a:r>
              <a:rPr sz="1100" spc="1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path</a:t>
            </a:r>
            <a:r>
              <a:rPr sz="1100" spc="1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followed</a:t>
            </a:r>
            <a:r>
              <a:rPr sz="1100" spc="2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by</a:t>
            </a:r>
            <a:r>
              <a:rPr sz="1100" spc="2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mail.</a:t>
            </a:r>
            <a:r>
              <a:rPr sz="1100" spc="2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As</a:t>
            </a:r>
            <a:r>
              <a:rPr sz="1100" spc="1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20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image</a:t>
            </a:r>
            <a:r>
              <a:rPr sz="1100" spc="1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below</a:t>
            </a:r>
            <a:r>
              <a:rPr sz="1100" spc="1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shows,</a:t>
            </a:r>
            <a:r>
              <a:rPr sz="1100" spc="2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20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2879" y="5827140"/>
            <a:ext cx="1120775" cy="1600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5"/>
              </a:lnSpc>
            </a:pP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"101[.]99.94.116"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8674" y="5800725"/>
            <a:ext cx="17094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from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IP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server.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179" y="7140320"/>
            <a:ext cx="6591934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If</a:t>
            </a:r>
            <a:r>
              <a:rPr sz="1100" b="1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we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look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at</a:t>
            </a:r>
            <a:r>
              <a:rPr sz="11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who</a:t>
            </a:r>
            <a:r>
              <a:rPr sz="1100" b="1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is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sending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mail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("sender"),</a:t>
            </a:r>
            <a:r>
              <a:rPr sz="1100" b="1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we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see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that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it came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from the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domain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Letsdefend.io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179" y="8051139"/>
            <a:ext cx="7431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100"/>
              </a:spcBef>
            </a:pP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So</a:t>
            </a:r>
            <a:r>
              <a:rPr sz="1100" spc="-2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under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normal</a:t>
            </a:r>
            <a:r>
              <a:rPr sz="1100" spc="-3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circumstances,</a:t>
            </a:r>
            <a:r>
              <a:rPr sz="1100" spc="-3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"letsdefend.io"</a:t>
            </a:r>
            <a:r>
              <a:rPr sz="1100" spc="-3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should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use,</a:t>
            </a:r>
            <a:r>
              <a:rPr sz="1100" spc="-3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"101[.]99.94.116"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to</a:t>
            </a:r>
            <a:r>
              <a:rPr sz="1100" spc="-3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send</a:t>
            </a:r>
            <a:r>
              <a:rPr sz="1100" spc="-3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mail.</a:t>
            </a:r>
            <a:r>
              <a:rPr sz="1100" spc="-4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To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confirm</a:t>
            </a:r>
            <a:r>
              <a:rPr sz="1100" spc="-3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this</a:t>
            </a:r>
            <a:r>
              <a:rPr sz="1100" spc="-2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situation,</a:t>
            </a:r>
            <a:r>
              <a:rPr sz="1100" spc="-5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C55A11"/>
                </a:solidFill>
                <a:latin typeface="Arial MT"/>
                <a:cs typeface="Arial MT"/>
              </a:rPr>
              <a:t>We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can</a:t>
            </a:r>
            <a:r>
              <a:rPr sz="1100" spc="-3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query</a:t>
            </a:r>
            <a:r>
              <a:rPr sz="1100" spc="-2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MX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servers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actively</a:t>
            </a:r>
            <a:r>
              <a:rPr sz="1100" spc="-2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used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by</a:t>
            </a:r>
            <a:r>
              <a:rPr sz="1100" spc="-2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"letsdefend.io"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9400" y="6145267"/>
            <a:ext cx="7336009" cy="70206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95500" y="7452359"/>
            <a:ext cx="3353909" cy="3246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879" y="457200"/>
            <a:ext cx="1170940" cy="1600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5"/>
              </a:lnSpc>
            </a:pP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"mxtoolbox.com"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80489" y="430784"/>
            <a:ext cx="48526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helps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by</a:t>
            </a:r>
            <a:r>
              <a:rPr sz="11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showing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you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MX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servers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used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by</a:t>
            </a:r>
            <a:r>
              <a:rPr sz="11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domain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you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searched.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179" y="4432528"/>
            <a:ext cx="7428230" cy="678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100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If</a:t>
            </a:r>
            <a:r>
              <a:rPr sz="1100" spc="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</a:t>
            </a:r>
            <a:r>
              <a:rPr sz="1100" spc="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look</a:t>
            </a:r>
            <a:r>
              <a:rPr sz="1100" spc="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</a:t>
            </a:r>
            <a:r>
              <a:rPr sz="1100" spc="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image</a:t>
            </a:r>
            <a:r>
              <a:rPr sz="1100" spc="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above,</a:t>
            </a:r>
            <a:r>
              <a:rPr sz="1100" spc="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"letsdefend.io"</a:t>
            </a:r>
            <a:r>
              <a:rPr sz="1100" spc="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domain</a:t>
            </a:r>
            <a:r>
              <a:rPr sz="1100" spc="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uses</a:t>
            </a:r>
            <a:r>
              <a:rPr sz="1100" spc="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Google</a:t>
            </a:r>
            <a:r>
              <a:rPr sz="1100" spc="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addresses</a:t>
            </a:r>
            <a:r>
              <a:rPr sz="1100" spc="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as</a:t>
            </a:r>
            <a:r>
              <a:rPr sz="1100" spc="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</a:t>
            </a:r>
            <a:r>
              <a:rPr sz="1100" spc="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server.</a:t>
            </a:r>
            <a:r>
              <a:rPr sz="1100" spc="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So</a:t>
            </a:r>
            <a:r>
              <a:rPr sz="1100" spc="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there</a:t>
            </a:r>
            <a:r>
              <a:rPr sz="1100" spc="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no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relationship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with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emkei[.]cz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or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"101[.]99.94.116"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addresses.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check,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was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determined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did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not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come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from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original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address,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but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was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spoofed.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179" y="5773292"/>
            <a:ext cx="7434580" cy="11893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B. </a:t>
            </a:r>
            <a:r>
              <a:rPr sz="1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Are</a:t>
            </a:r>
            <a:r>
              <a:rPr sz="1400" b="1" u="sng" spc="-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the</a:t>
            </a:r>
            <a:r>
              <a:rPr sz="1400" b="1" u="sng" spc="-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data</a:t>
            </a:r>
            <a:r>
              <a:rPr sz="1400" b="1" u="sng" spc="-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"From"</a:t>
            </a:r>
            <a:r>
              <a:rPr sz="1400" b="1" u="sng" spc="-1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and</a:t>
            </a:r>
            <a:r>
              <a:rPr sz="1400" b="1" u="sng" spc="-1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"Return-</a:t>
            </a:r>
            <a:r>
              <a:rPr sz="1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Path</a:t>
            </a:r>
            <a:r>
              <a:rPr sz="14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/</a:t>
            </a:r>
            <a:r>
              <a:rPr sz="1400" b="1" u="sng" spc="-1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Reply-</a:t>
            </a:r>
            <a:r>
              <a:rPr sz="1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To"</a:t>
            </a:r>
            <a:r>
              <a:rPr sz="1400" b="1" u="sng" spc="-1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the </a:t>
            </a:r>
            <a:r>
              <a:rPr sz="14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same?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9100"/>
              </a:lnSpc>
              <a:spcBef>
                <a:spcPts val="885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Except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exceptional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cases,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expect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sender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e-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person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receiving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responses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same.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example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why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these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areas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are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used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differently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Phishing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attacks:</a:t>
            </a:r>
            <a:endParaRPr sz="1100">
              <a:latin typeface="Arial MT"/>
              <a:cs typeface="Arial MT"/>
            </a:endParaRPr>
          </a:p>
          <a:p>
            <a:pPr marL="12700" marR="8255">
              <a:lnSpc>
                <a:spcPct val="109100"/>
              </a:lnSpc>
              <a:spcBef>
                <a:spcPts val="830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Returning</a:t>
            </a:r>
            <a:r>
              <a:rPr sz="1100" spc="10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e-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</a:t>
            </a:r>
            <a:r>
              <a:rPr sz="1100" spc="1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downloaded</a:t>
            </a:r>
            <a:r>
              <a:rPr sz="1100" spc="1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above,</a:t>
            </a:r>
            <a:r>
              <a:rPr sz="1100" spc="10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all</a:t>
            </a:r>
            <a:r>
              <a:rPr sz="1100" spc="1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</a:t>
            </a:r>
            <a:r>
              <a:rPr sz="1100" spc="1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have</a:t>
            </a:r>
            <a:r>
              <a:rPr sz="1100" spc="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1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do</a:t>
            </a:r>
            <a:r>
              <a:rPr sz="1100" spc="1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1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compare</a:t>
            </a:r>
            <a:r>
              <a:rPr sz="1100" spc="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addresses</a:t>
            </a:r>
            <a:r>
              <a:rPr sz="1100" spc="1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1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"From"</a:t>
            </a:r>
            <a:r>
              <a:rPr sz="1100" spc="1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and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"Reply-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to"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fields.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179" y="8348370"/>
            <a:ext cx="7435850" cy="9906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43600"/>
              </a:lnSpc>
              <a:spcBef>
                <a:spcPts val="110"/>
              </a:spcBef>
            </a:pP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As</a:t>
            </a:r>
            <a:r>
              <a:rPr sz="1100" spc="-4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you</a:t>
            </a:r>
            <a:r>
              <a:rPr sz="1100" spc="-4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can</a:t>
            </a:r>
            <a:r>
              <a:rPr sz="1100" spc="-5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see,</a:t>
            </a:r>
            <a:r>
              <a:rPr sz="1100" spc="-5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the</a:t>
            </a:r>
            <a:r>
              <a:rPr sz="1100" spc="-4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data</a:t>
            </a:r>
            <a:r>
              <a:rPr sz="1100" spc="-5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is</a:t>
            </a:r>
            <a:r>
              <a:rPr sz="1100" spc="-4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different.</a:t>
            </a:r>
            <a:r>
              <a:rPr sz="1100" spc="-5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In</a:t>
            </a:r>
            <a:r>
              <a:rPr sz="1100" spc="-4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other</a:t>
            </a:r>
            <a:r>
              <a:rPr sz="1100" spc="-5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words,</a:t>
            </a:r>
            <a:r>
              <a:rPr sz="1100" spc="-4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when</a:t>
            </a:r>
            <a:r>
              <a:rPr sz="1100" spc="-4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we</a:t>
            </a:r>
            <a:r>
              <a:rPr sz="1100" spc="-4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want</a:t>
            </a:r>
            <a:r>
              <a:rPr sz="1100" spc="-4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to</a:t>
            </a:r>
            <a:r>
              <a:rPr sz="1100" spc="-4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reply</a:t>
            </a:r>
            <a:r>
              <a:rPr sz="1100" spc="-6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to</a:t>
            </a:r>
            <a:r>
              <a:rPr sz="1100" spc="-5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this</a:t>
            </a:r>
            <a:r>
              <a:rPr sz="1100" spc="-4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e-mail,</a:t>
            </a:r>
            <a:r>
              <a:rPr sz="1100" spc="-4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we</a:t>
            </a:r>
            <a:r>
              <a:rPr sz="1100" spc="-4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will</a:t>
            </a:r>
            <a:r>
              <a:rPr sz="1100" spc="-5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send</a:t>
            </a:r>
            <a:r>
              <a:rPr sz="1100" spc="-5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a</a:t>
            </a:r>
            <a:r>
              <a:rPr sz="1100" spc="-4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reply</a:t>
            </a:r>
            <a:r>
              <a:rPr sz="1100" spc="-5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to</a:t>
            </a:r>
            <a:r>
              <a:rPr sz="1100" spc="-5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the</a:t>
            </a:r>
            <a:r>
              <a:rPr sz="1100" spc="-7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gmail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address</a:t>
            </a:r>
            <a:r>
              <a:rPr sz="1100" spc="-5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below.</a:t>
            </a:r>
            <a:r>
              <a:rPr sz="1100" spc="-4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Just</a:t>
            </a:r>
            <a:r>
              <a:rPr sz="1100" spc="-3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because</a:t>
            </a:r>
            <a:r>
              <a:rPr sz="1100" spc="-6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this</a:t>
            </a:r>
            <a:r>
              <a:rPr sz="1100" spc="-4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data</a:t>
            </a:r>
            <a:r>
              <a:rPr sz="1100" spc="-6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is</a:t>
            </a:r>
            <a:r>
              <a:rPr sz="1100" spc="-5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different</a:t>
            </a:r>
            <a:r>
              <a:rPr sz="1100" spc="-5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doesn't</a:t>
            </a:r>
            <a:r>
              <a:rPr sz="1100" spc="-5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always</a:t>
            </a:r>
            <a:r>
              <a:rPr sz="1100" spc="-4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mean</a:t>
            </a:r>
            <a:r>
              <a:rPr sz="1100" spc="-5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it's</a:t>
            </a:r>
            <a:r>
              <a:rPr sz="1100" spc="-6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definitely</a:t>
            </a:r>
            <a:r>
              <a:rPr sz="1100" spc="-6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a</a:t>
            </a:r>
            <a:r>
              <a:rPr sz="1100" spc="-4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phishing</a:t>
            </a:r>
            <a:r>
              <a:rPr sz="1100" spc="-4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email,</a:t>
            </a:r>
            <a:r>
              <a:rPr sz="1100" spc="-5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we</a:t>
            </a:r>
            <a:r>
              <a:rPr sz="1100" spc="-4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need</a:t>
            </a:r>
            <a:r>
              <a:rPr sz="1100" spc="-6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to</a:t>
            </a:r>
            <a:r>
              <a:rPr sz="1100" spc="-6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consider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the</a:t>
            </a:r>
            <a:r>
              <a:rPr sz="1100" spc="7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event</a:t>
            </a:r>
            <a:r>
              <a:rPr sz="1100" spc="8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as</a:t>
            </a:r>
            <a:r>
              <a:rPr sz="1100" spc="7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a</a:t>
            </a:r>
            <a:r>
              <a:rPr sz="1100" spc="7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whole.</a:t>
            </a:r>
            <a:r>
              <a:rPr sz="1100" spc="8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In</a:t>
            </a:r>
            <a:r>
              <a:rPr sz="1100" spc="7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other</a:t>
            </a:r>
            <a:r>
              <a:rPr sz="1100" spc="8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words,</a:t>
            </a:r>
            <a:r>
              <a:rPr sz="1100" spc="8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in</a:t>
            </a:r>
            <a:r>
              <a:rPr sz="1100" spc="7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addition</a:t>
            </a:r>
            <a:r>
              <a:rPr sz="1100" spc="6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to</a:t>
            </a:r>
            <a:r>
              <a:rPr sz="1100" spc="7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this</a:t>
            </a:r>
            <a:r>
              <a:rPr sz="1100" spc="8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suspicious</a:t>
            </a:r>
            <a:r>
              <a:rPr sz="1100" spc="8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situation,</a:t>
            </a:r>
            <a:r>
              <a:rPr sz="1100" spc="8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if</a:t>
            </a:r>
            <a:r>
              <a:rPr sz="1100" spc="9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there</a:t>
            </a:r>
            <a:r>
              <a:rPr sz="1100" spc="7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is</a:t>
            </a:r>
            <a:r>
              <a:rPr sz="1100" spc="8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a</a:t>
            </a:r>
            <a:r>
              <a:rPr sz="1100" spc="11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harmful</a:t>
            </a:r>
            <a:r>
              <a:rPr sz="1100" spc="7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attachment,</a:t>
            </a:r>
            <a:r>
              <a:rPr sz="1100" spc="8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URL</a:t>
            </a:r>
            <a:r>
              <a:rPr sz="1100" spc="7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C55A11"/>
                </a:solidFill>
                <a:latin typeface="Arial MT"/>
                <a:cs typeface="Arial MT"/>
              </a:rPr>
              <a:t>or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misleading</a:t>
            </a:r>
            <a:r>
              <a:rPr sz="1100" spc="-1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content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in</a:t>
            </a:r>
            <a:r>
              <a:rPr sz="1100" spc="-3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the</a:t>
            </a:r>
            <a:r>
              <a:rPr sz="1100" spc="-3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e-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mail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content,</a:t>
            </a:r>
            <a:r>
              <a:rPr sz="1100" spc="-3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we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can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understand</a:t>
            </a:r>
            <a:r>
              <a:rPr sz="1100" spc="-3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that</a:t>
            </a:r>
            <a:r>
              <a:rPr sz="1100" spc="-2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the</a:t>
            </a:r>
            <a:r>
              <a:rPr sz="1100" spc="-3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e-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mail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is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phishing.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79" y="743712"/>
            <a:ext cx="7435596" cy="329847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467" y="7174405"/>
            <a:ext cx="4154758" cy="10687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79" y="430784"/>
            <a:ext cx="7435215" cy="2849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Course</a:t>
            </a:r>
            <a:r>
              <a:rPr sz="1100" b="1" u="sng" spc="-4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Files</a:t>
            </a: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Font typeface="Wingdings"/>
              <a:buChar char=""/>
              <a:tabLst>
                <a:tab pos="469265" algn="l"/>
              </a:tabLst>
            </a:pP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Filename:</a:t>
            </a:r>
            <a:r>
              <a:rPr sz="1100" b="1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Header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Challenge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135"/>
              </a:spcBef>
              <a:buFont typeface="Wingdings"/>
              <a:buChar char=""/>
              <a:tabLst>
                <a:tab pos="469265" algn="l"/>
              </a:tabLst>
            </a:pP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Size: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2,69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KB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130"/>
              </a:spcBef>
              <a:buFont typeface="Wingdings"/>
              <a:buChar char=""/>
              <a:tabLst>
                <a:tab pos="469265" algn="l"/>
              </a:tabLst>
            </a:pP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Password: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infected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135"/>
              </a:spcBef>
              <a:buClr>
                <a:srgbClr val="001F5F"/>
              </a:buClr>
              <a:buFont typeface="Wingdings"/>
              <a:buChar char=""/>
              <a:tabLst>
                <a:tab pos="469265" algn="l"/>
              </a:tabLst>
            </a:pPr>
            <a:r>
              <a:rPr sz="1100" b="1" dirty="0">
                <a:solidFill>
                  <a:srgbClr val="944F71"/>
                </a:solidFill>
                <a:latin typeface="Arial"/>
                <a:cs typeface="Arial"/>
              </a:rPr>
              <a:t>Download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:</a:t>
            </a:r>
            <a:r>
              <a:rPr sz="1100" spc="470" dirty="0">
                <a:solidFill>
                  <a:srgbClr val="001F5F"/>
                </a:solidFill>
                <a:latin typeface="Arial MT"/>
                <a:cs typeface="Arial MT"/>
              </a:rPr>
              <a:t>  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https://drive.google.com/file/d/1x4BQF9zdR2l913elSQtixb-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kmi9Jan_6/view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LAB</a:t>
            </a:r>
            <a:r>
              <a:rPr sz="1100" b="1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Questions</a:t>
            </a:r>
            <a:endParaRPr sz="1100">
              <a:latin typeface="Arial"/>
              <a:cs typeface="Arial"/>
            </a:endParaRPr>
          </a:p>
          <a:p>
            <a:pPr marL="466725" indent="-225425">
              <a:lnSpc>
                <a:spcPct val="100000"/>
              </a:lnSpc>
              <a:spcBef>
                <a:spcPts val="960"/>
              </a:spcBef>
              <a:buFont typeface="Arial"/>
              <a:buAutoNum type="arabicPeriod"/>
              <a:tabLst>
                <a:tab pos="466725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If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want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reply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email,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which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will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sent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to?</a:t>
            </a:r>
            <a:endParaRPr sz="1100">
              <a:latin typeface="Arial MT"/>
              <a:cs typeface="Arial MT"/>
            </a:endParaRPr>
          </a:p>
          <a:p>
            <a:pPr marL="927100" lvl="1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927100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open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with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text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editor</a:t>
            </a:r>
            <a:r>
              <a:rPr sz="11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check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reply-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field</a:t>
            </a:r>
            <a:endParaRPr sz="1100">
              <a:latin typeface="Arial MT"/>
              <a:cs typeface="Arial MT"/>
            </a:endParaRPr>
          </a:p>
          <a:p>
            <a:pPr marL="466725" indent="-225425">
              <a:lnSpc>
                <a:spcPct val="100000"/>
              </a:lnSpc>
              <a:spcBef>
                <a:spcPts val="140"/>
              </a:spcBef>
              <a:buFont typeface="Arial"/>
              <a:buAutoNum type="arabicPeriod"/>
              <a:tabLst>
                <a:tab pos="466725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From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which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IP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was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sent?</a:t>
            </a:r>
            <a:endParaRPr sz="1100">
              <a:latin typeface="Arial MT"/>
              <a:cs typeface="Arial MT"/>
            </a:endParaRPr>
          </a:p>
          <a:p>
            <a:pPr marL="927100" lvl="1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927100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check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fields</a:t>
            </a:r>
            <a:endParaRPr sz="1100">
              <a:latin typeface="Arial MT"/>
              <a:cs typeface="Arial MT"/>
            </a:endParaRPr>
          </a:p>
          <a:p>
            <a:pPr marL="466725" indent="-225425">
              <a:lnSpc>
                <a:spcPct val="100000"/>
              </a:lnSpc>
              <a:spcBef>
                <a:spcPts val="135"/>
              </a:spcBef>
              <a:buFont typeface="Arial"/>
              <a:buAutoNum type="arabicPeriod"/>
              <a:tabLst>
                <a:tab pos="466725" algn="l"/>
              </a:tabLst>
            </a:pP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Download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email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above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("Header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Challenge"),</a:t>
            </a:r>
            <a:r>
              <a:rPr sz="11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are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sender’s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address</a:t>
            </a:r>
            <a:r>
              <a:rPr sz="1100" spc="-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“Reply-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To”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area</a:t>
            </a:r>
            <a:endParaRPr sz="1100">
              <a:latin typeface="Arial MT"/>
              <a:cs typeface="Arial MT"/>
            </a:endParaRPr>
          </a:p>
          <a:p>
            <a:pPr marL="927100" lvl="1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927100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check from</a:t>
            </a:r>
            <a:r>
              <a:rPr sz="11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reply-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fields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53282" y="3729354"/>
            <a:ext cx="1469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FAC46"/>
                </a:solidFill>
                <a:latin typeface="Times New Roman"/>
                <a:cs typeface="Times New Roman"/>
              </a:rPr>
              <a:t>Static</a:t>
            </a:r>
            <a:r>
              <a:rPr sz="1800" b="1" spc="-40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6FAC46"/>
                </a:solidFill>
                <a:latin typeface="Times New Roman"/>
                <a:cs typeface="Times New Roman"/>
              </a:rPr>
              <a:t>Analysis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179" y="4234408"/>
            <a:ext cx="7429500" cy="7467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43200"/>
              </a:lnSpc>
              <a:spcBef>
                <a:spcPts val="105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fact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mails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composed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plain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text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are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boring.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For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reason,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applications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provide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HTML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support,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allowing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creation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mails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attract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more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attention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users.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course,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feature</a:t>
            </a:r>
            <a:r>
              <a:rPr sz="1100" spc="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has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disadvantage.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Attackers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can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create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e-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mails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with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HTML,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hiding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URL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addresses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are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harmful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behind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buttons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/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texts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seem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harmless.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179" y="6994245"/>
            <a:ext cx="7436484" cy="2152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3335" algn="just">
              <a:lnSpc>
                <a:spcPct val="143000"/>
              </a:lnSpc>
              <a:spcBef>
                <a:spcPts val="95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As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seen in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image above, the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user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sees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different when the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link</a:t>
            </a:r>
            <a:r>
              <a:rPr sz="11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clicked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(the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real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is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seen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when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link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hovered).</a:t>
            </a:r>
            <a:endParaRPr sz="1100">
              <a:latin typeface="Arial MT"/>
              <a:cs typeface="Arial MT"/>
            </a:endParaRPr>
          </a:p>
          <a:p>
            <a:pPr marL="12700" marR="10795" algn="just">
              <a:lnSpc>
                <a:spcPct val="142700"/>
              </a:lnSpc>
              <a:spcBef>
                <a:spcPts val="830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Attackers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take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new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domain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most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phishing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attacks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do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phishing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attack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within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few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days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finish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their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work.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For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reason,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if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domain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name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new,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more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likely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phishing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attack.</a:t>
            </a:r>
            <a:endParaRPr sz="1100">
              <a:latin typeface="Arial MT"/>
              <a:cs typeface="Arial MT"/>
            </a:endParaRPr>
          </a:p>
          <a:p>
            <a:pPr marL="12700" marR="5080" algn="just">
              <a:lnSpc>
                <a:spcPct val="143000"/>
              </a:lnSpc>
              <a:spcBef>
                <a:spcPts val="825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possible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find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out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whether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antivirus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engines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detect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web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as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harmful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by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searching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web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addresses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 the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VirusTotal. If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someone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else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has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already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analyzed the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same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/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file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VirusTotal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,</a:t>
            </a:r>
            <a:r>
              <a:rPr sz="1100" spc="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VirusTotal </a:t>
            </a:r>
            <a:r>
              <a:rPr sz="1100" b="1" spc="-20" dirty="0">
                <a:solidFill>
                  <a:srgbClr val="C55A11"/>
                </a:solidFill>
                <a:latin typeface="Arial"/>
                <a:cs typeface="Arial"/>
              </a:rPr>
              <a:t>does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not</a:t>
            </a:r>
            <a:r>
              <a:rPr sz="1100" b="1" spc="-3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analyze</a:t>
            </a:r>
            <a:r>
              <a:rPr sz="1100" b="1" spc="-3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from</a:t>
            </a:r>
            <a:r>
              <a:rPr sz="1100" b="1" spc="-3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scratch,</a:t>
            </a:r>
            <a:r>
              <a:rPr sz="1100" b="1" spc="-4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it</a:t>
            </a:r>
            <a:r>
              <a:rPr sz="1100" b="1" spc="-4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shows</a:t>
            </a:r>
            <a:r>
              <a:rPr sz="1100" b="1" spc="-4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you</a:t>
            </a:r>
            <a:r>
              <a:rPr sz="1100" b="1" spc="-3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the</a:t>
            </a:r>
            <a:r>
              <a:rPr sz="1100" b="1" spc="-4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old</a:t>
            </a:r>
            <a:r>
              <a:rPr sz="1100" b="1" spc="-5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analysis</a:t>
            </a:r>
            <a:r>
              <a:rPr sz="1100" b="1" spc="-3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result.</a:t>
            </a:r>
            <a:r>
              <a:rPr sz="1100" b="1" spc="-4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We</a:t>
            </a:r>
            <a:r>
              <a:rPr sz="1100" b="1" spc="-3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can</a:t>
            </a:r>
            <a:r>
              <a:rPr sz="1100" b="1" spc="-4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use</a:t>
            </a:r>
            <a:r>
              <a:rPr sz="1100" b="1" spc="-5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this</a:t>
            </a:r>
            <a:r>
              <a:rPr sz="1100" b="1" spc="-4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feature</a:t>
            </a:r>
            <a:r>
              <a:rPr sz="1100" b="1" spc="-4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both</a:t>
            </a:r>
            <a:r>
              <a:rPr sz="1100" b="1" spc="-5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as</a:t>
            </a:r>
            <a:r>
              <a:rPr sz="1100" b="1" spc="-3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an</a:t>
            </a:r>
            <a:r>
              <a:rPr sz="1100" b="1" spc="-3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advantage</a:t>
            </a:r>
            <a:r>
              <a:rPr sz="1100" b="1" spc="-3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C55A11"/>
                </a:solidFill>
                <a:latin typeface="Arial"/>
                <a:cs typeface="Arial"/>
              </a:rPr>
              <a:t>and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disadvantage.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79" y="5154167"/>
            <a:ext cx="7405116" cy="17510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79" y="1684375"/>
            <a:ext cx="7435215" cy="2979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" algn="just">
              <a:lnSpc>
                <a:spcPct val="143600"/>
              </a:lnSpc>
              <a:spcBef>
                <a:spcPts val="100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If</a:t>
            </a:r>
            <a:r>
              <a:rPr sz="1100" spc="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attacker</a:t>
            </a:r>
            <a:r>
              <a:rPr sz="1100" spc="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searches</a:t>
            </a:r>
            <a:r>
              <a:rPr sz="1100" spc="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domain</a:t>
            </a:r>
            <a:r>
              <a:rPr sz="1100" spc="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</a:t>
            </a:r>
            <a:r>
              <a:rPr sz="1100" spc="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100" spc="1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VirusTotal</a:t>
            </a:r>
            <a:r>
              <a:rPr sz="1100" b="1" spc="9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without</a:t>
            </a:r>
            <a:r>
              <a:rPr sz="1100" spc="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containing</a:t>
            </a:r>
            <a:r>
              <a:rPr sz="1100" spc="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harmful</a:t>
            </a:r>
            <a:r>
              <a:rPr sz="1100" spc="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content</a:t>
            </a:r>
            <a:r>
              <a:rPr sz="1100" spc="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100" spc="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it,</a:t>
            </a:r>
            <a:r>
              <a:rPr sz="1100" spc="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</a:t>
            </a:r>
            <a:r>
              <a:rPr sz="1100" spc="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will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appear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harmless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VirusTotal,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if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goes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unnoticed,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may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mistaken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for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harmless.</a:t>
            </a:r>
            <a:endParaRPr sz="1100">
              <a:latin typeface="Arial MT"/>
              <a:cs typeface="Arial MT"/>
            </a:endParaRPr>
          </a:p>
          <a:p>
            <a:pPr marL="12700" marR="5080" algn="just">
              <a:lnSpc>
                <a:spcPct val="142700"/>
              </a:lnSpc>
              <a:spcBef>
                <a:spcPts val="825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image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above,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see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umuttosun.com</a:t>
            </a:r>
            <a:r>
              <a:rPr sz="1100" spc="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appears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harmless,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but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if</a:t>
            </a:r>
            <a:r>
              <a:rPr sz="1100" spc="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look</a:t>
            </a:r>
            <a:r>
              <a:rPr sz="1100" spc="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section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marked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with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red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arrow,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will</a:t>
            </a:r>
            <a:r>
              <a:rPr sz="11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see</a:t>
            </a:r>
            <a:r>
              <a:rPr sz="11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was</a:t>
            </a:r>
            <a:r>
              <a:rPr sz="11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searched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9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months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ago,</a:t>
            </a:r>
            <a:r>
              <a:rPr sz="11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result</a:t>
            </a:r>
            <a:r>
              <a:rPr sz="11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9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months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ago.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To</a:t>
            </a:r>
            <a:r>
              <a:rPr sz="1100" b="1" spc="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001F5F"/>
                </a:solidFill>
                <a:latin typeface="Arial"/>
                <a:cs typeface="Arial"/>
              </a:rPr>
              <a:t>have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it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analyzed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again,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button</a:t>
            </a:r>
            <a:r>
              <a:rPr sz="1100" b="1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marked</a:t>
            </a:r>
            <a:r>
              <a:rPr sz="11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with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blue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arrow</a:t>
            </a:r>
            <a:r>
              <a:rPr sz="1100" b="1" spc="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must be</a:t>
            </a:r>
            <a:r>
              <a:rPr sz="1100" b="1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pressed.</a:t>
            </a:r>
            <a:endParaRPr sz="1100">
              <a:latin typeface="Arial"/>
              <a:cs typeface="Arial"/>
            </a:endParaRPr>
          </a:p>
          <a:p>
            <a:pPr marL="12700" marR="7620" algn="just">
              <a:lnSpc>
                <a:spcPct val="142700"/>
              </a:lnSpc>
              <a:spcBef>
                <a:spcPts val="844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Performing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static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analysis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files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enable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learning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capacity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/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capabilities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 that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file.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However,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since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static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analysis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takes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long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time,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get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information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need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more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quickly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with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dynamic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analysis.</a:t>
            </a:r>
            <a:endParaRPr sz="1100">
              <a:latin typeface="Arial MT"/>
              <a:cs typeface="Arial MT"/>
            </a:endParaRPr>
          </a:p>
          <a:p>
            <a:pPr marL="12700" marR="5080" algn="just">
              <a:lnSpc>
                <a:spcPct val="143300"/>
              </a:lnSpc>
              <a:spcBef>
                <a:spcPts val="810"/>
              </a:spcBef>
            </a:pP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Cisco</a:t>
            </a:r>
            <a:r>
              <a:rPr sz="1100" b="1" spc="8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Talos</a:t>
            </a:r>
            <a:r>
              <a:rPr sz="1100" b="1" spc="6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Intelligence</a:t>
            </a:r>
            <a:r>
              <a:rPr sz="1100" b="1" spc="16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has</a:t>
            </a:r>
            <a:r>
              <a:rPr sz="1100" b="1" spc="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search</a:t>
            </a:r>
            <a:r>
              <a:rPr sz="1100" b="1" spc="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sections</a:t>
            </a:r>
            <a:r>
              <a:rPr sz="1100" b="1" spc="-2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where</a:t>
            </a:r>
            <a:r>
              <a:rPr sz="1100" b="1" spc="-1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we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can</a:t>
            </a:r>
            <a:r>
              <a:rPr sz="1100" b="1" spc="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learn</a:t>
            </a:r>
            <a:r>
              <a:rPr sz="1100" b="1" spc="-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reputations</a:t>
            </a:r>
            <a:r>
              <a:rPr sz="1100" b="1" spc="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of IP</a:t>
            </a:r>
            <a:r>
              <a:rPr sz="1100" b="1" spc="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addresses.</a:t>
            </a:r>
            <a:r>
              <a:rPr sz="1100" b="1" spc="1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By</a:t>
            </a:r>
            <a:r>
              <a:rPr sz="1100" b="1" spc="-2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searching </a:t>
            </a:r>
            <a:r>
              <a:rPr sz="1100" b="1" spc="-25" dirty="0">
                <a:solidFill>
                  <a:srgbClr val="C55A11"/>
                </a:solidFill>
                <a:latin typeface="Arial"/>
                <a:cs typeface="Arial"/>
              </a:rPr>
              <a:t>the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SMTP</a:t>
            </a:r>
            <a:r>
              <a:rPr sz="1100" b="1" spc="-4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address</a:t>
            </a:r>
            <a:r>
              <a:rPr sz="1100" b="1" spc="-4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of</a:t>
            </a:r>
            <a:r>
              <a:rPr sz="1100" b="1" spc="-4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the</a:t>
            </a:r>
            <a:r>
              <a:rPr sz="1100" b="1" spc="-6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mail</a:t>
            </a:r>
            <a:r>
              <a:rPr sz="1100" b="1" spc="-6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we</a:t>
            </a:r>
            <a:r>
              <a:rPr sz="1100" b="1" spc="-4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detected</a:t>
            </a:r>
            <a:r>
              <a:rPr sz="1100" b="1" spc="-3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on</a:t>
            </a:r>
            <a:r>
              <a:rPr sz="1100" b="1" spc="-5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Talos,</a:t>
            </a:r>
            <a:r>
              <a:rPr sz="1100" b="1" spc="-5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we</a:t>
            </a:r>
            <a:r>
              <a:rPr sz="1100" b="1" spc="-5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can</a:t>
            </a:r>
            <a:r>
              <a:rPr sz="1100" b="1" spc="-4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see</a:t>
            </a:r>
            <a:r>
              <a:rPr sz="1100" b="1" spc="-4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the</a:t>
            </a:r>
            <a:r>
              <a:rPr sz="1100" b="1" spc="-6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reputation</a:t>
            </a:r>
            <a:r>
              <a:rPr sz="1100" b="1" spc="-5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of</a:t>
            </a:r>
            <a:r>
              <a:rPr sz="1100" b="1" spc="-5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the</a:t>
            </a:r>
            <a:r>
              <a:rPr sz="1100" b="1" spc="-5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IP</a:t>
            </a:r>
            <a:r>
              <a:rPr sz="1100" b="1" spc="-5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address</a:t>
            </a:r>
            <a:r>
              <a:rPr sz="1100" b="1" spc="-6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sz="1100" b="1" spc="-3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find</a:t>
            </a:r>
            <a:r>
              <a:rPr sz="1100" b="1" spc="-5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out</a:t>
            </a:r>
            <a:r>
              <a:rPr sz="1100" b="1" spc="-6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whether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it</a:t>
            </a:r>
            <a:r>
              <a:rPr sz="1100" b="1" spc="-5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is</a:t>
            </a:r>
            <a:r>
              <a:rPr sz="1100" b="1" spc="-4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included</a:t>
            </a:r>
            <a:r>
              <a:rPr sz="1100" b="1" spc="-4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in</a:t>
            </a:r>
            <a:r>
              <a:rPr sz="1100" b="1" spc="-3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the</a:t>
            </a:r>
            <a:r>
              <a:rPr sz="1100" b="1" spc="-4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blacklist.</a:t>
            </a:r>
            <a:r>
              <a:rPr sz="1100" b="1" spc="-3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If</a:t>
            </a:r>
            <a:r>
              <a:rPr sz="11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100" b="1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SMTP</a:t>
            </a:r>
            <a:r>
              <a:rPr sz="11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address</a:t>
            </a:r>
            <a:r>
              <a:rPr sz="1100" b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is</a:t>
            </a:r>
            <a:r>
              <a:rPr sz="1100" b="1" spc="-4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in</a:t>
            </a:r>
            <a:r>
              <a:rPr sz="1100" b="1" spc="-4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100" b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blacklist,</a:t>
            </a:r>
            <a:r>
              <a:rPr sz="11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it</a:t>
            </a:r>
            <a:r>
              <a:rPr sz="1100" b="1" spc="-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can</a:t>
            </a:r>
            <a:r>
              <a:rPr sz="11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be</a:t>
            </a:r>
            <a:r>
              <a:rPr sz="11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understood</a:t>
            </a:r>
            <a:r>
              <a:rPr sz="1100" b="1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that</a:t>
            </a:r>
            <a:r>
              <a:rPr sz="1100" b="1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an</a:t>
            </a:r>
            <a:r>
              <a:rPr sz="1100" b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attack</a:t>
            </a:r>
            <a:r>
              <a:rPr sz="1100" b="1" spc="-6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was</a:t>
            </a:r>
            <a:r>
              <a:rPr sz="1100" b="1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001F5F"/>
                </a:solidFill>
                <a:latin typeface="Arial"/>
                <a:cs typeface="Arial"/>
              </a:rPr>
              <a:t>made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on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compromised</a:t>
            </a:r>
            <a:r>
              <a:rPr sz="11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server.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0179" y="8362086"/>
            <a:ext cx="7430134" cy="504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2700"/>
              </a:lnSpc>
              <a:spcBef>
                <a:spcPts val="100"/>
              </a:spcBef>
            </a:pP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Likewise,</a:t>
            </a:r>
            <a:r>
              <a:rPr sz="1100" b="1" spc="2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the</a:t>
            </a:r>
            <a:r>
              <a:rPr sz="1100" b="1" spc="3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SMTP</a:t>
            </a:r>
            <a:r>
              <a:rPr sz="1100" b="1" spc="3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address</a:t>
            </a:r>
            <a:r>
              <a:rPr sz="1100" b="1" spc="3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can</a:t>
            </a:r>
            <a:r>
              <a:rPr sz="1100" b="1" spc="3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be</a:t>
            </a:r>
            <a:r>
              <a:rPr sz="1100" b="1" spc="3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searched</a:t>
            </a:r>
            <a:r>
              <a:rPr sz="1100" b="1" spc="2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on</a:t>
            </a:r>
            <a:r>
              <a:rPr sz="1100" b="1" spc="3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VirusTotal</a:t>
            </a:r>
            <a:r>
              <a:rPr sz="1100" b="1" spc="3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sz="1100" b="1" spc="4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AbuseIPDB</a:t>
            </a:r>
            <a:r>
              <a:rPr sz="1100" b="1" spc="3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to</a:t>
            </a:r>
            <a:r>
              <a:rPr sz="1100" b="1" spc="3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determine</a:t>
            </a:r>
            <a:r>
              <a:rPr sz="1100" b="1" spc="2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if</a:t>
            </a:r>
            <a:r>
              <a:rPr sz="1100" b="1" spc="1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the</a:t>
            </a:r>
            <a:r>
              <a:rPr sz="1100" b="1" spc="2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IP</a:t>
            </a:r>
            <a:r>
              <a:rPr sz="1100" b="1" spc="2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address</a:t>
            </a:r>
            <a:r>
              <a:rPr sz="1100" b="1" spc="3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C55A11"/>
                </a:solidFill>
                <a:latin typeface="Arial"/>
                <a:cs typeface="Arial"/>
              </a:rPr>
              <a:t>has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previously</a:t>
            </a:r>
            <a:r>
              <a:rPr sz="1100" b="1" spc="-4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been</a:t>
            </a:r>
            <a:r>
              <a:rPr sz="1100" b="1" spc="-2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involved</a:t>
            </a:r>
            <a:r>
              <a:rPr sz="1100" b="1" spc="-2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in</a:t>
            </a:r>
            <a:r>
              <a:rPr sz="1100" b="1" spc="-3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malicious</a:t>
            </a:r>
            <a:r>
              <a:rPr sz="1100" b="1" spc="-2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activities.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515" y="471834"/>
            <a:ext cx="7281087" cy="10609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79" y="4838700"/>
            <a:ext cx="7403592" cy="34350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79" y="427735"/>
            <a:ext cx="7434580" cy="1361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FAC46"/>
                </a:solidFill>
                <a:latin typeface="Times New Roman"/>
                <a:cs typeface="Times New Roman"/>
              </a:rPr>
              <a:t>Dynamic</a:t>
            </a:r>
            <a:r>
              <a:rPr sz="1800" b="1" spc="-65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6FAC46"/>
                </a:solidFill>
                <a:latin typeface="Times New Roman"/>
                <a:cs typeface="Times New Roman"/>
              </a:rPr>
              <a:t>Analysis</a:t>
            </a:r>
            <a:endParaRPr sz="1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300"/>
              </a:lnSpc>
              <a:spcBef>
                <a:spcPts val="790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URLs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files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found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mail.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These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files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URL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addresses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need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examined.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don't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want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your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data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stolen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by</a:t>
            </a:r>
            <a:r>
              <a:rPr sz="1100" spc="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hackers</a:t>
            </a:r>
            <a:r>
              <a:rPr sz="11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by</a:t>
            </a:r>
            <a:r>
              <a:rPr sz="1100" spc="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running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these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files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100" spc="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your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personal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computer.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For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reason,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websites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files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the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should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run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sandbox</a:t>
            </a:r>
            <a:r>
              <a:rPr sz="11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environments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changes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made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system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should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examined,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should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be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checked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whether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they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are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harmful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or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not.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0179" y="4583404"/>
            <a:ext cx="7431405" cy="1330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43700"/>
              </a:lnSpc>
              <a:spcBef>
                <a:spcPts val="95"/>
              </a:spcBef>
            </a:pP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If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you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want to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quickly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check</a:t>
            </a:r>
            <a:r>
              <a:rPr sz="1100" b="1" spc="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1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web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addresses</a:t>
            </a:r>
            <a:r>
              <a:rPr sz="1100" b="1" spc="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in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mail,</a:t>
            </a:r>
            <a:r>
              <a:rPr sz="1100" b="1" spc="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you can</a:t>
            </a:r>
            <a:r>
              <a:rPr sz="1100" b="1" spc="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see</a:t>
            </a:r>
            <a:r>
              <a:rPr sz="1100" b="1" spc="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content</a:t>
            </a:r>
            <a:r>
              <a:rPr sz="1100" b="1" spc="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of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website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using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online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web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browsers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such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as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u="sng" dirty="0">
                <a:solidFill>
                  <a:srgbClr val="C55A11"/>
                </a:solidFill>
                <a:uFill>
                  <a:solidFill>
                    <a:srgbClr val="C55A11"/>
                  </a:solidFill>
                </a:uFill>
                <a:latin typeface="Arial"/>
                <a:cs typeface="Arial"/>
              </a:rPr>
              <a:t>Browserling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.</a:t>
            </a:r>
            <a:r>
              <a:rPr sz="1100" b="1" spc="28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good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thing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about such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services is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will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not</a:t>
            </a:r>
            <a:r>
              <a:rPr sz="11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affected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by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possible zero-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day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vulnerability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 affects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browsers,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since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do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not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go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web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page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your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own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computer.</a:t>
            </a:r>
            <a:endParaRPr sz="1100">
              <a:latin typeface="Arial MT"/>
              <a:cs typeface="Arial MT"/>
            </a:endParaRPr>
          </a:p>
          <a:p>
            <a:pPr marL="12700" marR="5080" algn="just">
              <a:lnSpc>
                <a:spcPct val="142700"/>
              </a:lnSpc>
              <a:spcBef>
                <a:spcPts val="820"/>
              </a:spcBef>
            </a:pP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100" b="1" spc="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disadvantage</a:t>
            </a:r>
            <a:r>
              <a:rPr sz="1100" b="1" spc="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of</a:t>
            </a:r>
            <a:r>
              <a:rPr sz="1100" b="1" spc="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using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web</a:t>
            </a:r>
            <a:r>
              <a:rPr sz="1100" b="1" spc="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browsers</a:t>
            </a:r>
            <a:r>
              <a:rPr sz="1100" b="1" spc="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such</a:t>
            </a:r>
            <a:r>
              <a:rPr sz="1100" b="1" spc="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as</a:t>
            </a:r>
            <a:r>
              <a:rPr sz="1100" b="1" spc="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Browserling</a:t>
            </a:r>
            <a:r>
              <a:rPr sz="1100" b="1" spc="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is that</a:t>
            </a:r>
            <a:r>
              <a:rPr sz="1100" b="1" spc="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if</a:t>
            </a:r>
            <a:r>
              <a:rPr sz="1100" b="1" spc="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the malicious</a:t>
            </a:r>
            <a:r>
              <a:rPr sz="1100" b="1" spc="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file</a:t>
            </a:r>
            <a:r>
              <a:rPr sz="1100" b="1" spc="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is</a:t>
            </a:r>
            <a:r>
              <a:rPr sz="1100" b="1" spc="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downloaded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on </a:t>
            </a:r>
            <a:r>
              <a:rPr sz="1100" b="1" spc="-25" dirty="0">
                <a:solidFill>
                  <a:srgbClr val="001F5F"/>
                </a:solidFill>
                <a:latin typeface="Arial"/>
                <a:cs typeface="Arial"/>
              </a:rPr>
              <a:t>the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site,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you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cannot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run</a:t>
            </a:r>
            <a:r>
              <a:rPr sz="11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this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file.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For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this</a:t>
            </a:r>
            <a:r>
              <a:rPr sz="11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reason,</a:t>
            </a:r>
            <a:r>
              <a:rPr sz="1100" b="1" spc="-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your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analysis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will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be</a:t>
            </a:r>
            <a:r>
              <a:rPr sz="11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interrupted.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179" y="6422516"/>
            <a:ext cx="7434580" cy="3010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FAC46"/>
                </a:solidFill>
                <a:latin typeface="Times New Roman"/>
                <a:cs typeface="Times New Roman"/>
              </a:rPr>
              <a:t>Sandbox</a:t>
            </a:r>
            <a:r>
              <a:rPr sz="1800" b="1" spc="-20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AC46"/>
                </a:solidFill>
                <a:latin typeface="Times New Roman"/>
                <a:cs typeface="Times New Roman"/>
              </a:rPr>
              <a:t>Environment</a:t>
            </a:r>
            <a:r>
              <a:rPr sz="1800" b="1" spc="-15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AC46"/>
                </a:solidFill>
                <a:latin typeface="Times New Roman"/>
                <a:cs typeface="Times New Roman"/>
              </a:rPr>
              <a:t>for</a:t>
            </a:r>
            <a:r>
              <a:rPr sz="1800" b="1" spc="-15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AC46"/>
                </a:solidFill>
                <a:latin typeface="Times New Roman"/>
                <a:cs typeface="Times New Roman"/>
              </a:rPr>
              <a:t>Email</a:t>
            </a:r>
            <a:r>
              <a:rPr sz="1800" b="1" spc="-15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AC46"/>
                </a:solidFill>
                <a:latin typeface="Times New Roman"/>
                <a:cs typeface="Times New Roman"/>
              </a:rPr>
              <a:t>Header</a:t>
            </a:r>
            <a:r>
              <a:rPr sz="1800" b="1" spc="-20" dirty="0">
                <a:solidFill>
                  <a:srgbClr val="6FAC46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6FAC46"/>
                </a:solidFill>
                <a:latin typeface="Times New Roman"/>
                <a:cs typeface="Times New Roman"/>
              </a:rPr>
              <a:t>Analysis</a:t>
            </a:r>
            <a:endParaRPr sz="1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700"/>
              </a:lnSpc>
              <a:spcBef>
                <a:spcPts val="770"/>
              </a:spcBef>
            </a:pP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You</a:t>
            </a:r>
            <a:r>
              <a:rPr sz="1100" b="1" spc="9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can</a:t>
            </a:r>
            <a:r>
              <a:rPr sz="1100" b="1" spc="8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examine</a:t>
            </a:r>
            <a:r>
              <a:rPr sz="1100" b="1" spc="8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suspicious</a:t>
            </a:r>
            <a:r>
              <a:rPr sz="1100" b="1" spc="7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files</a:t>
            </a:r>
            <a:r>
              <a:rPr sz="1100" b="1" spc="8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and</a:t>
            </a:r>
            <a:r>
              <a:rPr sz="1100" b="1" spc="7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websites</a:t>
            </a:r>
            <a:r>
              <a:rPr sz="1100" b="1" spc="8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in</a:t>
            </a:r>
            <a:r>
              <a:rPr sz="1100" b="1" spc="10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sandbox</a:t>
            </a:r>
            <a:r>
              <a:rPr sz="1100" b="1" spc="8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environments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.</a:t>
            </a:r>
            <a:r>
              <a:rPr sz="1100" spc="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When</a:t>
            </a:r>
            <a:r>
              <a:rPr sz="1100" spc="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</a:t>
            </a:r>
            <a:r>
              <a:rPr sz="1100" spc="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examine</a:t>
            </a:r>
            <a:r>
              <a:rPr sz="1100" spc="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files</a:t>
            </a:r>
            <a:r>
              <a:rPr sz="1100" spc="8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these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environments,</a:t>
            </a:r>
            <a:r>
              <a:rPr sz="1100" spc="1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</a:t>
            </a:r>
            <a:r>
              <a:rPr sz="1100" spc="1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remove</a:t>
            </a:r>
            <a:r>
              <a:rPr sz="1100" spc="1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risk</a:t>
            </a:r>
            <a:r>
              <a:rPr sz="1100" spc="1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1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infecting</a:t>
            </a:r>
            <a:r>
              <a:rPr sz="1100" spc="1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your</a:t>
            </a:r>
            <a:r>
              <a:rPr sz="1100" spc="1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computer</a:t>
            </a:r>
            <a:r>
              <a:rPr sz="1100" spc="1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with</a:t>
            </a:r>
            <a:r>
              <a:rPr sz="1100" spc="1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malware.</a:t>
            </a:r>
            <a:r>
              <a:rPr sz="1100" spc="1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Many</a:t>
            </a:r>
            <a:r>
              <a:rPr sz="1100" spc="1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sandbox</a:t>
            </a:r>
            <a:r>
              <a:rPr sz="1100" spc="1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services</a:t>
            </a:r>
            <a:r>
              <a:rPr sz="1100" spc="1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/</a:t>
            </a:r>
            <a:r>
              <a:rPr sz="1100" spc="1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products</a:t>
            </a:r>
            <a:r>
              <a:rPr sz="1100" spc="1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are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available.</a:t>
            </a:r>
            <a:r>
              <a:rPr sz="1100" spc="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These</a:t>
            </a:r>
            <a:r>
              <a:rPr sz="1100" spc="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products</a:t>
            </a:r>
            <a:r>
              <a:rPr sz="1100" spc="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/</a:t>
            </a:r>
            <a:r>
              <a:rPr sz="1100" spc="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services</a:t>
            </a:r>
            <a:r>
              <a:rPr sz="1100" spc="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are</a:t>
            </a:r>
            <a:r>
              <a:rPr sz="1100" spc="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available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for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paid</a:t>
            </a:r>
            <a:r>
              <a:rPr sz="1100" spc="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free</a:t>
            </a:r>
            <a:r>
              <a:rPr sz="1100" spc="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use.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</a:t>
            </a:r>
            <a:r>
              <a:rPr sz="1100" spc="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choose</a:t>
            </a:r>
            <a:r>
              <a:rPr sz="1100" spc="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one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/</a:t>
            </a:r>
            <a:r>
              <a:rPr sz="1100" spc="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more</a:t>
            </a:r>
            <a:r>
              <a:rPr sz="1100" spc="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these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services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according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your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needs.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1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A</a:t>
            </a:r>
            <a:r>
              <a:rPr sz="1100" spc="-2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few</a:t>
            </a:r>
            <a:r>
              <a:rPr sz="1100" spc="-3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commonly</a:t>
            </a:r>
            <a:r>
              <a:rPr sz="1100" spc="-2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used</a:t>
            </a:r>
            <a:r>
              <a:rPr sz="1100" spc="-1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sandboxes: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VMRay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580"/>
              </a:spcBef>
              <a:buFont typeface="Wingdings"/>
              <a:buChar char=""/>
              <a:tabLst>
                <a:tab pos="469265" algn="l"/>
              </a:tabLst>
            </a:pP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Cuckoo</a:t>
            </a:r>
            <a:r>
              <a:rPr sz="1100" spc="-3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Sandbox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575"/>
              </a:spcBef>
              <a:buFont typeface="Wingdings"/>
              <a:buChar char=""/>
              <a:tabLst>
                <a:tab pos="469265" algn="l"/>
              </a:tabLst>
            </a:pP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JoeSandbox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575"/>
              </a:spcBef>
              <a:buFont typeface="Wingdings"/>
              <a:buChar char=""/>
              <a:tabLst>
                <a:tab pos="469265" algn="l"/>
              </a:tabLst>
            </a:pP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AnyRun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565"/>
              </a:spcBef>
              <a:buFont typeface="Wingdings"/>
              <a:buChar char=""/>
              <a:tabLst>
                <a:tab pos="469265" algn="l"/>
              </a:tabLst>
            </a:pP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Hybrid</a:t>
            </a:r>
            <a:r>
              <a:rPr sz="1100" spc="-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Analysis(Falcon</a:t>
            </a:r>
            <a:r>
              <a:rPr sz="1100" spc="-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Sandbox)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962911"/>
            <a:ext cx="5484876" cy="250235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79" y="432308"/>
            <a:ext cx="7436484" cy="1219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NOTE</a:t>
            </a:r>
            <a:endParaRPr sz="1100">
              <a:latin typeface="Arial MT"/>
              <a:cs typeface="Arial MT"/>
            </a:endParaRPr>
          </a:p>
          <a:p>
            <a:pPr marL="469900" marR="5715" indent="-228600">
              <a:lnSpc>
                <a:spcPct val="110200"/>
              </a:lnSpc>
              <a:spcBef>
                <a:spcPts val="815"/>
              </a:spcBef>
              <a:buFont typeface="Wingdings"/>
              <a:buChar char=""/>
              <a:tabLst>
                <a:tab pos="469900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Malware</a:t>
            </a:r>
            <a:r>
              <a:rPr sz="11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wait for a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certain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period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time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without any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action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make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detection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difficult. You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must wait for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the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malware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work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before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you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decide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examined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file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not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harmful.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0"/>
              </a:spcBef>
              <a:buClr>
                <a:srgbClr val="001F5F"/>
              </a:buClr>
              <a:buFont typeface="Wingdings"/>
              <a:buChar char=""/>
            </a:pPr>
            <a:endParaRPr sz="1100">
              <a:latin typeface="Arial MT"/>
              <a:cs typeface="Arial MT"/>
            </a:endParaRPr>
          </a:p>
          <a:p>
            <a:pPr marL="469900" marR="5080" indent="-228600">
              <a:lnSpc>
                <a:spcPct val="109100"/>
              </a:lnSpc>
              <a:buFont typeface="Wingdings"/>
              <a:buChar char=""/>
              <a:tabLst>
                <a:tab pos="469900" algn="l"/>
              </a:tabLst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 fact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there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are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no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urls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files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mail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does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not</a:t>
            </a:r>
            <a:r>
              <a:rPr sz="1100" spc="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mean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not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harmful.</a:t>
            </a:r>
            <a:r>
              <a:rPr sz="1100" spc="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attacker</a:t>
            </a:r>
            <a:r>
              <a:rPr sz="1100" spc="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also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send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 as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picture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so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as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not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get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caught up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analysis</a:t>
            </a:r>
            <a:r>
              <a:rPr sz="11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products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0179" y="2107438"/>
            <a:ext cx="7436484" cy="43110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latin typeface="Times New Roman"/>
                <a:cs typeface="Times New Roman"/>
              </a:rPr>
              <a:t>Additional</a:t>
            </a:r>
            <a:r>
              <a:rPr sz="1350" b="1" spc="-35" dirty="0">
                <a:latin typeface="Times New Roman"/>
                <a:cs typeface="Times New Roman"/>
              </a:rPr>
              <a:t> </a:t>
            </a:r>
            <a:r>
              <a:rPr sz="1350" b="1" spc="-10" dirty="0">
                <a:latin typeface="Times New Roman"/>
                <a:cs typeface="Times New Roman"/>
              </a:rPr>
              <a:t>Techniques</a:t>
            </a:r>
            <a:endParaRPr sz="1350">
              <a:latin typeface="Times New Roman"/>
              <a:cs typeface="Times New Roman"/>
            </a:endParaRPr>
          </a:p>
          <a:p>
            <a:pPr marL="12700" marR="12700" algn="just">
              <a:lnSpc>
                <a:spcPct val="142700"/>
              </a:lnSpc>
              <a:spcBef>
                <a:spcPts val="780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Another</a:t>
            </a:r>
            <a:r>
              <a:rPr sz="1100" spc="1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technique</a:t>
            </a:r>
            <a:r>
              <a:rPr sz="1100" spc="1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9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attackers</a:t>
            </a:r>
            <a:r>
              <a:rPr sz="1100" spc="1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use</a:t>
            </a:r>
            <a:r>
              <a:rPr sz="1100" spc="1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1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perform</a:t>
            </a:r>
            <a:r>
              <a:rPr sz="1100" spc="10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phishing</a:t>
            </a:r>
            <a:r>
              <a:rPr sz="1100" spc="10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attacks</a:t>
            </a:r>
            <a:r>
              <a:rPr sz="1100" spc="1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using</a:t>
            </a:r>
            <a:r>
              <a:rPr sz="1100" spc="1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normally</a:t>
            </a:r>
            <a:r>
              <a:rPr sz="1100" spc="10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legal</a:t>
            </a:r>
            <a:r>
              <a:rPr sz="1100" spc="10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sites.</a:t>
            </a:r>
            <a:r>
              <a:rPr sz="1100" spc="1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Some</a:t>
            </a:r>
            <a:r>
              <a:rPr sz="1100" spc="1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10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them</a:t>
            </a:r>
            <a:r>
              <a:rPr sz="1100" spc="10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are</a:t>
            </a:r>
            <a:r>
              <a:rPr sz="1100" spc="1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as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follows.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100">
              <a:latin typeface="Arial MT"/>
              <a:cs typeface="Arial MT"/>
            </a:endParaRPr>
          </a:p>
          <a:p>
            <a:pPr marL="467359" indent="-226060">
              <a:lnSpc>
                <a:spcPct val="100000"/>
              </a:lnSpc>
              <a:buAutoNum type="alphaUcPeriod"/>
              <a:tabLst>
                <a:tab pos="467359" algn="l"/>
              </a:tabLst>
            </a:pP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Using</a:t>
            </a:r>
            <a:r>
              <a:rPr sz="1100" b="1" spc="-20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services</a:t>
            </a:r>
            <a:r>
              <a:rPr sz="1100" b="1" spc="-2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that</a:t>
            </a:r>
            <a:r>
              <a:rPr sz="1100" b="1" spc="-20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offer</a:t>
            </a:r>
            <a:r>
              <a:rPr sz="1100" b="1" spc="-1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Cloud</a:t>
            </a:r>
            <a:r>
              <a:rPr sz="1100" b="1" spc="-2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Storage</a:t>
            </a:r>
            <a:r>
              <a:rPr sz="1100" b="1" spc="-2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services</a:t>
            </a:r>
            <a:r>
              <a:rPr sz="1100" b="1" spc="-20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such</a:t>
            </a:r>
            <a:r>
              <a:rPr sz="1100" b="1" spc="-1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as</a:t>
            </a:r>
            <a:r>
              <a:rPr sz="1100" b="1" spc="-2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Google</a:t>
            </a:r>
            <a:r>
              <a:rPr sz="1100" b="1" spc="-20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and</a:t>
            </a:r>
            <a:r>
              <a:rPr sz="1100" b="1" spc="-1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6FAC46"/>
                </a:solidFill>
                <a:latin typeface="Arial"/>
                <a:cs typeface="Arial"/>
              </a:rPr>
              <a:t>Microsoft</a:t>
            </a:r>
            <a:endParaRPr sz="1100">
              <a:latin typeface="Arial"/>
              <a:cs typeface="Arial"/>
            </a:endParaRPr>
          </a:p>
          <a:p>
            <a:pPr marL="12700" marR="13335" algn="just">
              <a:lnSpc>
                <a:spcPct val="142700"/>
              </a:lnSpc>
              <a:spcBef>
                <a:spcPts val="840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Attackers</a:t>
            </a:r>
            <a:r>
              <a:rPr sz="1100" spc="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try</a:t>
            </a:r>
            <a:r>
              <a:rPr sz="1100" spc="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click</a:t>
            </a:r>
            <a:r>
              <a:rPr sz="1100" spc="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100" spc="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Google</a:t>
            </a:r>
            <a:r>
              <a:rPr sz="1100" spc="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/</a:t>
            </a:r>
            <a:r>
              <a:rPr sz="1100" spc="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Microsoft</a:t>
            </a:r>
            <a:r>
              <a:rPr sz="1100" spc="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drive</a:t>
            </a:r>
            <a:r>
              <a:rPr sz="1100" spc="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addresses</a:t>
            </a:r>
            <a:r>
              <a:rPr sz="1100" spc="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seem</a:t>
            </a:r>
            <a:r>
              <a:rPr sz="1100" spc="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harmless</a:t>
            </a:r>
            <a:r>
              <a:rPr sz="1100" spc="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user</a:t>
            </a:r>
            <a:r>
              <a:rPr sz="1100" spc="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by</a:t>
            </a:r>
            <a:r>
              <a:rPr sz="1100" spc="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uploading</a:t>
            </a:r>
            <a:r>
              <a:rPr sz="1100" spc="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harmful</a:t>
            </a:r>
            <a:r>
              <a:rPr sz="1100" spc="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files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onto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drive.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100">
              <a:latin typeface="Arial MT"/>
              <a:cs typeface="Arial MT"/>
            </a:endParaRPr>
          </a:p>
          <a:p>
            <a:pPr marL="466725" indent="-225425">
              <a:lnSpc>
                <a:spcPct val="100000"/>
              </a:lnSpc>
              <a:buClr>
                <a:srgbClr val="6FAC46"/>
              </a:buClr>
              <a:buAutoNum type="alphaUcPeriod" startAt="2"/>
              <a:tabLst>
                <a:tab pos="466725" algn="l"/>
              </a:tabLst>
            </a:pP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U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sing</a:t>
            </a:r>
            <a:r>
              <a:rPr sz="1100" b="1" spc="-2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services</a:t>
            </a:r>
            <a:r>
              <a:rPr sz="1100" b="1" spc="-30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that</a:t>
            </a:r>
            <a:r>
              <a:rPr sz="1100" b="1" spc="-2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allow creating</a:t>
            </a:r>
            <a:r>
              <a:rPr sz="1100" b="1" spc="-3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free</a:t>
            </a:r>
            <a:r>
              <a:rPr sz="1100" b="1" spc="-30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subdomains</a:t>
            </a:r>
            <a:r>
              <a:rPr sz="1100" b="1" spc="-3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such</a:t>
            </a:r>
            <a:r>
              <a:rPr sz="1100" b="1" spc="-2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as</a:t>
            </a:r>
            <a:r>
              <a:rPr sz="1100" b="1" spc="-1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Microsoft,</a:t>
            </a:r>
            <a:r>
              <a:rPr sz="1100" b="1" spc="-2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Wordpress,</a:t>
            </a:r>
            <a:r>
              <a:rPr sz="1100" b="1" spc="-10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Blogspot,</a:t>
            </a:r>
            <a:r>
              <a:rPr sz="1100" b="1" spc="-30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6FAC46"/>
                </a:solidFill>
                <a:latin typeface="Arial"/>
                <a:cs typeface="Arial"/>
              </a:rPr>
              <a:t>Wix</a:t>
            </a:r>
            <a:endParaRPr sz="1100">
              <a:latin typeface="Arial"/>
              <a:cs typeface="Arial"/>
            </a:endParaRPr>
          </a:p>
          <a:p>
            <a:pPr marL="12700" marR="5080" algn="just">
              <a:lnSpc>
                <a:spcPct val="143200"/>
              </a:lnSpc>
              <a:spcBef>
                <a:spcPts val="835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Attackers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try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deceive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security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products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analysts</a:t>
            </a:r>
            <a:r>
              <a:rPr sz="1100" spc="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by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creating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free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subdomain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from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these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services.</a:t>
            </a:r>
            <a:r>
              <a:rPr sz="1100" spc="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Since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whois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information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cannot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searched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as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subdomain,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seen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these</a:t>
            </a:r>
            <a:r>
              <a:rPr sz="1100" spc="-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addresses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were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taken</a:t>
            </a:r>
            <a:r>
              <a:rPr sz="11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past</a:t>
            </a:r>
            <a:r>
              <a:rPr sz="11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and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belongs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institutions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such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as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Microsoft,</a:t>
            </a:r>
            <a:r>
              <a:rPr sz="11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WordPress.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100">
              <a:latin typeface="Arial MT"/>
              <a:cs typeface="Arial MT"/>
            </a:endParaRPr>
          </a:p>
          <a:p>
            <a:pPr marL="466725" indent="-225425">
              <a:lnSpc>
                <a:spcPct val="100000"/>
              </a:lnSpc>
              <a:buAutoNum type="alphaUcPeriod" startAt="3"/>
              <a:tabLst>
                <a:tab pos="466725" algn="l"/>
              </a:tabLst>
            </a:pPr>
            <a:r>
              <a:rPr sz="1100" b="1" dirty="0">
                <a:solidFill>
                  <a:srgbClr val="6FAC46"/>
                </a:solidFill>
                <a:latin typeface="Arial"/>
                <a:cs typeface="Arial"/>
              </a:rPr>
              <a:t>Form</a:t>
            </a:r>
            <a:r>
              <a:rPr sz="1100" b="1" spc="-15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6FAC46"/>
                </a:solidFill>
                <a:latin typeface="Arial"/>
                <a:cs typeface="Arial"/>
              </a:rPr>
              <a:t>applications</a:t>
            </a:r>
            <a:endParaRPr sz="1100">
              <a:latin typeface="Arial"/>
              <a:cs typeface="Arial"/>
            </a:endParaRPr>
          </a:p>
          <a:p>
            <a:pPr marL="12700" marR="6985" algn="just">
              <a:lnSpc>
                <a:spcPct val="143300"/>
              </a:lnSpc>
              <a:spcBef>
                <a:spcPts val="830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Services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are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available</a:t>
            </a:r>
            <a:r>
              <a:rPr sz="1100" spc="1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that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allow</a:t>
            </a:r>
            <a:r>
              <a:rPr sz="1100" spc="1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free</a:t>
            </a:r>
            <a:r>
              <a:rPr sz="1100" spc="1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form</a:t>
            </a:r>
            <a:r>
              <a:rPr sz="1100" spc="1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creation.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Attackers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use</a:t>
            </a:r>
            <a:r>
              <a:rPr sz="1100" spc="1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these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services</a:t>
            </a:r>
            <a:r>
              <a:rPr sz="1100" spc="1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instead</a:t>
            </a:r>
            <a:r>
              <a:rPr sz="1100" spc="1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18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creating</a:t>
            </a:r>
            <a:r>
              <a:rPr sz="1100" spc="1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</a:t>
            </a:r>
            <a:r>
              <a:rPr sz="1100" spc="1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fishing</a:t>
            </a:r>
            <a:r>
              <a:rPr sz="1100" spc="17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site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themselves.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Since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domain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harmless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under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normal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conditions,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it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pass</a:t>
            </a:r>
            <a:r>
              <a:rPr sz="11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on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user</a:t>
            </a:r>
            <a:r>
              <a:rPr sz="1100" spc="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without</a:t>
            </a:r>
            <a:r>
              <a:rPr sz="11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getting</a:t>
            </a:r>
            <a:r>
              <a:rPr sz="1100" spc="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stuck</a:t>
            </a:r>
            <a:r>
              <a:rPr sz="1100" spc="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on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antivirus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software.</a:t>
            </a:r>
            <a:r>
              <a:rPr sz="11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Google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Form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is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an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example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of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these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services.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When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looking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whois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information,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domain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be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seen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to</a:t>
            </a:r>
            <a:r>
              <a:rPr sz="11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be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Google,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so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attacker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can</a:t>
            </a:r>
            <a:r>
              <a:rPr sz="11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mislead</a:t>
            </a:r>
            <a:r>
              <a:rPr sz="11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1F5F"/>
                </a:solidFill>
                <a:latin typeface="Arial MT"/>
                <a:cs typeface="Arial MT"/>
              </a:rPr>
              <a:t>analysts.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179" y="6908672"/>
            <a:ext cx="493903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Hand-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on</a:t>
            </a:r>
            <a:r>
              <a:rPr sz="1100" b="1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Practice</a:t>
            </a:r>
            <a:r>
              <a:rPr sz="1100" b="1" spc="-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Lab</a:t>
            </a:r>
            <a:r>
              <a:rPr sz="11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with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SOC</a:t>
            </a:r>
            <a:r>
              <a:rPr sz="1100" b="1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Alerts</a:t>
            </a:r>
            <a:r>
              <a:rPr sz="11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on</a:t>
            </a:r>
            <a:r>
              <a:rPr sz="1100" b="1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1F5F"/>
                </a:solidFill>
                <a:latin typeface="Arial"/>
                <a:cs typeface="Arial"/>
              </a:rPr>
              <a:t>LetsDefend</a:t>
            </a:r>
            <a:r>
              <a:rPr sz="1100" b="1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Arial"/>
                <a:cs typeface="Arial"/>
              </a:rPr>
              <a:t>Platform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buClr>
                <a:srgbClr val="000000"/>
              </a:buClr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93</a:t>
            </a:r>
            <a:r>
              <a:rPr sz="1100" spc="155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-</a:t>
            </a:r>
            <a:r>
              <a:rPr sz="1100" spc="150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SOC146</a:t>
            </a:r>
            <a:r>
              <a:rPr sz="1100" spc="145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-</a:t>
            </a:r>
            <a:r>
              <a:rPr sz="1100" spc="150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Phishing</a:t>
            </a:r>
            <a:r>
              <a:rPr sz="1100" spc="150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Mail</a:t>
            </a:r>
            <a:r>
              <a:rPr sz="1100" spc="150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Detected</a:t>
            </a:r>
            <a:r>
              <a:rPr sz="1100" spc="170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-</a:t>
            </a:r>
            <a:r>
              <a:rPr sz="1100" spc="150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Excel</a:t>
            </a:r>
            <a:r>
              <a:rPr sz="1100" spc="150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4.0</a:t>
            </a:r>
            <a:r>
              <a:rPr sz="1100" spc="135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44F71"/>
                </a:solidFill>
                <a:latin typeface="Arial MT"/>
                <a:cs typeface="Arial MT"/>
              </a:rPr>
              <a:t>Macros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660"/>
              </a:spcBef>
              <a:buClr>
                <a:srgbClr val="000000"/>
              </a:buClr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82</a:t>
            </a:r>
            <a:r>
              <a:rPr sz="1100" spc="170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-</a:t>
            </a:r>
            <a:r>
              <a:rPr sz="1100" spc="165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SOC140</a:t>
            </a:r>
            <a:r>
              <a:rPr sz="1100" spc="160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-</a:t>
            </a:r>
            <a:r>
              <a:rPr sz="1100" spc="165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Phishing</a:t>
            </a:r>
            <a:r>
              <a:rPr sz="1100" spc="165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Mail</a:t>
            </a:r>
            <a:r>
              <a:rPr sz="1100" spc="170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Detected</a:t>
            </a:r>
            <a:r>
              <a:rPr sz="1100" spc="185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-</a:t>
            </a:r>
            <a:r>
              <a:rPr sz="1100" spc="165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Suspicious</a:t>
            </a:r>
            <a:r>
              <a:rPr sz="1100" spc="150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Task</a:t>
            </a:r>
            <a:r>
              <a:rPr sz="1100" spc="175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44F71"/>
                </a:solidFill>
                <a:latin typeface="Arial MT"/>
                <a:cs typeface="Arial MT"/>
              </a:rPr>
              <a:t>Scheduler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650"/>
              </a:spcBef>
              <a:buClr>
                <a:srgbClr val="000000"/>
              </a:buClr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45</a:t>
            </a:r>
            <a:r>
              <a:rPr sz="1100" spc="190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-</a:t>
            </a:r>
            <a:r>
              <a:rPr sz="1100" spc="185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SOC114</a:t>
            </a:r>
            <a:r>
              <a:rPr sz="1100" spc="180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-</a:t>
            </a:r>
            <a:r>
              <a:rPr sz="1100" spc="185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Malicious</a:t>
            </a:r>
            <a:r>
              <a:rPr sz="1100" spc="190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Attachment</a:t>
            </a:r>
            <a:r>
              <a:rPr sz="1100" spc="180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Detected</a:t>
            </a:r>
            <a:r>
              <a:rPr sz="1100" spc="204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-</a:t>
            </a:r>
            <a:r>
              <a:rPr sz="1100" spc="200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Phishing</a:t>
            </a:r>
            <a:r>
              <a:rPr sz="1100" spc="185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44F71"/>
                </a:solidFill>
                <a:latin typeface="Arial MT"/>
                <a:cs typeface="Arial MT"/>
              </a:rPr>
              <a:t>Alert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645"/>
              </a:spcBef>
              <a:buClr>
                <a:srgbClr val="000000"/>
              </a:buClr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52</a:t>
            </a:r>
            <a:r>
              <a:rPr sz="1100" spc="165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-</a:t>
            </a:r>
            <a:r>
              <a:rPr sz="1100" spc="155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SOC120</a:t>
            </a:r>
            <a:r>
              <a:rPr sz="1100" spc="155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-</a:t>
            </a:r>
            <a:r>
              <a:rPr sz="1100" spc="160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Phishing</a:t>
            </a:r>
            <a:r>
              <a:rPr sz="1100" spc="155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Mail</a:t>
            </a:r>
            <a:r>
              <a:rPr sz="1100" spc="160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Detected</a:t>
            </a:r>
            <a:r>
              <a:rPr sz="1100" spc="180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-</a:t>
            </a:r>
            <a:r>
              <a:rPr sz="1100" spc="140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Internal</a:t>
            </a:r>
            <a:r>
              <a:rPr sz="1100" spc="160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to</a:t>
            </a:r>
            <a:r>
              <a:rPr sz="1100" spc="145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44F71"/>
                </a:solidFill>
                <a:latin typeface="Arial MT"/>
                <a:cs typeface="Arial MT"/>
              </a:rPr>
              <a:t>Internal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650"/>
              </a:spcBef>
              <a:buClr>
                <a:srgbClr val="000000"/>
              </a:buClr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86</a:t>
            </a:r>
            <a:r>
              <a:rPr sz="1100" spc="135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-</a:t>
            </a:r>
            <a:r>
              <a:rPr sz="1100" spc="135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SOC141</a:t>
            </a:r>
            <a:r>
              <a:rPr sz="1100" spc="125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-</a:t>
            </a:r>
            <a:r>
              <a:rPr sz="1100" spc="135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Phishing</a:t>
            </a:r>
            <a:r>
              <a:rPr sz="1100" spc="130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44F71"/>
                </a:solidFill>
                <a:latin typeface="Arial MT"/>
                <a:cs typeface="Arial MT"/>
              </a:rPr>
              <a:t>URL</a:t>
            </a:r>
            <a:r>
              <a:rPr sz="1100" spc="135" dirty="0">
                <a:solidFill>
                  <a:srgbClr val="944F7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44F71"/>
                </a:solidFill>
                <a:latin typeface="Arial MT"/>
                <a:cs typeface="Arial MT"/>
              </a:rPr>
              <a:t>Detected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84350" y="6401180"/>
            <a:ext cx="4203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FAC46"/>
                </a:solidFill>
                <a:latin typeface="Arial"/>
                <a:cs typeface="Arial"/>
              </a:rPr>
              <a:t>DEFENSIVE</a:t>
            </a:r>
            <a:r>
              <a:rPr sz="1800" b="1" spc="-10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AC46"/>
                </a:solidFill>
                <a:latin typeface="Arial"/>
                <a:cs typeface="Arial"/>
              </a:rPr>
              <a:t>PROTECTIVE </a:t>
            </a:r>
            <a:r>
              <a:rPr sz="1800" b="1" spc="-10" dirty="0">
                <a:solidFill>
                  <a:srgbClr val="6FAC46"/>
                </a:solidFill>
                <a:latin typeface="Arial"/>
                <a:cs typeface="Arial"/>
              </a:rPr>
              <a:t>MEASURES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0179" y="6962013"/>
            <a:ext cx="7266305" cy="227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494D4A"/>
                </a:solidFill>
                <a:latin typeface="Arial MT"/>
                <a:cs typeface="Arial MT"/>
              </a:rPr>
              <a:t>Some</a:t>
            </a:r>
            <a:r>
              <a:rPr sz="1100" spc="-20" dirty="0">
                <a:solidFill>
                  <a:srgbClr val="494D4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94D4A"/>
                </a:solidFill>
                <a:latin typeface="Arial MT"/>
                <a:cs typeface="Arial MT"/>
              </a:rPr>
              <a:t>defensive</a:t>
            </a:r>
            <a:r>
              <a:rPr sz="1100" spc="-25" dirty="0">
                <a:solidFill>
                  <a:srgbClr val="494D4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94D4A"/>
                </a:solidFill>
                <a:latin typeface="Arial MT"/>
                <a:cs typeface="Arial MT"/>
              </a:rPr>
              <a:t>layers</a:t>
            </a:r>
            <a:r>
              <a:rPr sz="1100" spc="-20" dirty="0">
                <a:solidFill>
                  <a:srgbClr val="494D4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94D4A"/>
                </a:solidFill>
                <a:latin typeface="Arial MT"/>
                <a:cs typeface="Arial MT"/>
              </a:rPr>
              <a:t>to</a:t>
            </a:r>
            <a:r>
              <a:rPr sz="1100" spc="-25" dirty="0">
                <a:solidFill>
                  <a:srgbClr val="494D4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94D4A"/>
                </a:solidFill>
                <a:latin typeface="Arial MT"/>
                <a:cs typeface="Arial MT"/>
              </a:rPr>
              <a:t>take</a:t>
            </a:r>
            <a:r>
              <a:rPr sz="1100" spc="-30" dirty="0">
                <a:solidFill>
                  <a:srgbClr val="494D4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94D4A"/>
                </a:solidFill>
                <a:latin typeface="Arial MT"/>
                <a:cs typeface="Arial MT"/>
              </a:rPr>
              <a:t>into</a:t>
            </a:r>
            <a:r>
              <a:rPr sz="1100" spc="-35" dirty="0">
                <a:solidFill>
                  <a:srgbClr val="494D4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494D4A"/>
                </a:solidFill>
                <a:latin typeface="Arial MT"/>
                <a:cs typeface="Arial MT"/>
              </a:rPr>
              <a:t>consideration</a:t>
            </a:r>
            <a:r>
              <a:rPr sz="1100" spc="-35" dirty="0">
                <a:solidFill>
                  <a:srgbClr val="494D4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94D4A"/>
                </a:solidFill>
                <a:latin typeface="Arial MT"/>
                <a:cs typeface="Arial MT"/>
              </a:rPr>
              <a:t>to</a:t>
            </a:r>
            <a:r>
              <a:rPr sz="1100" spc="-20" dirty="0">
                <a:solidFill>
                  <a:srgbClr val="494D4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94D4A"/>
                </a:solidFill>
                <a:latin typeface="Arial MT"/>
                <a:cs typeface="Arial MT"/>
              </a:rPr>
              <a:t>assist</a:t>
            </a:r>
            <a:r>
              <a:rPr sz="1100" spc="-15" dirty="0">
                <a:solidFill>
                  <a:srgbClr val="494D4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94D4A"/>
                </a:solidFill>
                <a:latin typeface="Arial MT"/>
                <a:cs typeface="Arial MT"/>
              </a:rPr>
              <a:t>in</a:t>
            </a:r>
            <a:r>
              <a:rPr sz="1100" spc="-25" dirty="0">
                <a:solidFill>
                  <a:srgbClr val="494D4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94D4A"/>
                </a:solidFill>
                <a:latin typeface="Arial MT"/>
                <a:cs typeface="Arial MT"/>
              </a:rPr>
              <a:t>preventing</a:t>
            </a:r>
            <a:r>
              <a:rPr sz="1100" spc="-25" dirty="0">
                <a:solidFill>
                  <a:srgbClr val="494D4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94D4A"/>
                </a:solidFill>
                <a:latin typeface="Arial MT"/>
                <a:cs typeface="Arial MT"/>
              </a:rPr>
              <a:t>email</a:t>
            </a:r>
            <a:r>
              <a:rPr sz="1100" spc="-25" dirty="0">
                <a:solidFill>
                  <a:srgbClr val="494D4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94D4A"/>
                </a:solidFill>
                <a:latin typeface="Arial MT"/>
                <a:cs typeface="Arial MT"/>
              </a:rPr>
              <a:t>phishing</a:t>
            </a:r>
            <a:r>
              <a:rPr sz="1100" spc="-15" dirty="0">
                <a:solidFill>
                  <a:srgbClr val="494D4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94D4A"/>
                </a:solidFill>
                <a:latin typeface="Arial MT"/>
                <a:cs typeface="Arial MT"/>
              </a:rPr>
              <a:t>attacks</a:t>
            </a:r>
            <a:r>
              <a:rPr sz="1100" spc="-30" dirty="0">
                <a:solidFill>
                  <a:srgbClr val="494D4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94D4A"/>
                </a:solidFill>
                <a:latin typeface="Arial MT"/>
                <a:cs typeface="Arial MT"/>
              </a:rPr>
              <a:t>and</a:t>
            </a:r>
            <a:r>
              <a:rPr sz="1100" spc="-25" dirty="0">
                <a:solidFill>
                  <a:srgbClr val="494D4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94D4A"/>
                </a:solidFill>
                <a:latin typeface="Arial MT"/>
                <a:cs typeface="Arial MT"/>
              </a:rPr>
              <a:t>credential</a:t>
            </a:r>
            <a:r>
              <a:rPr sz="1100" spc="-30" dirty="0">
                <a:solidFill>
                  <a:srgbClr val="494D4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494D4A"/>
                </a:solidFill>
                <a:latin typeface="Arial MT"/>
                <a:cs typeface="Arial MT"/>
              </a:rPr>
              <a:t>stealing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100" dirty="0">
                <a:solidFill>
                  <a:srgbClr val="494D4A"/>
                </a:solidFill>
                <a:latin typeface="Arial MT"/>
                <a:cs typeface="Arial MT"/>
              </a:rPr>
              <a:t>from</a:t>
            </a:r>
            <a:r>
              <a:rPr sz="1100" spc="-35" dirty="0">
                <a:solidFill>
                  <a:srgbClr val="494D4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94D4A"/>
                </a:solidFill>
                <a:latin typeface="Arial MT"/>
                <a:cs typeface="Arial MT"/>
              </a:rPr>
              <a:t>phishing</a:t>
            </a:r>
            <a:r>
              <a:rPr sz="1100" spc="-25" dirty="0">
                <a:solidFill>
                  <a:srgbClr val="494D4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94D4A"/>
                </a:solidFill>
                <a:latin typeface="Arial MT"/>
                <a:cs typeface="Arial MT"/>
              </a:rPr>
              <a:t>attacks</a:t>
            </a:r>
            <a:r>
              <a:rPr sz="1100" spc="-30" dirty="0">
                <a:solidFill>
                  <a:srgbClr val="494D4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94D4A"/>
                </a:solidFill>
                <a:latin typeface="Arial MT"/>
                <a:cs typeface="Arial MT"/>
              </a:rPr>
              <a:t>would</a:t>
            </a:r>
            <a:r>
              <a:rPr sz="1100" spc="-35" dirty="0">
                <a:solidFill>
                  <a:srgbClr val="494D4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494D4A"/>
                </a:solidFill>
                <a:latin typeface="Arial MT"/>
                <a:cs typeface="Arial MT"/>
              </a:rPr>
              <a:t>be: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Email</a:t>
            </a:r>
            <a:r>
              <a:rPr sz="1100" b="1" spc="-2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scanning</a:t>
            </a:r>
            <a:r>
              <a:rPr sz="1100" b="1" spc="-2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sz="1100" b="1" spc="-3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filtering</a:t>
            </a: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81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Email</a:t>
            </a:r>
            <a:r>
              <a:rPr sz="1100" b="1" spc="-1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security</a:t>
            </a:r>
            <a:r>
              <a:rPr sz="1100" b="1" spc="-2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gateways</a:t>
            </a: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83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DNS</a:t>
            </a:r>
            <a:r>
              <a:rPr sz="1100" b="1" spc="-4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authentication</a:t>
            </a:r>
            <a:r>
              <a:rPr sz="1100" b="1" spc="-5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(DMARC,</a:t>
            </a:r>
            <a:r>
              <a:rPr sz="1100" b="1" spc="-2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DKIM,</a:t>
            </a:r>
            <a:r>
              <a:rPr sz="1100" b="1" spc="-4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sz="1100" b="1" spc="-3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C55A11"/>
                </a:solidFill>
                <a:latin typeface="Arial"/>
                <a:cs typeface="Arial"/>
              </a:rPr>
              <a:t>SPF)</a:t>
            </a: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81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Anti-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malware</a:t>
            </a:r>
            <a:r>
              <a:rPr sz="1100" b="1" spc="1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sz="1100" b="1" spc="2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anti-</a:t>
            </a:r>
            <a:r>
              <a:rPr sz="1100" b="1" spc="-20" dirty="0">
                <a:solidFill>
                  <a:srgbClr val="C55A11"/>
                </a:solidFill>
                <a:latin typeface="Arial"/>
                <a:cs typeface="Arial"/>
              </a:rPr>
              <a:t>spam</a:t>
            </a: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81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Multi-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factor</a:t>
            </a:r>
            <a:r>
              <a:rPr sz="1100" b="1" spc="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authentication</a:t>
            </a:r>
            <a:r>
              <a:rPr sz="1100" b="1" spc="-1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C55A11"/>
                </a:solidFill>
                <a:latin typeface="Arial"/>
                <a:cs typeface="Arial"/>
              </a:rPr>
              <a:t>(MFA)</a:t>
            </a: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83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Phishing</a:t>
            </a:r>
            <a:r>
              <a:rPr sz="1100" b="1" spc="-1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55A11"/>
                </a:solidFill>
                <a:latin typeface="Arial"/>
                <a:cs typeface="Arial"/>
              </a:rPr>
              <a:t>security</a:t>
            </a:r>
            <a:r>
              <a:rPr sz="1100" b="1" spc="-3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55A11"/>
                </a:solidFill>
                <a:latin typeface="Arial"/>
                <a:cs typeface="Arial"/>
              </a:rPr>
              <a:t>awareness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79" y="457200"/>
            <a:ext cx="7429500" cy="6979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6092" y="1219039"/>
            <a:ext cx="7232409" cy="460669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79" y="543560"/>
            <a:ext cx="7311390" cy="738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No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matter</a:t>
            </a:r>
            <a:r>
              <a:rPr sz="1100" spc="-1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how</a:t>
            </a:r>
            <a:r>
              <a:rPr sz="1100" spc="-3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robust</a:t>
            </a:r>
            <a:r>
              <a:rPr sz="1100" spc="-1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email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defensive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layers</a:t>
            </a:r>
            <a:r>
              <a:rPr sz="1100" spc="-1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are,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phishing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emails</a:t>
            </a:r>
            <a:r>
              <a:rPr sz="1100" spc="-1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will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find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their</a:t>
            </a:r>
            <a:r>
              <a:rPr sz="1100" spc="-1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way</a:t>
            </a:r>
            <a:r>
              <a:rPr sz="1100" spc="-3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into</a:t>
            </a:r>
            <a:r>
              <a:rPr sz="1100" spc="-1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a</a:t>
            </a:r>
            <a:r>
              <a:rPr sz="1100" spc="-1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user’s</a:t>
            </a:r>
            <a:r>
              <a:rPr sz="1100" spc="-1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mailbox.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In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C55A11"/>
                </a:solidFill>
                <a:latin typeface="Arial MT"/>
                <a:cs typeface="Arial MT"/>
              </a:rPr>
              <a:t>the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end,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user</a:t>
            </a:r>
            <a:r>
              <a:rPr sz="1100" spc="-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is</a:t>
            </a:r>
            <a:r>
              <a:rPr sz="1100" spc="-2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last</a:t>
            </a:r>
            <a:r>
              <a:rPr sz="1100" spc="-2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measure</a:t>
            </a:r>
            <a:r>
              <a:rPr sz="1100" spc="-3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in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these</a:t>
            </a:r>
            <a:r>
              <a:rPr sz="1100" spc="-1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defensive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protection</a:t>
            </a:r>
            <a:r>
              <a:rPr sz="1100" spc="-1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layers,</a:t>
            </a:r>
            <a:r>
              <a:rPr sz="1100" spc="-1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and</a:t>
            </a:r>
            <a:r>
              <a:rPr sz="1100" spc="-3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they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are</a:t>
            </a:r>
            <a:r>
              <a:rPr sz="1100" spc="-2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only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as</a:t>
            </a:r>
            <a:r>
              <a:rPr sz="1100" spc="-1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strong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as</a:t>
            </a:r>
            <a:r>
              <a:rPr sz="1100" spc="-1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effectiveness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of</a:t>
            </a:r>
            <a:r>
              <a:rPr sz="1100" spc="-2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phishing</a:t>
            </a:r>
            <a:r>
              <a:rPr sz="1100" spc="-1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security</a:t>
            </a:r>
            <a:r>
              <a:rPr sz="1100" spc="-3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awareness</a:t>
            </a:r>
            <a:r>
              <a:rPr sz="1100" spc="-30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training</a:t>
            </a:r>
            <a:r>
              <a:rPr sz="1100" spc="-1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provided</a:t>
            </a:r>
            <a:r>
              <a:rPr sz="1100" spc="-2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by</a:t>
            </a:r>
            <a:r>
              <a:rPr sz="1100" spc="-3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55A11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C55A1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55A11"/>
                </a:solidFill>
                <a:latin typeface="Arial MT"/>
                <a:cs typeface="Arial MT"/>
              </a:rPr>
              <a:t>organization.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0179" y="1799590"/>
            <a:ext cx="4601210" cy="962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10" dirty="0">
                <a:solidFill>
                  <a:srgbClr val="6FAC46"/>
                </a:solidFill>
                <a:latin typeface="Times New Roman"/>
                <a:cs typeface="Times New Roman"/>
              </a:rPr>
              <a:t>REFERENCE</a:t>
            </a:r>
            <a:endParaRPr sz="135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Font typeface="Symbol"/>
              <a:buChar char=""/>
              <a:tabLst>
                <a:tab pos="469265" algn="l"/>
              </a:tabLst>
            </a:pP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https://app.letsdefend.io/training/lessons/phishing-email-analysis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90"/>
              </a:spcBef>
              <a:buClr>
                <a:srgbClr val="000000"/>
              </a:buClr>
              <a:buFont typeface="Symbol"/>
              <a:buChar char=""/>
              <a:tabLst>
                <a:tab pos="469265" algn="l"/>
              </a:tabLst>
            </a:pP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https://</a:t>
            </a: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www.linkedin.com/pulse/phishing-</a:t>
            </a:r>
            <a:r>
              <a:rPr sz="1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email-</a:t>
            </a: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simple-analysis-asif-</a:t>
            </a:r>
            <a:r>
              <a:rPr sz="11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ali/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80"/>
              </a:spcBef>
              <a:buClr>
                <a:srgbClr val="000000"/>
              </a:buClr>
              <a:buFont typeface="Symbol"/>
              <a:buChar char=""/>
              <a:tabLst>
                <a:tab pos="469265" algn="l"/>
              </a:tabLst>
            </a:pP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https://</a:t>
            </a: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www.imperva.com/blog/our-analysis-of-1019-phishing-kits/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3903</Words>
  <Application>Microsoft Office PowerPoint</Application>
  <PresentationFormat>Custom</PresentationFormat>
  <Paragraphs>247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 MT</vt:lpstr>
      <vt:lpstr>Calibri</vt:lpstr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Information Gathering</vt:lpstr>
      <vt:lpstr>PowerPoint Presentation</vt:lpstr>
      <vt:lpstr>What is an Email Header?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Muhammad Ahmad Nawaz Lecturer FCSE</cp:lastModifiedBy>
  <cp:revision>1</cp:revision>
  <dcterms:created xsi:type="dcterms:W3CDTF">2026-02-16T09:28:11Z</dcterms:created>
  <dcterms:modified xsi:type="dcterms:W3CDTF">2026-02-16T10:22:05Z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2026-02-16T00:00:00Z</vt:filetime>
  </property>
  <property fmtid="{D5CDD505-2E9C-101B-9397-08002B2CF9AE}" pid="3" name="LastSaved">
    <vt:filetime>2026-02-16T00:00:00Z</vt:filetime>
  </property>
</Properties>
</file>